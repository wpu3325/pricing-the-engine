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the work. Protect the capacity.
TAKEAWAY: The quote is the output of a sequence of commercial and technical decisions.
SCRIPT: The core recommendation is to scope a measurable workload, estimate all directly attributable costs, compare existing versus new GPU capacity, then select a price and SOW aligned to customer risk. This is intended to be used repeatedly by the GTM team, not only for one example.
ASSUMPTIONS: The take-home supplies no customer-specific workload or internal contract rates.
LIKELY CHALLENGE: Why a framework instead of one price?
RESPONSE: A precise price without defined work and procurement assumptions creates false confidence; the framework lets the team update one input without rebuilding the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linked decisions
TAKEAWAY: Each stage produces a reusable input for the next stage.
SCRIPT: The customer brief holds goals, task and token demand, and feasibility. A resource bill converts these into engineering effort, training workloads, and sourcing options. The resulting unit economics inform the price and gross margin. Finally, a scoped contract names the deliverables, assumptions, and liabilities, and becomes the boundary for actual delivery.
ASSUMPTIONS: The workflow is a recommended control process, not Applied Compute internal policy.
LIKELY CHALLENGE: Would this slow enterprise sales?
RESPONSE: Keep the early intake short and only expand detail for high-risk deals; structured approval reduces rework and off-policy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 a customer goal into a testable workload
TAKEAWAY: Grader and dataset readiness are commercial inputs, not an afterthought.
SCRIPT: Capture six items before sizing a cluster: workflow value; success metric and held-out test; dataset and agent harness; base model and training method; task counts, input/output token lengths, training-update tokens and dates; and governance constraints. Confirm benchmarkable throughput separately so those quantities become GPU-hours. Verify that RL is preferable to a simpler SFT, distillation, retrieval, or harness change.
ASSUMPTIONS: Specific customer data, task success distributions and model fit are unknown; Applied Compute documents GRPO, SFT and OPSD.
LIKELY CHALLENGE: What if the customer asks for RL without any evals?
RESPONSE: Sell a short readiness/feasibility phase first; train only when success can be objectively assessed.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cost pools
TAKEAWAY: A credible COGS quote includes much more than GPU-hours.
SCRIPT: The cost model separates trainer and rollout GPU resources, evaluation and grading, execution environments, directly attributable labor, stored data and checkpoints, networking and operations, and expected rework. Each input has a quantity, rate, source, confidence, and whether it is incremental or already committed. Include billable idle capacity where required; exclude broad corporate G&amp;A from deal gross margin.
ASSUMPTIONS: Unit rates and workload volumes are case assumptions until measured; costs shown are not Applied Compute disclosed spend.
LIKELY CHALLENGE: Where do failed experiments show up?
RESPONSE: In expected rework assumptions and explicit experiment allowances, not hidden in an arbitrary GPU markup.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each workload to the right GPU capacity
TAKEAWAY: Availability is the first constraint; cost follows the capacity choice.
SCRIPT: Start with workload need by week, GPU type and topology. Only then compare spare committed GPUs, extending existing contracts, PayGo, a new long-term block, and customer-owned cloud. A low per-hour price can be expensive if the reservation exceeds the customer contract. Require signed reuse demand before treating leftover hours as recoverable.
ASSUMPTIONS: Supplier availability, contract windows, and company fleet inventory were not supplied. All options need technical and security qualification.
LIKELY CHALLENGE: Why not always take the cheapest hourly price?
RESPONSE: The true exposure is the full non-cancelable commitment plus switching/operational costs, not the hourly rate for hours we hope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questions determine capacity economics
TAKEAWAY: Capacity availability and cost measurement are separate, linked decisions.
SCRIPT: Start with whether the GPUs physically satisfy demand. Then examine incremental spend, the assigned portion of an existing contract, the alternative contribution from other customers, unused tail of any new reservation, and capacity or service risk. Accounting gross margin should use a consistent attribution policy; opportunity cost belongs in choice of which workload gets scarce GPUs.
ASSUMPTIONS: A prepaid reservation can have zero incremental cash and a positive allocated expense. Opportunity contribution is hypothetical unless credible alternate demand is validated.
LIKELY CHALLENGE: If GPUs are already paid for, why show a cost?
RESPONSE: Incremental cash may be zero, but the customer is consuming scarce contracted capacity and the business still needs replacement economics and an allocation view. Never double count an opportunity charge as a second vendor invoice.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demand-to-cost model
TAKEAWAY: Tokens and tasks explain compute demand; GPU-hours and commitments explain infrastructure COGS.
SCRIPT: Use a four-part bridge. First scope training-update tokens, rollout tasks and input/output tokens, and evaluation cases. Second benchmark each workload on the selected model, GPU and harness: policy updates, agent rollouts and evaluation often have very different effective throughput. Third divide weighted demand by stage-specific throughput to estimate GPU-hours; also enforce peak concurrency, warm replicas, date and topology constraints. Fourth multiply actually paid GPU-hours by procurement rates, then add engineers, judges, sandboxes, storage and expected rework. The workbook links all stages to the same final COGS and price, not a token charge to the customer for post-training.
ASSUMPTIONS: All sample volumes, prefill weighting and throughput benchmarks are transparent illustrative inputs, calibrated to reproduce the prior example—not measured Applied Compute performance. Warm serving replicas may prevent token-throughput gains from reducing paid hours.
LIKELY CHALLENGE: Why not simply price every token?
RESPONSE: For production serving, input/output tokens are a useful customer meter. For RL and evaluation, token volume does not capture training updates, tool waits, grader calls or committed idle capacity. We convert tokens/tasks into GPU-hours for cost, while keeping the training price fixed within an approved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buyer sees the exact billable scope
TAKEAWAY: The customer proposal itemizes services, units and amounts that reconcile to $210K.
SCRIPT: The quote is four lines: $30K readiness, 300 hours at a $260 blended implementation rate ($78K), three weekly standard-model RL cycles at $24K each ($72K), and $30K for final evidence and handoff. Three cycles collectively include 3,360 planned H100-equivalent GPU-hours, subject to validated throughput and the approved model. GPU-hours are an allowance, not a second invoice. New work requires an approved change order.
ASSUMPTIONS: Rates and resource units are illustrative, not a company-published price card; model fit and workload must be benchmarked.
LIKELY CHALLENGE: Are engineers and loops double billed?
RESPONSE: The 300-hour engineering line funds harness integration and implementation. Loop packages cover scheduled run operations, compute, defined evaluations and checkpoint decisions; the order distinguishes responsibilities.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class changes loop economics
TAKEAWAY: The customer rate card is a decision tool; internal margin testing remains separate.
SCRIPT: Per-cycle example fees vary by model class: small $12K / 560 GPUh, standard $24K / 1,120 GPUh, and large multi-node $60K / 2,800 GPUh. Engineering overages use named hourly roles. Production uses a separate dedicated capacity fee and model-specific input/output token meters. Price floors are tested against measured cost and a proposed 40–50% RL gross margin; the published AC savings calculator is customer value context, not internal COGS.
ASSUMPTIONS: Tier estimates are provisional because parameter count alone does not determine memory, topology or cost. Rates are not Applied Compute official tariffs.
LIKELY CHALLENGE: Why does an RL cycle have a different price for each model size?
RESPONSE: Bigger or more complex models can require different GPU shapes, throughput and engineering intervention; confirm actual cost after a pilot benchmark, not parameter count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acceptance gates replace vague milestones
TAKEAWAY: Every phase produces reviewable evidence with customer signoff.
SCRIPT: Readiness delivers model and grader decisions with versioned holdout and baseline score. Setup proves the harness works and the run is feasible. Each weekly RL cycle includes ID, configuration, tokens and GPU consumption, quality delta, regressions and a written next-cycle approval. Final delivery includes a reproducible held-out evaluation, checkpoint/weights, configs, limitations and handoff. Only documented evidence defines acceptance; research uplift is not guaranteed in the absence of a validated target.
ASSUMPTIONS: The initial six-week timeline assumes timely access and signoffs. Customer has five business days to review submitted evidence and explain unmet acceptance criteria.
LIKELY CHALLENGE: What happens if quality does not improve?
RESPONSE: The customer may stop after any scheduled gate; the agreed artifacts and actual evaluated results constitute delivery unless an improvement warranty was separately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is supported to a signed threshold
TAKEAWAY: The model separates planned headroom from open-ended production liability.
SCRIPT: Under a separate benchmarked production order, the sample starting envelope is one region, one model, two warm replicas, up to 20 in-flight requests and 100M tokens per month. AC monitors capacity and starts a review after load exceeds 70% of service-level-compliant throughput for two weeks, or before a known token/concurrency increase. New replicas or longer GPU commitments need customer-approved service amendments. A new base model or extra training work similarly requires commercial revision.
ASSUMPTIONS: Figures are illustrative contractual planning thresholds and not promised hardware performance or an included training-service SLA.
LIKELY CHALLENGE: Can we autoscale beyond the agreed replica limit without renegotiating?
RESPONSE: Within the signed warm-replica envelope yes; beyond it, do not create a new noncancelable capacity obligation without a revised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approval scorecard
TAKEAWAY: The model is a decision tool, not a spreadsheet exercise.
SCRIPT: Before quoting, confirm customer value, technical feasibility, capacity, risk-adjusted margin, signed scope constraints, and a clear trigger for fresh approval at production. Standard deals can follow delegated thresholds; CEO review should be reserved for unusual GPU commitments, exceptions to margin policy, novel security obligations, or unbounded research work.
ASSUMPTIONS: The company's actual decision rights and thresholds are not disclosed.
LIKELY CHALLENGE: Does this require CEO signoff for every deal?
RESPONSE: No. Encode policy into the approval matrix and escalate exceptions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lines reconcile with internal cost and margin
TAKEAWAY: Keep the customer quote and internal COGS connected but separate.
SCRIPT: Four quote components sum to $210K. The original internal example remains $112,097 in risk-adjusted expected delivery costs and $97,903 gross profit, or 46.6% margin. Model demand uses 128M training-update tokens, 12K rollouts, 800 eval attempts, and 3,360 GPU-hours; the customer-facing cycle package folds compute within the price rather than charging it twice. The illustrative customer rates and capacity limits must be benchmarked before offer.
ASSUMPTIONS: The $210K quote, COGS inputs, model-tier package pricing, and target GM are exercise assumptions, not internal AC disclosures.
LIKELY CHALLENGE: Is the margin target compatible with the model-size alternatives?
RESPONSE: The base target only applies to the standard scenario; change the model code in Customer Quote to see new price, then recompute the actual cost from a benchmark before approving a nonstandard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assignment requirement has an explicit output
TAKEAWAY: The deck frames decisions, the workbook underwrites them, and the two customer documents define the offer.
SCRIPT: The assignment specifically requires full delivery-cost inventory, explicit assumptions with sources and omissions, reusable flex inputs, pricing and customer SOW, margin target rationale, response to a competitor undercut, short-versus-long contract protections and repapering triggers. Customer quote is priced at SKU and service-unit level; the SOW gives evidence and ownership without money amounts. Internal pricing objections and GM remain in the deck/notes rather than customer collateral.
ASSUMPTIONS: All assets are illustrative, with disclosed data limitations.
LIKELY CHALLENGE: Would a CEO need to read every document?
RESPONSE: No. The slides establish the decision system in minutes; PDFs are externally usable exhibits, and the workbook is auditable financial machinery.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716"/>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F44B00"/>
          </a:solidFill>
          <a:ln w="7620">
            <a:solidFill>
              <a:srgbClr val="F44B00">
                <a:alpha val="0"/>
              </a:srgbClr>
            </a:solidFill>
            <a:prstDash val="solid"/>
          </a:ln>
        </p:spPr>
      </p:sp>
      <p:sp>
        <p:nvSpPr>
          <p:cNvPr id="3" name="Text 1"/>
          <p:cNvSpPr/>
          <p:nvPr/>
        </p:nvSpPr>
        <p:spPr>
          <a:xfrm>
            <a:off x="548640" y="338328"/>
            <a:ext cx="3383280" cy="283464"/>
          </a:xfrm>
          <a:prstGeom prst="rect">
            <a:avLst/>
          </a:prstGeom>
          <a:noFill/>
          <a:ln/>
        </p:spPr>
        <p:txBody>
          <a:bodyPr wrap="square" lIns="0" tIns="0" rIns="0" bIns="0" rtlCol="0" anchor="ctr">
            <a:normAutofit/>
          </a:bodyPr>
          <a:lstStyle/>
          <a:p>
            <a:pPr indent="0" marL="0">
              <a:buNone/>
            </a:pPr>
            <a:r>
              <a:rPr lang="en-US" sz="1200" b="1" spc="160" kern="0" dirty="0">
                <a:solidFill>
                  <a:srgbClr val="FFFFFF"/>
                </a:solidFill>
                <a:latin typeface="Aptos" pitchFamily="34" charset="0"/>
                <a:ea typeface="Aptos" pitchFamily="34" charset="-122"/>
                <a:cs typeface="Aptos" pitchFamily="34" charset="-120"/>
              </a:rPr>
              <a:t>APPLIED COMPUTE</a:t>
            </a:r>
            <a:endParaRPr lang="en-US" sz="1200" dirty="0"/>
          </a:p>
        </p:txBody>
      </p:sp>
      <p:sp>
        <p:nvSpPr>
          <p:cNvPr id="4" name="Text 2"/>
          <p:cNvSpPr/>
          <p:nvPr/>
        </p:nvSpPr>
        <p:spPr>
          <a:xfrm>
            <a:off x="8503920" y="365760"/>
            <a:ext cx="3063240" cy="210312"/>
          </a:xfrm>
          <a:prstGeom prst="rect">
            <a:avLst/>
          </a:prstGeom>
          <a:noFill/>
          <a:ln/>
        </p:spPr>
        <p:txBody>
          <a:bodyPr wrap="square" lIns="0" tIns="0" rIns="0" bIns="0" rtlCol="0" anchor="ctr">
            <a:normAutofit/>
          </a:bodyPr>
          <a:lstStyle/>
          <a:p>
            <a:pPr algn="r" indent="0" marL="0">
              <a:buNone/>
            </a:pPr>
            <a:r>
              <a:rPr lang="en-US" sz="1000" b="1" spc="100" kern="0" dirty="0">
                <a:solidFill>
                  <a:srgbClr val="D8C9BE"/>
                </a:solidFill>
                <a:latin typeface="Aptos" pitchFamily="34" charset="0"/>
                <a:ea typeface="Aptos" pitchFamily="34" charset="-122"/>
                <a:cs typeface="Aptos" pitchFamily="34" charset="-120"/>
              </a:rPr>
              <a:t>EXECUTIVE FRAMEWORK</a:t>
            </a:r>
            <a:endParaRPr lang="en-US" sz="1000" dirty="0"/>
          </a:p>
        </p:txBody>
      </p:sp>
      <p:sp>
        <p:nvSpPr>
          <p:cNvPr id="5" name="Shape 3"/>
          <p:cNvSpPr/>
          <p:nvPr/>
        </p:nvSpPr>
        <p:spPr>
          <a:xfrm>
            <a:off x="557784" y="6483096"/>
            <a:ext cx="11055096" cy="0"/>
          </a:xfrm>
          <a:prstGeom prst="line">
            <a:avLst/>
          </a:prstGeom>
          <a:noFill/>
          <a:ln w="9525">
            <a:solidFill>
              <a:srgbClr val="55504D"/>
            </a:solidFill>
            <a:prstDash val="solid"/>
          </a:ln>
        </p:spPr>
      </p:sp>
      <p:sp>
        <p:nvSpPr>
          <p:cNvPr id="6" name="Text 4"/>
          <p:cNvSpPr/>
          <p:nvPr/>
        </p:nvSpPr>
        <p:spPr>
          <a:xfrm>
            <a:off x="557784" y="6565392"/>
            <a:ext cx="8412480" cy="128016"/>
          </a:xfrm>
          <a:prstGeom prst="rect">
            <a:avLst/>
          </a:prstGeom>
          <a:noFill/>
          <a:ln/>
        </p:spPr>
        <p:txBody>
          <a:bodyPr wrap="square" lIns="0" tIns="0" rIns="0" bIns="0" rtlCol="0" anchor="ctr">
            <a:normAutofit/>
          </a:bodyPr>
          <a:lstStyle/>
          <a:p>
            <a:pPr indent="0" marL="0">
              <a:buNone/>
            </a:pPr>
            <a:r>
              <a:rPr lang="en-US" sz="820" b="1" dirty="0">
                <a:solidFill>
                  <a:srgbClr val="D4CBC4"/>
                </a:solidFill>
                <a:latin typeface="Aptos" pitchFamily="34" charset="0"/>
                <a:ea typeface="Aptos" pitchFamily="34" charset="-122"/>
                <a:cs typeface="Aptos" pitchFamily="34" charset="-120"/>
              </a:rPr>
              <a:t>ENTERPRISE DEAL ECONOMICS  /  ILLUSTRATIVE FRAMEWORK</a:t>
            </a:r>
            <a:endParaRPr lang="en-US" sz="820" dirty="0"/>
          </a:p>
        </p:txBody>
      </p:sp>
      <p:sp>
        <p:nvSpPr>
          <p:cNvPr id="7" name="Text 5"/>
          <p:cNvSpPr/>
          <p:nvPr/>
        </p:nvSpPr>
        <p:spPr>
          <a:xfrm>
            <a:off x="11173968" y="6547104"/>
            <a:ext cx="411480" cy="146304"/>
          </a:xfrm>
          <a:prstGeom prst="rect">
            <a:avLst/>
          </a:prstGeom>
          <a:noFill/>
          <a:ln/>
        </p:spPr>
        <p:txBody>
          <a:bodyPr wrap="square" lIns="0" tIns="0" rIns="0" bIns="0" rtlCol="0" anchor="ctr">
            <a:normAutofit/>
          </a:bodyPr>
          <a:lstStyle/>
          <a:p>
            <a:pPr algn="r" indent="0" marL="0">
              <a:buNone/>
            </a:pPr>
            <a:r>
              <a:rPr lang="en-US" sz="900" b="1" dirty="0">
                <a:solidFill>
                  <a:srgbClr val="FFFFFF"/>
                </a:solidFill>
                <a:latin typeface="Aptos" pitchFamily="34" charset="0"/>
                <a:ea typeface="Aptos" pitchFamily="34" charset="-122"/>
                <a:cs typeface="Aptos" pitchFamily="34" charset="-120"/>
              </a:rPr>
              <a:t>01</a:t>
            </a:r>
            <a:endParaRPr lang="en-US" sz="900" dirty="0"/>
          </a:p>
        </p:txBody>
      </p:sp>
      <p:sp>
        <p:nvSpPr>
          <p:cNvPr id="8" name="Shape 6"/>
          <p:cNvSpPr/>
          <p:nvPr/>
        </p:nvSpPr>
        <p:spPr>
          <a:xfrm>
            <a:off x="585216" y="1115568"/>
            <a:ext cx="3154680" cy="301752"/>
          </a:xfrm>
          <a:prstGeom prst="roundRect">
            <a:avLst>
              <a:gd name="adj" fmla="val 24242"/>
            </a:avLst>
          </a:prstGeom>
          <a:solidFill>
            <a:srgbClr val="FFF0E7"/>
          </a:solidFill>
          <a:ln w="10160">
            <a:solidFill>
              <a:srgbClr val="FFF0E7">
                <a:alpha val="0"/>
              </a:srgbClr>
            </a:solidFill>
            <a:prstDash val="solid"/>
          </a:ln>
        </p:spPr>
      </p:sp>
      <p:sp>
        <p:nvSpPr>
          <p:cNvPr id="9" name="Text 7"/>
          <p:cNvSpPr/>
          <p:nvPr/>
        </p:nvSpPr>
        <p:spPr>
          <a:xfrm>
            <a:off x="658368" y="1170432"/>
            <a:ext cx="3008376" cy="182880"/>
          </a:xfrm>
          <a:prstGeom prst="rect">
            <a:avLst/>
          </a:prstGeom>
          <a:noFill/>
          <a:ln/>
        </p:spPr>
        <p:txBody>
          <a:bodyPr wrap="square" lIns="0" tIns="0" rIns="0" bIns="0" rtlCol="0" anchor="ctr">
            <a:normAutofit/>
          </a:bodyPr>
          <a:lstStyle/>
          <a:p>
            <a:pPr algn="ctr" indent="0" marL="0">
              <a:buNone/>
            </a:pPr>
            <a:r>
              <a:rPr lang="en-US" sz="1000" b="1" dirty="0">
                <a:solidFill>
                  <a:srgbClr val="D83E00"/>
                </a:solidFill>
                <a:latin typeface="Aptos" pitchFamily="34" charset="0"/>
                <a:ea typeface="Aptos" pitchFamily="34" charset="-122"/>
                <a:cs typeface="Aptos" pitchFamily="34" charset="-120"/>
              </a:rPr>
              <a:t>BIZOPS  •  DEAL UNDERWRITING</a:t>
            </a:r>
            <a:endParaRPr lang="en-US" sz="1000" dirty="0"/>
          </a:p>
        </p:txBody>
      </p:sp>
      <p:sp>
        <p:nvSpPr>
          <p:cNvPr id="10" name="Text 8"/>
          <p:cNvSpPr/>
          <p:nvPr/>
        </p:nvSpPr>
        <p:spPr>
          <a:xfrm>
            <a:off x="585216" y="1773936"/>
            <a:ext cx="10698480" cy="1673352"/>
          </a:xfrm>
          <a:prstGeom prst="rect">
            <a:avLst/>
          </a:prstGeom>
          <a:noFill/>
          <a:ln/>
        </p:spPr>
        <p:txBody>
          <a:bodyPr wrap="square" lIns="0" tIns="0" rIns="0" bIns="0" rtlCol="0" anchor="ctr">
            <a:normAutofit/>
          </a:bodyPr>
          <a:lstStyle/>
          <a:p>
            <a:pPr indent="0" marL="0">
              <a:buNone/>
            </a:pPr>
            <a:r>
              <a:rPr lang="en-US" sz="4300" b="1" dirty="0">
                <a:solidFill>
                  <a:srgbClr val="FFFFFF"/>
                </a:solidFill>
                <a:latin typeface="Aptos" pitchFamily="34" charset="0"/>
                <a:ea typeface="Aptos" pitchFamily="34" charset="-122"/>
                <a:cs typeface="Aptos" pitchFamily="34" charset="-120"/>
              </a:rPr>
              <a:t>Price the work.</a:t>
            </a:r>
            <a:endParaRPr lang="en-US" sz="4300" dirty="0"/>
          </a:p>
          <a:p>
            <a:pPr indent="0" marL="0">
              <a:buNone/>
            </a:pPr>
            <a:r>
              <a:rPr lang="en-US" sz="4300" b="1" dirty="0">
                <a:solidFill>
                  <a:srgbClr val="FFFFFF"/>
                </a:solidFill>
                <a:latin typeface="Aptos" pitchFamily="34" charset="0"/>
                <a:ea typeface="Aptos" pitchFamily="34" charset="-122"/>
                <a:cs typeface="Aptos" pitchFamily="34" charset="-120"/>
              </a:rPr>
              <a:t>Protect the capacity.</a:t>
            </a:r>
            <a:endParaRPr lang="en-US" sz="4300" dirty="0"/>
          </a:p>
        </p:txBody>
      </p:sp>
      <p:sp>
        <p:nvSpPr>
          <p:cNvPr id="11" name="Text 9"/>
          <p:cNvSpPr/>
          <p:nvPr/>
        </p:nvSpPr>
        <p:spPr>
          <a:xfrm>
            <a:off x="603504" y="3794760"/>
            <a:ext cx="10561320" cy="768096"/>
          </a:xfrm>
          <a:prstGeom prst="rect">
            <a:avLst/>
          </a:prstGeom>
          <a:noFill/>
          <a:ln/>
        </p:spPr>
        <p:txBody>
          <a:bodyPr wrap="square" lIns="0" tIns="0" rIns="0" bIns="0" rtlCol="0" anchor="ctr">
            <a:normAutofit/>
          </a:bodyPr>
          <a:lstStyle/>
          <a:p>
            <a:pPr indent="0" marL="0">
              <a:buNone/>
            </a:pPr>
            <a:r>
              <a:rPr lang="en-US" sz="2100" dirty="0">
                <a:solidFill>
                  <a:srgbClr val="E9E2DA"/>
                </a:solidFill>
                <a:latin typeface="Aptos" pitchFamily="34" charset="0"/>
                <a:ea typeface="Aptos" pitchFamily="34" charset="-122"/>
                <a:cs typeface="Aptos" pitchFamily="34" charset="-120"/>
              </a:rPr>
              <a:t>A repeatable approach for enterprise RL post-training: from a measurable customer problem to a defensible quote and contract.</a:t>
            </a:r>
            <a:endParaRPr lang="en-US" sz="2100" dirty="0"/>
          </a:p>
        </p:txBody>
      </p:sp>
      <p:sp>
        <p:nvSpPr>
          <p:cNvPr id="12" name="Shape 10"/>
          <p:cNvSpPr/>
          <p:nvPr/>
        </p:nvSpPr>
        <p:spPr>
          <a:xfrm>
            <a:off x="594360" y="5138928"/>
            <a:ext cx="2651760" cy="50292"/>
          </a:xfrm>
          <a:prstGeom prst="rect">
            <a:avLst/>
          </a:prstGeom>
          <a:solidFill>
            <a:srgbClr val="F44B00"/>
          </a:solidFill>
          <a:ln w="7620">
            <a:solidFill>
              <a:srgbClr val="F44B00">
                <a:alpha val="0"/>
              </a:srgbClr>
            </a:solidFill>
            <a:prstDash val="solid"/>
          </a:ln>
        </p:spPr>
      </p:sp>
      <p:sp>
        <p:nvSpPr>
          <p:cNvPr id="13" name="Text 11"/>
          <p:cNvSpPr/>
          <p:nvPr/>
        </p:nvSpPr>
        <p:spPr>
          <a:xfrm>
            <a:off x="594360" y="5294376"/>
            <a:ext cx="393192" cy="256032"/>
          </a:xfrm>
          <a:prstGeom prst="rect">
            <a:avLst/>
          </a:prstGeom>
          <a:noFill/>
          <a:ln/>
        </p:spPr>
        <p:txBody>
          <a:bodyPr wrap="square" lIns="0" tIns="0" rIns="0" bIns="0" rtlCol="0" anchor="ctr">
            <a:normAutofit/>
          </a:bodyPr>
          <a:lstStyle/>
          <a:p>
            <a:pPr indent="0" marL="0">
              <a:buNone/>
            </a:pPr>
            <a:r>
              <a:rPr lang="en-US" sz="1300" b="1" dirty="0">
                <a:solidFill>
                  <a:srgbClr val="F44B00"/>
                </a:solidFill>
                <a:latin typeface="Aptos" pitchFamily="34" charset="0"/>
                <a:ea typeface="Aptos" pitchFamily="34" charset="-122"/>
                <a:cs typeface="Aptos" pitchFamily="34" charset="-120"/>
              </a:rPr>
              <a:t>01</a:t>
            </a:r>
            <a:endParaRPr lang="en-US" sz="1300" dirty="0"/>
          </a:p>
        </p:txBody>
      </p:sp>
      <p:sp>
        <p:nvSpPr>
          <p:cNvPr id="14" name="Text 12"/>
          <p:cNvSpPr/>
          <p:nvPr/>
        </p:nvSpPr>
        <p:spPr>
          <a:xfrm>
            <a:off x="594360" y="5632704"/>
            <a:ext cx="2724912" cy="365760"/>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Demand intake</a:t>
            </a:r>
            <a:endParaRPr lang="en-US" sz="1700" dirty="0"/>
          </a:p>
        </p:txBody>
      </p:sp>
      <p:sp>
        <p:nvSpPr>
          <p:cNvPr id="15" name="Shape 13"/>
          <p:cNvSpPr/>
          <p:nvPr/>
        </p:nvSpPr>
        <p:spPr>
          <a:xfrm>
            <a:off x="3447288" y="5138928"/>
            <a:ext cx="2651760" cy="50292"/>
          </a:xfrm>
          <a:prstGeom prst="rect">
            <a:avLst/>
          </a:prstGeom>
          <a:solidFill>
            <a:srgbClr val="8E8179"/>
          </a:solidFill>
          <a:ln w="7620">
            <a:solidFill>
              <a:srgbClr val="8E8179">
                <a:alpha val="0"/>
              </a:srgbClr>
            </a:solidFill>
            <a:prstDash val="solid"/>
          </a:ln>
        </p:spPr>
      </p:sp>
      <p:sp>
        <p:nvSpPr>
          <p:cNvPr id="16" name="Text 14"/>
          <p:cNvSpPr/>
          <p:nvPr/>
        </p:nvSpPr>
        <p:spPr>
          <a:xfrm>
            <a:off x="3447288" y="5294376"/>
            <a:ext cx="393192" cy="256032"/>
          </a:xfrm>
          <a:prstGeom prst="rect">
            <a:avLst/>
          </a:prstGeom>
          <a:noFill/>
          <a:ln/>
        </p:spPr>
        <p:txBody>
          <a:bodyPr wrap="square" lIns="0" tIns="0" rIns="0" bIns="0" rtlCol="0" anchor="ctr">
            <a:normAutofit/>
          </a:bodyPr>
          <a:lstStyle/>
          <a:p>
            <a:pPr indent="0" marL="0">
              <a:buNone/>
            </a:pPr>
            <a:r>
              <a:rPr lang="en-US" sz="1300" b="1" dirty="0">
                <a:solidFill>
                  <a:srgbClr val="F44B00"/>
                </a:solidFill>
                <a:latin typeface="Aptos" pitchFamily="34" charset="0"/>
                <a:ea typeface="Aptos" pitchFamily="34" charset="-122"/>
                <a:cs typeface="Aptos" pitchFamily="34" charset="-120"/>
              </a:rPr>
              <a:t>02</a:t>
            </a:r>
            <a:endParaRPr lang="en-US" sz="1300" dirty="0"/>
          </a:p>
        </p:txBody>
      </p:sp>
      <p:sp>
        <p:nvSpPr>
          <p:cNvPr id="17" name="Text 15"/>
          <p:cNvSpPr/>
          <p:nvPr/>
        </p:nvSpPr>
        <p:spPr>
          <a:xfrm>
            <a:off x="3447288" y="5632704"/>
            <a:ext cx="2724912" cy="365760"/>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Full delivery cost</a:t>
            </a:r>
            <a:endParaRPr lang="en-US" sz="1700" dirty="0"/>
          </a:p>
        </p:txBody>
      </p:sp>
      <p:sp>
        <p:nvSpPr>
          <p:cNvPr id="18" name="Shape 16"/>
          <p:cNvSpPr/>
          <p:nvPr/>
        </p:nvSpPr>
        <p:spPr>
          <a:xfrm>
            <a:off x="6300216" y="5138928"/>
            <a:ext cx="2651760" cy="50292"/>
          </a:xfrm>
          <a:prstGeom prst="rect">
            <a:avLst/>
          </a:prstGeom>
          <a:solidFill>
            <a:srgbClr val="8E8179"/>
          </a:solidFill>
          <a:ln w="7620">
            <a:solidFill>
              <a:srgbClr val="8E8179">
                <a:alpha val="0"/>
              </a:srgbClr>
            </a:solidFill>
            <a:prstDash val="solid"/>
          </a:ln>
        </p:spPr>
      </p:sp>
      <p:sp>
        <p:nvSpPr>
          <p:cNvPr id="19" name="Text 17"/>
          <p:cNvSpPr/>
          <p:nvPr/>
        </p:nvSpPr>
        <p:spPr>
          <a:xfrm>
            <a:off x="6300216" y="5294376"/>
            <a:ext cx="393192" cy="256032"/>
          </a:xfrm>
          <a:prstGeom prst="rect">
            <a:avLst/>
          </a:prstGeom>
          <a:noFill/>
          <a:ln/>
        </p:spPr>
        <p:txBody>
          <a:bodyPr wrap="square" lIns="0" tIns="0" rIns="0" bIns="0" rtlCol="0" anchor="ctr">
            <a:normAutofit/>
          </a:bodyPr>
          <a:lstStyle/>
          <a:p>
            <a:pPr indent="0" marL="0">
              <a:buNone/>
            </a:pPr>
            <a:r>
              <a:rPr lang="en-US" sz="1300" b="1" dirty="0">
                <a:solidFill>
                  <a:srgbClr val="F44B00"/>
                </a:solidFill>
                <a:latin typeface="Aptos" pitchFamily="34" charset="0"/>
                <a:ea typeface="Aptos" pitchFamily="34" charset="-122"/>
                <a:cs typeface="Aptos" pitchFamily="34" charset="-120"/>
              </a:rPr>
              <a:t>03</a:t>
            </a:r>
            <a:endParaRPr lang="en-US" sz="1300" dirty="0"/>
          </a:p>
        </p:txBody>
      </p:sp>
      <p:sp>
        <p:nvSpPr>
          <p:cNvPr id="20" name="Text 18"/>
          <p:cNvSpPr/>
          <p:nvPr/>
        </p:nvSpPr>
        <p:spPr>
          <a:xfrm>
            <a:off x="6300216" y="5632704"/>
            <a:ext cx="2724912" cy="365760"/>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Commercial price</a:t>
            </a:r>
            <a:endParaRPr lang="en-US" sz="1700" dirty="0"/>
          </a:p>
        </p:txBody>
      </p:sp>
      <p:sp>
        <p:nvSpPr>
          <p:cNvPr id="21" name="Shape 19"/>
          <p:cNvSpPr/>
          <p:nvPr/>
        </p:nvSpPr>
        <p:spPr>
          <a:xfrm>
            <a:off x="9153144" y="5138928"/>
            <a:ext cx="2651760" cy="50292"/>
          </a:xfrm>
          <a:prstGeom prst="rect">
            <a:avLst/>
          </a:prstGeom>
          <a:solidFill>
            <a:srgbClr val="8E8179"/>
          </a:solidFill>
          <a:ln w="7620">
            <a:solidFill>
              <a:srgbClr val="8E8179">
                <a:alpha val="0"/>
              </a:srgbClr>
            </a:solidFill>
            <a:prstDash val="solid"/>
          </a:ln>
        </p:spPr>
      </p:sp>
      <p:sp>
        <p:nvSpPr>
          <p:cNvPr id="22" name="Text 20"/>
          <p:cNvSpPr/>
          <p:nvPr/>
        </p:nvSpPr>
        <p:spPr>
          <a:xfrm>
            <a:off x="9153144" y="5294376"/>
            <a:ext cx="393192" cy="256032"/>
          </a:xfrm>
          <a:prstGeom prst="rect">
            <a:avLst/>
          </a:prstGeom>
          <a:noFill/>
          <a:ln/>
        </p:spPr>
        <p:txBody>
          <a:bodyPr wrap="square" lIns="0" tIns="0" rIns="0" bIns="0" rtlCol="0" anchor="ctr">
            <a:normAutofit/>
          </a:bodyPr>
          <a:lstStyle/>
          <a:p>
            <a:pPr indent="0" marL="0">
              <a:buNone/>
            </a:pPr>
            <a:r>
              <a:rPr lang="en-US" sz="1300" b="1" dirty="0">
                <a:solidFill>
                  <a:srgbClr val="F44B00"/>
                </a:solidFill>
                <a:latin typeface="Aptos" pitchFamily="34" charset="0"/>
                <a:ea typeface="Aptos" pitchFamily="34" charset="-122"/>
                <a:cs typeface="Aptos" pitchFamily="34" charset="-120"/>
              </a:rPr>
              <a:t>04</a:t>
            </a:r>
            <a:endParaRPr lang="en-US" sz="1300" dirty="0"/>
          </a:p>
        </p:txBody>
      </p:sp>
      <p:sp>
        <p:nvSpPr>
          <p:cNvPr id="23" name="Text 21"/>
          <p:cNvSpPr/>
          <p:nvPr/>
        </p:nvSpPr>
        <p:spPr>
          <a:xfrm>
            <a:off x="9153144" y="5632704"/>
            <a:ext cx="2724912" cy="365760"/>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Scope &amp; protections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F44B00"/>
          </a:solidFill>
          <a:ln w="7620">
            <a:solidFill>
              <a:srgbClr val="F44B00">
                <a:alpha val="0"/>
              </a:srgbClr>
            </a:solidFill>
            <a:prstDash val="solid"/>
          </a:ln>
        </p:spPr>
      </p:sp>
      <p:sp>
        <p:nvSpPr>
          <p:cNvPr id="3" name="Text 1"/>
          <p:cNvSpPr/>
          <p:nvPr/>
        </p:nvSpPr>
        <p:spPr>
          <a:xfrm>
            <a:off x="548640" y="338328"/>
            <a:ext cx="3383280" cy="283464"/>
          </a:xfrm>
          <a:prstGeom prst="rect">
            <a:avLst/>
          </a:prstGeom>
          <a:noFill/>
          <a:ln/>
        </p:spPr>
        <p:txBody>
          <a:bodyPr wrap="square" lIns="0" tIns="0" rIns="0" bIns="0" rtlCol="0" anchor="ctr">
            <a:normAutofit/>
          </a:bodyPr>
          <a:lstStyle/>
          <a:p>
            <a:pPr indent="0" marL="0">
              <a:buNone/>
            </a:pPr>
            <a:r>
              <a:rPr lang="en-US" sz="1200" b="1" spc="160" kern="0" dirty="0">
                <a:solidFill>
                  <a:srgbClr val="171716"/>
                </a:solidFill>
                <a:latin typeface="Aptos" pitchFamily="34" charset="0"/>
                <a:ea typeface="Aptos" pitchFamily="34" charset="-122"/>
                <a:cs typeface="Aptos" pitchFamily="34" charset="-120"/>
              </a:rPr>
              <a:t>APPLIED COMPUTE</a:t>
            </a:r>
            <a:endParaRPr lang="en-US" sz="1200" dirty="0"/>
          </a:p>
        </p:txBody>
      </p:sp>
      <p:sp>
        <p:nvSpPr>
          <p:cNvPr id="4" name="Text 2"/>
          <p:cNvSpPr/>
          <p:nvPr/>
        </p:nvSpPr>
        <p:spPr>
          <a:xfrm>
            <a:off x="8503920" y="365760"/>
            <a:ext cx="3063240" cy="210312"/>
          </a:xfrm>
          <a:prstGeom prst="rect">
            <a:avLst/>
          </a:prstGeom>
          <a:noFill/>
          <a:ln/>
        </p:spPr>
        <p:txBody>
          <a:bodyPr wrap="square" lIns="0" tIns="0" rIns="0" bIns="0" rtlCol="0" anchor="ctr">
            <a:normAutofit/>
          </a:bodyPr>
          <a:lstStyle/>
          <a:p>
            <a:pPr algn="r" indent="0" marL="0">
              <a:buNone/>
            </a:pPr>
            <a:r>
              <a:rPr lang="en-US" sz="1000" b="1" spc="100" kern="0" dirty="0">
                <a:solidFill>
                  <a:srgbClr val="857F78"/>
                </a:solidFill>
                <a:latin typeface="Aptos" pitchFamily="34" charset="0"/>
                <a:ea typeface="Aptos" pitchFamily="34" charset="-122"/>
                <a:cs typeface="Aptos" pitchFamily="34" charset="-120"/>
              </a:rPr>
              <a:t>OPERATING MODEL</a:t>
            </a:r>
            <a:endParaRPr lang="en-US" sz="1000" dirty="0"/>
          </a:p>
        </p:txBody>
      </p:sp>
      <p:sp>
        <p:nvSpPr>
          <p:cNvPr id="5" name="Text 3"/>
          <p:cNvSpPr/>
          <p:nvPr/>
        </p:nvSpPr>
        <p:spPr>
          <a:xfrm>
            <a:off x="557784" y="932688"/>
            <a:ext cx="11036808" cy="1024128"/>
          </a:xfrm>
          <a:prstGeom prst="rect">
            <a:avLst/>
          </a:prstGeom>
          <a:noFill/>
          <a:ln/>
        </p:spPr>
        <p:txBody>
          <a:bodyPr wrap="square" lIns="0" tIns="0" rIns="0" bIns="0" rtlCol="0" anchor="ctr">
            <a:normAutofit/>
          </a:bodyPr>
          <a:lstStyle/>
          <a:p>
            <a:pPr indent="0" marL="0">
              <a:buNone/>
            </a:pPr>
            <a:r>
              <a:rPr lang="en-US" sz="3100" b="1" dirty="0">
                <a:solidFill>
                  <a:srgbClr val="171716"/>
                </a:solidFill>
                <a:latin typeface="Aptos" pitchFamily="34" charset="0"/>
                <a:ea typeface="Aptos" pitchFamily="34" charset="-122"/>
                <a:cs typeface="Aptos" pitchFamily="34" charset="-120"/>
              </a:rPr>
              <a:t>Four linked decisions produce one executable deal</a:t>
            </a:r>
            <a:endParaRPr lang="en-US" sz="3100" dirty="0"/>
          </a:p>
        </p:txBody>
      </p:sp>
      <p:sp>
        <p:nvSpPr>
          <p:cNvPr id="6" name="Shape 4"/>
          <p:cNvSpPr/>
          <p:nvPr/>
        </p:nvSpPr>
        <p:spPr>
          <a:xfrm>
            <a:off x="557784" y="6483096"/>
            <a:ext cx="11055096" cy="0"/>
          </a:xfrm>
          <a:prstGeom prst="line">
            <a:avLst/>
          </a:prstGeom>
          <a:noFill/>
          <a:ln w="9525">
            <a:solidFill>
              <a:srgbClr val="DCD7D1"/>
            </a:solidFill>
            <a:prstDash val="solid"/>
          </a:ln>
        </p:spPr>
      </p:sp>
      <p:sp>
        <p:nvSpPr>
          <p:cNvPr id="7" name="Text 5"/>
          <p:cNvSpPr/>
          <p:nvPr/>
        </p:nvSpPr>
        <p:spPr>
          <a:xfrm>
            <a:off x="557784" y="6565392"/>
            <a:ext cx="8412480" cy="128016"/>
          </a:xfrm>
          <a:prstGeom prst="rect">
            <a:avLst/>
          </a:prstGeom>
          <a:noFill/>
          <a:ln/>
        </p:spPr>
        <p:txBody>
          <a:bodyPr wrap="square" lIns="0" tIns="0" rIns="0" bIns="0" rtlCol="0" anchor="ctr">
            <a:normAutofit/>
          </a:bodyPr>
          <a:lstStyle/>
          <a:p>
            <a:pPr indent="0" marL="0">
              <a:buNone/>
            </a:pPr>
            <a:r>
              <a:rPr lang="en-US" sz="820" b="1" dirty="0">
                <a:solidFill>
                  <a:srgbClr val="857F78"/>
                </a:solidFill>
                <a:latin typeface="Aptos" pitchFamily="34" charset="0"/>
                <a:ea typeface="Aptos" pitchFamily="34" charset="-122"/>
                <a:cs typeface="Aptos" pitchFamily="34" charset="-120"/>
              </a:rPr>
              <a:t>ENTERPRISE DEAL ECONOMICS  /  ILLUSTRATIVE FRAMEWORK</a:t>
            </a:r>
            <a:endParaRPr lang="en-US" sz="820" dirty="0"/>
          </a:p>
        </p:txBody>
      </p:sp>
      <p:sp>
        <p:nvSpPr>
          <p:cNvPr id="8" name="Text 6"/>
          <p:cNvSpPr/>
          <p:nvPr/>
        </p:nvSpPr>
        <p:spPr>
          <a:xfrm>
            <a:off x="11173968" y="6547104"/>
            <a:ext cx="411480" cy="146304"/>
          </a:xfrm>
          <a:prstGeom prst="rect">
            <a:avLst/>
          </a:prstGeom>
          <a:noFill/>
          <a:ln/>
        </p:spPr>
        <p:txBody>
          <a:bodyPr wrap="square" lIns="0" tIns="0" rIns="0" bIns="0" rtlCol="0" anchor="ctr">
            <a:normAutofit/>
          </a:bodyPr>
          <a:lstStyle/>
          <a:p>
            <a:pPr algn="r" indent="0" marL="0">
              <a:buNone/>
            </a:pPr>
            <a:r>
              <a:rPr lang="en-US" sz="900" b="1" dirty="0">
                <a:solidFill>
                  <a:srgbClr val="5F5B57"/>
                </a:solidFill>
                <a:latin typeface="Aptos" pitchFamily="34" charset="0"/>
                <a:ea typeface="Aptos" pitchFamily="34" charset="-122"/>
                <a:cs typeface="Aptos" pitchFamily="34" charset="-120"/>
              </a:rPr>
              <a:t>02</a:t>
            </a:r>
            <a:endParaRPr lang="en-US" sz="900" dirty="0"/>
          </a:p>
        </p:txBody>
      </p:sp>
      <p:sp>
        <p:nvSpPr>
          <p:cNvPr id="9" name="Shape 7"/>
          <p:cNvSpPr/>
          <p:nvPr/>
        </p:nvSpPr>
        <p:spPr>
          <a:xfrm>
            <a:off x="576072" y="2176272"/>
            <a:ext cx="2734056" cy="3337560"/>
          </a:xfrm>
          <a:prstGeom prst="roundRect">
            <a:avLst>
              <a:gd name="adj" fmla="val 2676"/>
            </a:avLst>
          </a:prstGeom>
          <a:solidFill>
            <a:srgbClr val="FFFFFF"/>
          </a:solidFill>
          <a:ln w="10160">
            <a:solidFill>
              <a:srgbClr val="DCD7D1"/>
            </a:solidFill>
            <a:prstDash val="solid"/>
          </a:ln>
        </p:spPr>
      </p:sp>
      <p:sp>
        <p:nvSpPr>
          <p:cNvPr id="10" name="Text 8"/>
          <p:cNvSpPr/>
          <p:nvPr/>
        </p:nvSpPr>
        <p:spPr>
          <a:xfrm>
            <a:off x="749808" y="2404872"/>
            <a:ext cx="594360" cy="466344"/>
          </a:xfrm>
          <a:prstGeom prst="rect">
            <a:avLst/>
          </a:prstGeom>
          <a:noFill/>
          <a:ln/>
        </p:spPr>
        <p:txBody>
          <a:bodyPr wrap="square" lIns="0" tIns="0" rIns="0" bIns="0" rtlCol="0" anchor="ctr">
            <a:normAutofit/>
          </a:bodyPr>
          <a:lstStyle/>
          <a:p>
            <a:pPr indent="0" marL="0">
              <a:buNone/>
            </a:pPr>
            <a:r>
              <a:rPr lang="en-US" sz="2800" b="1" dirty="0">
                <a:solidFill>
                  <a:srgbClr val="F44B00"/>
                </a:solidFill>
                <a:latin typeface="Aptos" pitchFamily="34" charset="0"/>
                <a:ea typeface="Aptos" pitchFamily="34" charset="-122"/>
                <a:cs typeface="Aptos" pitchFamily="34" charset="-120"/>
              </a:rPr>
              <a:t>01</a:t>
            </a:r>
            <a:endParaRPr lang="en-US" sz="2800" dirty="0"/>
          </a:p>
        </p:txBody>
      </p:sp>
      <p:sp>
        <p:nvSpPr>
          <p:cNvPr id="11" name="Text 9"/>
          <p:cNvSpPr/>
          <p:nvPr/>
        </p:nvSpPr>
        <p:spPr>
          <a:xfrm>
            <a:off x="749808" y="2990088"/>
            <a:ext cx="2377440" cy="228600"/>
          </a:xfrm>
          <a:prstGeom prst="rect">
            <a:avLst/>
          </a:prstGeom>
          <a:noFill/>
          <a:ln/>
        </p:spPr>
        <p:txBody>
          <a:bodyPr wrap="square" lIns="0" tIns="0" rIns="0" bIns="0" rtlCol="0" anchor="ctr">
            <a:normAutofit/>
          </a:bodyPr>
          <a:lstStyle/>
          <a:p>
            <a:pPr indent="0" marL="0">
              <a:buNone/>
            </a:pPr>
            <a:r>
              <a:rPr lang="en-US" sz="1200" b="1" spc="100" kern="0" dirty="0">
                <a:solidFill>
                  <a:srgbClr val="5F5B57"/>
                </a:solidFill>
                <a:latin typeface="Aptos" pitchFamily="34" charset="0"/>
                <a:ea typeface="Aptos" pitchFamily="34" charset="-122"/>
                <a:cs typeface="Aptos" pitchFamily="34" charset="-120"/>
              </a:rPr>
              <a:t>DEMAND</a:t>
            </a:r>
            <a:endParaRPr lang="en-US" sz="1200" dirty="0"/>
          </a:p>
        </p:txBody>
      </p:sp>
      <p:sp>
        <p:nvSpPr>
          <p:cNvPr id="12" name="Text 10"/>
          <p:cNvSpPr/>
          <p:nvPr/>
        </p:nvSpPr>
        <p:spPr>
          <a:xfrm>
            <a:off x="749808" y="3364992"/>
            <a:ext cx="2340864" cy="914400"/>
          </a:xfrm>
          <a:prstGeom prst="rect">
            <a:avLst/>
          </a:prstGeom>
          <a:noFill/>
          <a:ln/>
        </p:spPr>
        <p:txBody>
          <a:bodyPr wrap="square" lIns="0" tIns="0" rIns="0" bIns="0" rtlCol="0" anchor="ctr">
            <a:normAutofit/>
          </a:bodyPr>
          <a:lstStyle/>
          <a:p>
            <a:pPr indent="0" marL="0">
              <a:buNone/>
            </a:pPr>
            <a:r>
              <a:rPr lang="en-US" sz="2100" b="1" dirty="0">
                <a:solidFill>
                  <a:srgbClr val="171716"/>
                </a:solidFill>
                <a:latin typeface="Aptos" pitchFamily="34" charset="0"/>
                <a:ea typeface="Aptos" pitchFamily="34" charset="-122"/>
                <a:cs typeface="Aptos" pitchFamily="34" charset="-120"/>
              </a:rPr>
              <a:t>Scope the problem</a:t>
            </a:r>
            <a:endParaRPr lang="en-US" sz="2100" dirty="0"/>
          </a:p>
        </p:txBody>
      </p:sp>
      <p:sp>
        <p:nvSpPr>
          <p:cNvPr id="13" name="Shape 11"/>
          <p:cNvSpPr/>
          <p:nvPr/>
        </p:nvSpPr>
        <p:spPr>
          <a:xfrm>
            <a:off x="749808" y="4544568"/>
            <a:ext cx="2350008" cy="0"/>
          </a:xfrm>
          <a:prstGeom prst="line">
            <a:avLst/>
          </a:prstGeom>
          <a:noFill/>
          <a:ln w="9525">
            <a:solidFill>
              <a:srgbClr val="DCD7D1"/>
            </a:solidFill>
            <a:prstDash val="solid"/>
          </a:ln>
        </p:spPr>
      </p:sp>
      <p:sp>
        <p:nvSpPr>
          <p:cNvPr id="14" name="Text 12"/>
          <p:cNvSpPr/>
          <p:nvPr/>
        </p:nvSpPr>
        <p:spPr>
          <a:xfrm>
            <a:off x="749808" y="4745736"/>
            <a:ext cx="2286000" cy="173736"/>
          </a:xfrm>
          <a:prstGeom prst="rect">
            <a:avLst/>
          </a:prstGeom>
          <a:noFill/>
          <a:ln/>
        </p:spPr>
        <p:txBody>
          <a:bodyPr wrap="square" lIns="0" tIns="0" rIns="0" bIns="0" rtlCol="0" anchor="ctr">
            <a:normAutofit/>
          </a:bodyPr>
          <a:lstStyle/>
          <a:p>
            <a:pPr indent="0" marL="0">
              <a:buNone/>
            </a:pPr>
            <a:r>
              <a:rPr lang="en-US" sz="1000" b="1" dirty="0">
                <a:solidFill>
                  <a:srgbClr val="857F78"/>
                </a:solidFill>
                <a:latin typeface="Aptos" pitchFamily="34" charset="0"/>
                <a:ea typeface="Aptos" pitchFamily="34" charset="-122"/>
                <a:cs typeface="Aptos" pitchFamily="34" charset="-120"/>
              </a:rPr>
              <a:t>OUTPUT</a:t>
            </a:r>
            <a:endParaRPr lang="en-US" sz="1000" dirty="0"/>
          </a:p>
        </p:txBody>
      </p:sp>
      <p:sp>
        <p:nvSpPr>
          <p:cNvPr id="15" name="Text 13"/>
          <p:cNvSpPr/>
          <p:nvPr/>
        </p:nvSpPr>
        <p:spPr>
          <a:xfrm>
            <a:off x="749808" y="4983480"/>
            <a:ext cx="2368296" cy="301752"/>
          </a:xfrm>
          <a:prstGeom prst="rect">
            <a:avLst/>
          </a:prstGeom>
          <a:noFill/>
          <a:ln/>
        </p:spPr>
        <p:txBody>
          <a:bodyPr wrap="square" lIns="0" tIns="0" rIns="0" bIns="0" rtlCol="0" anchor="ctr">
            <a:normAutofit/>
          </a:bodyPr>
          <a:lstStyle/>
          <a:p>
            <a:pPr indent="0" marL="0">
              <a:buNone/>
            </a:pPr>
            <a:r>
              <a:rPr lang="en-US" sz="1400" b="1" dirty="0">
                <a:solidFill>
                  <a:srgbClr val="D83E00"/>
                </a:solidFill>
                <a:latin typeface="Aptos" pitchFamily="34" charset="0"/>
                <a:ea typeface="Aptos" pitchFamily="34" charset="-122"/>
                <a:cs typeface="Aptos" pitchFamily="34" charset="-120"/>
              </a:rPr>
              <a:t>Customer brief</a:t>
            </a:r>
            <a:endParaRPr lang="en-US" sz="1400" dirty="0"/>
          </a:p>
        </p:txBody>
      </p:sp>
      <p:sp>
        <p:nvSpPr>
          <p:cNvPr id="16" name="Text 14"/>
          <p:cNvSpPr/>
          <p:nvPr/>
        </p:nvSpPr>
        <p:spPr>
          <a:xfrm>
            <a:off x="3236976" y="3630168"/>
            <a:ext cx="265176" cy="393192"/>
          </a:xfrm>
          <a:prstGeom prst="rect">
            <a:avLst/>
          </a:prstGeom>
          <a:noFill/>
          <a:ln/>
        </p:spPr>
        <p:txBody>
          <a:bodyPr wrap="square" lIns="0" tIns="0" rIns="0" bIns="0" rtlCol="0" anchor="ctr">
            <a:normAutofit/>
          </a:bodyPr>
          <a:lstStyle/>
          <a:p>
            <a:pPr algn="ctr" indent="0" marL="0">
              <a:buNone/>
            </a:pPr>
            <a:r>
              <a:rPr lang="en-US" sz="2400" b="1" dirty="0">
                <a:solidFill>
                  <a:srgbClr val="F44B00"/>
                </a:solidFill>
                <a:latin typeface="Aptos" pitchFamily="34" charset="0"/>
                <a:ea typeface="Aptos" pitchFamily="34" charset="-122"/>
                <a:cs typeface="Aptos" pitchFamily="34" charset="-120"/>
              </a:rPr>
              <a:t>›</a:t>
            </a:r>
            <a:endParaRPr lang="en-US" sz="2400" dirty="0"/>
          </a:p>
        </p:txBody>
      </p:sp>
      <p:sp>
        <p:nvSpPr>
          <p:cNvPr id="17" name="Shape 15"/>
          <p:cNvSpPr/>
          <p:nvPr/>
        </p:nvSpPr>
        <p:spPr>
          <a:xfrm>
            <a:off x="3474720" y="2176272"/>
            <a:ext cx="2734056" cy="3337560"/>
          </a:xfrm>
          <a:prstGeom prst="roundRect">
            <a:avLst>
              <a:gd name="adj" fmla="val 2676"/>
            </a:avLst>
          </a:prstGeom>
          <a:solidFill>
            <a:srgbClr val="FFFFFF"/>
          </a:solidFill>
          <a:ln w="10160">
            <a:solidFill>
              <a:srgbClr val="DCD7D1"/>
            </a:solidFill>
            <a:prstDash val="solid"/>
          </a:ln>
        </p:spPr>
      </p:sp>
      <p:sp>
        <p:nvSpPr>
          <p:cNvPr id="18" name="Text 16"/>
          <p:cNvSpPr/>
          <p:nvPr/>
        </p:nvSpPr>
        <p:spPr>
          <a:xfrm>
            <a:off x="3648456" y="2404872"/>
            <a:ext cx="594360" cy="466344"/>
          </a:xfrm>
          <a:prstGeom prst="rect">
            <a:avLst/>
          </a:prstGeom>
          <a:noFill/>
          <a:ln/>
        </p:spPr>
        <p:txBody>
          <a:bodyPr wrap="square" lIns="0" tIns="0" rIns="0" bIns="0" rtlCol="0" anchor="ctr">
            <a:normAutofit/>
          </a:bodyPr>
          <a:lstStyle/>
          <a:p>
            <a:pPr indent="0" marL="0">
              <a:buNone/>
            </a:pPr>
            <a:r>
              <a:rPr lang="en-US" sz="2800" b="1" dirty="0">
                <a:solidFill>
                  <a:srgbClr val="F44B00"/>
                </a:solidFill>
                <a:latin typeface="Aptos" pitchFamily="34" charset="0"/>
                <a:ea typeface="Aptos" pitchFamily="34" charset="-122"/>
                <a:cs typeface="Aptos" pitchFamily="34" charset="-120"/>
              </a:rPr>
              <a:t>02</a:t>
            </a:r>
            <a:endParaRPr lang="en-US" sz="2800" dirty="0"/>
          </a:p>
        </p:txBody>
      </p:sp>
      <p:sp>
        <p:nvSpPr>
          <p:cNvPr id="19" name="Text 17"/>
          <p:cNvSpPr/>
          <p:nvPr/>
        </p:nvSpPr>
        <p:spPr>
          <a:xfrm>
            <a:off x="3648456" y="2990088"/>
            <a:ext cx="2377440" cy="228600"/>
          </a:xfrm>
          <a:prstGeom prst="rect">
            <a:avLst/>
          </a:prstGeom>
          <a:noFill/>
          <a:ln/>
        </p:spPr>
        <p:txBody>
          <a:bodyPr wrap="square" lIns="0" tIns="0" rIns="0" bIns="0" rtlCol="0" anchor="ctr">
            <a:normAutofit/>
          </a:bodyPr>
          <a:lstStyle/>
          <a:p>
            <a:pPr indent="0" marL="0">
              <a:buNone/>
            </a:pPr>
            <a:r>
              <a:rPr lang="en-US" sz="1200" b="1" spc="100" kern="0" dirty="0">
                <a:solidFill>
                  <a:srgbClr val="5F5B57"/>
                </a:solidFill>
                <a:latin typeface="Aptos" pitchFamily="34" charset="0"/>
                <a:ea typeface="Aptos" pitchFamily="34" charset="-122"/>
                <a:cs typeface="Aptos" pitchFamily="34" charset="-120"/>
              </a:rPr>
              <a:t>COGS</a:t>
            </a:r>
            <a:endParaRPr lang="en-US" sz="1200" dirty="0"/>
          </a:p>
        </p:txBody>
      </p:sp>
      <p:sp>
        <p:nvSpPr>
          <p:cNvPr id="20" name="Text 18"/>
          <p:cNvSpPr/>
          <p:nvPr/>
        </p:nvSpPr>
        <p:spPr>
          <a:xfrm>
            <a:off x="3648456" y="3364992"/>
            <a:ext cx="2340864" cy="914400"/>
          </a:xfrm>
          <a:prstGeom prst="rect">
            <a:avLst/>
          </a:prstGeom>
          <a:noFill/>
          <a:ln/>
        </p:spPr>
        <p:txBody>
          <a:bodyPr wrap="square" lIns="0" tIns="0" rIns="0" bIns="0" rtlCol="0" anchor="ctr">
            <a:normAutofit/>
          </a:bodyPr>
          <a:lstStyle/>
          <a:p>
            <a:pPr indent="0" marL="0">
              <a:buNone/>
            </a:pPr>
            <a:r>
              <a:rPr lang="en-US" sz="2100" b="1" dirty="0">
                <a:solidFill>
                  <a:srgbClr val="171716"/>
                </a:solidFill>
                <a:latin typeface="Aptos" pitchFamily="34" charset="0"/>
                <a:ea typeface="Aptos" pitchFamily="34" charset="-122"/>
                <a:cs typeface="Aptos" pitchFamily="34" charset="-120"/>
              </a:rPr>
              <a:t>Model how to deliver</a:t>
            </a:r>
            <a:endParaRPr lang="en-US" sz="2100" dirty="0"/>
          </a:p>
        </p:txBody>
      </p:sp>
      <p:sp>
        <p:nvSpPr>
          <p:cNvPr id="21" name="Shape 19"/>
          <p:cNvSpPr/>
          <p:nvPr/>
        </p:nvSpPr>
        <p:spPr>
          <a:xfrm>
            <a:off x="3648456" y="4544568"/>
            <a:ext cx="2350008" cy="0"/>
          </a:xfrm>
          <a:prstGeom prst="line">
            <a:avLst/>
          </a:prstGeom>
          <a:noFill/>
          <a:ln w="9525">
            <a:solidFill>
              <a:srgbClr val="DCD7D1"/>
            </a:solidFill>
            <a:prstDash val="solid"/>
          </a:ln>
        </p:spPr>
      </p:sp>
      <p:sp>
        <p:nvSpPr>
          <p:cNvPr id="22" name="Text 20"/>
          <p:cNvSpPr/>
          <p:nvPr/>
        </p:nvSpPr>
        <p:spPr>
          <a:xfrm>
            <a:off x="3648456" y="4745736"/>
            <a:ext cx="2286000" cy="173736"/>
          </a:xfrm>
          <a:prstGeom prst="rect">
            <a:avLst/>
          </a:prstGeom>
          <a:noFill/>
          <a:ln/>
        </p:spPr>
        <p:txBody>
          <a:bodyPr wrap="square" lIns="0" tIns="0" rIns="0" bIns="0" rtlCol="0" anchor="ctr">
            <a:normAutofit/>
          </a:bodyPr>
          <a:lstStyle/>
          <a:p>
            <a:pPr indent="0" marL="0">
              <a:buNone/>
            </a:pPr>
            <a:r>
              <a:rPr lang="en-US" sz="1000" b="1" dirty="0">
                <a:solidFill>
                  <a:srgbClr val="857F78"/>
                </a:solidFill>
                <a:latin typeface="Aptos" pitchFamily="34" charset="0"/>
                <a:ea typeface="Aptos" pitchFamily="34" charset="-122"/>
                <a:cs typeface="Aptos" pitchFamily="34" charset="-120"/>
              </a:rPr>
              <a:t>OUTPUT</a:t>
            </a:r>
            <a:endParaRPr lang="en-US" sz="1000" dirty="0"/>
          </a:p>
        </p:txBody>
      </p:sp>
      <p:sp>
        <p:nvSpPr>
          <p:cNvPr id="23" name="Text 21"/>
          <p:cNvSpPr/>
          <p:nvPr/>
        </p:nvSpPr>
        <p:spPr>
          <a:xfrm>
            <a:off x="3648456" y="4983480"/>
            <a:ext cx="2368296" cy="301752"/>
          </a:xfrm>
          <a:prstGeom prst="rect">
            <a:avLst/>
          </a:prstGeom>
          <a:noFill/>
          <a:ln/>
        </p:spPr>
        <p:txBody>
          <a:bodyPr wrap="square" lIns="0" tIns="0" rIns="0" bIns="0" rtlCol="0" anchor="ctr">
            <a:normAutofit/>
          </a:bodyPr>
          <a:lstStyle/>
          <a:p>
            <a:pPr indent="0" marL="0">
              <a:buNone/>
            </a:pPr>
            <a:r>
              <a:rPr lang="en-US" sz="1400" b="1" dirty="0">
                <a:solidFill>
                  <a:srgbClr val="D83E00"/>
                </a:solidFill>
                <a:latin typeface="Aptos" pitchFamily="34" charset="0"/>
                <a:ea typeface="Aptos" pitchFamily="34" charset="-122"/>
                <a:cs typeface="Aptos" pitchFamily="34" charset="-120"/>
              </a:rPr>
              <a:t>Cost + capacity plan</a:t>
            </a:r>
            <a:endParaRPr lang="en-US" sz="1400" dirty="0"/>
          </a:p>
        </p:txBody>
      </p:sp>
      <p:sp>
        <p:nvSpPr>
          <p:cNvPr id="24" name="Text 22"/>
          <p:cNvSpPr/>
          <p:nvPr/>
        </p:nvSpPr>
        <p:spPr>
          <a:xfrm>
            <a:off x="6135624" y="3630168"/>
            <a:ext cx="265176" cy="393192"/>
          </a:xfrm>
          <a:prstGeom prst="rect">
            <a:avLst/>
          </a:prstGeom>
          <a:noFill/>
          <a:ln/>
        </p:spPr>
        <p:txBody>
          <a:bodyPr wrap="square" lIns="0" tIns="0" rIns="0" bIns="0" rtlCol="0" anchor="ctr">
            <a:normAutofit/>
          </a:bodyPr>
          <a:lstStyle/>
          <a:p>
            <a:pPr algn="ctr" indent="0" marL="0">
              <a:buNone/>
            </a:pPr>
            <a:r>
              <a:rPr lang="en-US" sz="2400" b="1" dirty="0">
                <a:solidFill>
                  <a:srgbClr val="F44B00"/>
                </a:solidFill>
                <a:latin typeface="Aptos" pitchFamily="34" charset="0"/>
                <a:ea typeface="Aptos" pitchFamily="34" charset="-122"/>
                <a:cs typeface="Aptos" pitchFamily="34" charset="-120"/>
              </a:rPr>
              <a:t>›</a:t>
            </a:r>
            <a:endParaRPr lang="en-US" sz="2400" dirty="0"/>
          </a:p>
        </p:txBody>
      </p:sp>
      <p:sp>
        <p:nvSpPr>
          <p:cNvPr id="25" name="Shape 23"/>
          <p:cNvSpPr/>
          <p:nvPr/>
        </p:nvSpPr>
        <p:spPr>
          <a:xfrm>
            <a:off x="6373368" y="2176272"/>
            <a:ext cx="2734056" cy="3337560"/>
          </a:xfrm>
          <a:prstGeom prst="roundRect">
            <a:avLst>
              <a:gd name="adj" fmla="val 2676"/>
            </a:avLst>
          </a:prstGeom>
          <a:solidFill>
            <a:srgbClr val="FFFFFF"/>
          </a:solidFill>
          <a:ln w="10160">
            <a:solidFill>
              <a:srgbClr val="DCD7D1"/>
            </a:solidFill>
            <a:prstDash val="solid"/>
          </a:ln>
        </p:spPr>
      </p:sp>
      <p:sp>
        <p:nvSpPr>
          <p:cNvPr id="26" name="Text 24"/>
          <p:cNvSpPr/>
          <p:nvPr/>
        </p:nvSpPr>
        <p:spPr>
          <a:xfrm>
            <a:off x="6547104" y="2404872"/>
            <a:ext cx="594360" cy="466344"/>
          </a:xfrm>
          <a:prstGeom prst="rect">
            <a:avLst/>
          </a:prstGeom>
          <a:noFill/>
          <a:ln/>
        </p:spPr>
        <p:txBody>
          <a:bodyPr wrap="square" lIns="0" tIns="0" rIns="0" bIns="0" rtlCol="0" anchor="ctr">
            <a:normAutofit/>
          </a:bodyPr>
          <a:lstStyle/>
          <a:p>
            <a:pPr indent="0" marL="0">
              <a:buNone/>
            </a:pPr>
            <a:r>
              <a:rPr lang="en-US" sz="2800" b="1" dirty="0">
                <a:solidFill>
                  <a:srgbClr val="F44B00"/>
                </a:solidFill>
                <a:latin typeface="Aptos" pitchFamily="34" charset="0"/>
                <a:ea typeface="Aptos" pitchFamily="34" charset="-122"/>
                <a:cs typeface="Aptos" pitchFamily="34" charset="-120"/>
              </a:rPr>
              <a:t>03</a:t>
            </a:r>
            <a:endParaRPr lang="en-US" sz="2800" dirty="0"/>
          </a:p>
        </p:txBody>
      </p:sp>
      <p:sp>
        <p:nvSpPr>
          <p:cNvPr id="27" name="Text 25"/>
          <p:cNvSpPr/>
          <p:nvPr/>
        </p:nvSpPr>
        <p:spPr>
          <a:xfrm>
            <a:off x="6547104" y="2990088"/>
            <a:ext cx="2377440" cy="228600"/>
          </a:xfrm>
          <a:prstGeom prst="rect">
            <a:avLst/>
          </a:prstGeom>
          <a:noFill/>
          <a:ln/>
        </p:spPr>
        <p:txBody>
          <a:bodyPr wrap="square" lIns="0" tIns="0" rIns="0" bIns="0" rtlCol="0" anchor="ctr">
            <a:normAutofit/>
          </a:bodyPr>
          <a:lstStyle/>
          <a:p>
            <a:pPr indent="0" marL="0">
              <a:buNone/>
            </a:pPr>
            <a:r>
              <a:rPr lang="en-US" sz="1200" b="1" spc="100" kern="0" dirty="0">
                <a:solidFill>
                  <a:srgbClr val="5F5B57"/>
                </a:solidFill>
                <a:latin typeface="Aptos" pitchFamily="34" charset="0"/>
                <a:ea typeface="Aptos" pitchFamily="34" charset="-122"/>
                <a:cs typeface="Aptos" pitchFamily="34" charset="-120"/>
              </a:rPr>
              <a:t>PRICING</a:t>
            </a:r>
            <a:endParaRPr lang="en-US" sz="1200" dirty="0"/>
          </a:p>
        </p:txBody>
      </p:sp>
      <p:sp>
        <p:nvSpPr>
          <p:cNvPr id="28" name="Text 26"/>
          <p:cNvSpPr/>
          <p:nvPr/>
        </p:nvSpPr>
        <p:spPr>
          <a:xfrm>
            <a:off x="6547104" y="3364992"/>
            <a:ext cx="2340864" cy="914400"/>
          </a:xfrm>
          <a:prstGeom prst="rect">
            <a:avLst/>
          </a:prstGeom>
          <a:noFill/>
          <a:ln/>
        </p:spPr>
        <p:txBody>
          <a:bodyPr wrap="square" lIns="0" tIns="0" rIns="0" bIns="0" rtlCol="0" anchor="ctr">
            <a:normAutofit/>
          </a:bodyPr>
          <a:lstStyle/>
          <a:p>
            <a:pPr indent="0" marL="0">
              <a:buNone/>
            </a:pPr>
            <a:r>
              <a:rPr lang="en-US" sz="2100" b="1" dirty="0">
                <a:solidFill>
                  <a:srgbClr val="171716"/>
                </a:solidFill>
                <a:latin typeface="Aptos" pitchFamily="34" charset="0"/>
                <a:ea typeface="Aptos" pitchFamily="34" charset="-122"/>
                <a:cs typeface="Aptos" pitchFamily="34" charset="-120"/>
              </a:rPr>
              <a:t>Choose the right meter</a:t>
            </a:r>
            <a:endParaRPr lang="en-US" sz="2100" dirty="0"/>
          </a:p>
        </p:txBody>
      </p:sp>
      <p:sp>
        <p:nvSpPr>
          <p:cNvPr id="29" name="Shape 27"/>
          <p:cNvSpPr/>
          <p:nvPr/>
        </p:nvSpPr>
        <p:spPr>
          <a:xfrm>
            <a:off x="6547104" y="4544568"/>
            <a:ext cx="2350008" cy="0"/>
          </a:xfrm>
          <a:prstGeom prst="line">
            <a:avLst/>
          </a:prstGeom>
          <a:noFill/>
          <a:ln w="9525">
            <a:solidFill>
              <a:srgbClr val="DCD7D1"/>
            </a:solidFill>
            <a:prstDash val="solid"/>
          </a:ln>
        </p:spPr>
      </p:sp>
      <p:sp>
        <p:nvSpPr>
          <p:cNvPr id="30" name="Text 28"/>
          <p:cNvSpPr/>
          <p:nvPr/>
        </p:nvSpPr>
        <p:spPr>
          <a:xfrm>
            <a:off x="6547104" y="4745736"/>
            <a:ext cx="2286000" cy="173736"/>
          </a:xfrm>
          <a:prstGeom prst="rect">
            <a:avLst/>
          </a:prstGeom>
          <a:noFill/>
          <a:ln/>
        </p:spPr>
        <p:txBody>
          <a:bodyPr wrap="square" lIns="0" tIns="0" rIns="0" bIns="0" rtlCol="0" anchor="ctr">
            <a:normAutofit/>
          </a:bodyPr>
          <a:lstStyle/>
          <a:p>
            <a:pPr indent="0" marL="0">
              <a:buNone/>
            </a:pPr>
            <a:r>
              <a:rPr lang="en-US" sz="1000" b="1" dirty="0">
                <a:solidFill>
                  <a:srgbClr val="857F78"/>
                </a:solidFill>
                <a:latin typeface="Aptos" pitchFamily="34" charset="0"/>
                <a:ea typeface="Aptos" pitchFamily="34" charset="-122"/>
                <a:cs typeface="Aptos" pitchFamily="34" charset="-120"/>
              </a:rPr>
              <a:t>OUTPUT</a:t>
            </a:r>
            <a:endParaRPr lang="en-US" sz="1000" dirty="0"/>
          </a:p>
        </p:txBody>
      </p:sp>
      <p:sp>
        <p:nvSpPr>
          <p:cNvPr id="31" name="Text 29"/>
          <p:cNvSpPr/>
          <p:nvPr/>
        </p:nvSpPr>
        <p:spPr>
          <a:xfrm>
            <a:off x="6547104" y="4983480"/>
            <a:ext cx="2368296" cy="301752"/>
          </a:xfrm>
          <a:prstGeom prst="rect">
            <a:avLst/>
          </a:prstGeom>
          <a:noFill/>
          <a:ln/>
        </p:spPr>
        <p:txBody>
          <a:bodyPr wrap="square" lIns="0" tIns="0" rIns="0" bIns="0" rtlCol="0" anchor="ctr">
            <a:normAutofit/>
          </a:bodyPr>
          <a:lstStyle/>
          <a:p>
            <a:pPr indent="0" marL="0">
              <a:buNone/>
            </a:pPr>
            <a:r>
              <a:rPr lang="en-US" sz="1400" b="1" dirty="0">
                <a:solidFill>
                  <a:srgbClr val="D83E00"/>
                </a:solidFill>
                <a:latin typeface="Aptos" pitchFamily="34" charset="0"/>
                <a:ea typeface="Aptos" pitchFamily="34" charset="-122"/>
                <a:cs typeface="Aptos" pitchFamily="34" charset="-120"/>
              </a:rPr>
              <a:t>Quote + margin test</a:t>
            </a:r>
            <a:endParaRPr lang="en-US" sz="1400" dirty="0"/>
          </a:p>
        </p:txBody>
      </p:sp>
      <p:sp>
        <p:nvSpPr>
          <p:cNvPr id="32" name="Text 30"/>
          <p:cNvSpPr/>
          <p:nvPr/>
        </p:nvSpPr>
        <p:spPr>
          <a:xfrm>
            <a:off x="9034272" y="3630168"/>
            <a:ext cx="265176" cy="393192"/>
          </a:xfrm>
          <a:prstGeom prst="rect">
            <a:avLst/>
          </a:prstGeom>
          <a:noFill/>
          <a:ln/>
        </p:spPr>
        <p:txBody>
          <a:bodyPr wrap="square" lIns="0" tIns="0" rIns="0" bIns="0" rtlCol="0" anchor="ctr">
            <a:normAutofit/>
          </a:bodyPr>
          <a:lstStyle/>
          <a:p>
            <a:pPr algn="ctr" indent="0" marL="0">
              <a:buNone/>
            </a:pPr>
            <a:r>
              <a:rPr lang="en-US" sz="2400" b="1" dirty="0">
                <a:solidFill>
                  <a:srgbClr val="F44B00"/>
                </a:solidFill>
                <a:latin typeface="Aptos" pitchFamily="34" charset="0"/>
                <a:ea typeface="Aptos" pitchFamily="34" charset="-122"/>
                <a:cs typeface="Aptos" pitchFamily="34" charset="-120"/>
              </a:rPr>
              <a:t>›</a:t>
            </a:r>
            <a:endParaRPr lang="en-US" sz="2400" dirty="0"/>
          </a:p>
        </p:txBody>
      </p:sp>
      <p:sp>
        <p:nvSpPr>
          <p:cNvPr id="33" name="Shape 31"/>
          <p:cNvSpPr/>
          <p:nvPr/>
        </p:nvSpPr>
        <p:spPr>
          <a:xfrm>
            <a:off x="9272016" y="2176272"/>
            <a:ext cx="2734056" cy="3337560"/>
          </a:xfrm>
          <a:prstGeom prst="roundRect">
            <a:avLst>
              <a:gd name="adj" fmla="val 2676"/>
            </a:avLst>
          </a:prstGeom>
          <a:solidFill>
            <a:srgbClr val="FFFFFF"/>
          </a:solidFill>
          <a:ln w="10160">
            <a:solidFill>
              <a:srgbClr val="DCD7D1"/>
            </a:solidFill>
            <a:prstDash val="solid"/>
          </a:ln>
        </p:spPr>
      </p:sp>
      <p:sp>
        <p:nvSpPr>
          <p:cNvPr id="34" name="Text 32"/>
          <p:cNvSpPr/>
          <p:nvPr/>
        </p:nvSpPr>
        <p:spPr>
          <a:xfrm>
            <a:off x="9445752" y="2404872"/>
            <a:ext cx="594360" cy="466344"/>
          </a:xfrm>
          <a:prstGeom prst="rect">
            <a:avLst/>
          </a:prstGeom>
          <a:noFill/>
          <a:ln/>
        </p:spPr>
        <p:txBody>
          <a:bodyPr wrap="square" lIns="0" tIns="0" rIns="0" bIns="0" rtlCol="0" anchor="ctr">
            <a:normAutofit/>
          </a:bodyPr>
          <a:lstStyle/>
          <a:p>
            <a:pPr indent="0" marL="0">
              <a:buNone/>
            </a:pPr>
            <a:r>
              <a:rPr lang="en-US" sz="2800" b="1" dirty="0">
                <a:solidFill>
                  <a:srgbClr val="F44B00"/>
                </a:solidFill>
                <a:latin typeface="Aptos" pitchFamily="34" charset="0"/>
                <a:ea typeface="Aptos" pitchFamily="34" charset="-122"/>
                <a:cs typeface="Aptos" pitchFamily="34" charset="-120"/>
              </a:rPr>
              <a:t>04</a:t>
            </a:r>
            <a:endParaRPr lang="en-US" sz="2800" dirty="0"/>
          </a:p>
        </p:txBody>
      </p:sp>
      <p:sp>
        <p:nvSpPr>
          <p:cNvPr id="35" name="Text 33"/>
          <p:cNvSpPr/>
          <p:nvPr/>
        </p:nvSpPr>
        <p:spPr>
          <a:xfrm>
            <a:off x="9445752" y="2990088"/>
            <a:ext cx="2377440" cy="228600"/>
          </a:xfrm>
          <a:prstGeom prst="rect">
            <a:avLst/>
          </a:prstGeom>
          <a:noFill/>
          <a:ln/>
        </p:spPr>
        <p:txBody>
          <a:bodyPr wrap="square" lIns="0" tIns="0" rIns="0" bIns="0" rtlCol="0" anchor="ctr">
            <a:normAutofit/>
          </a:bodyPr>
          <a:lstStyle/>
          <a:p>
            <a:pPr indent="0" marL="0">
              <a:buNone/>
            </a:pPr>
            <a:r>
              <a:rPr lang="en-US" sz="1200" b="1" spc="100" kern="0" dirty="0">
                <a:solidFill>
                  <a:srgbClr val="5F5B57"/>
                </a:solidFill>
                <a:latin typeface="Aptos" pitchFamily="34" charset="0"/>
                <a:ea typeface="Aptos" pitchFamily="34" charset="-122"/>
                <a:cs typeface="Aptos" pitchFamily="34" charset="-120"/>
              </a:rPr>
              <a:t>SOW</a:t>
            </a:r>
            <a:endParaRPr lang="en-US" sz="1200" dirty="0"/>
          </a:p>
        </p:txBody>
      </p:sp>
      <p:sp>
        <p:nvSpPr>
          <p:cNvPr id="36" name="Text 34"/>
          <p:cNvSpPr/>
          <p:nvPr/>
        </p:nvSpPr>
        <p:spPr>
          <a:xfrm>
            <a:off x="9445752" y="3364992"/>
            <a:ext cx="2340864" cy="914400"/>
          </a:xfrm>
          <a:prstGeom prst="rect">
            <a:avLst/>
          </a:prstGeom>
          <a:noFill/>
          <a:ln/>
        </p:spPr>
        <p:txBody>
          <a:bodyPr wrap="square" lIns="0" tIns="0" rIns="0" bIns="0" rtlCol="0" anchor="ctr">
            <a:normAutofit/>
          </a:bodyPr>
          <a:lstStyle/>
          <a:p>
            <a:pPr indent="0" marL="0">
              <a:buNone/>
            </a:pPr>
            <a:r>
              <a:rPr lang="en-US" sz="2100" b="1" dirty="0">
                <a:solidFill>
                  <a:srgbClr val="171716"/>
                </a:solidFill>
                <a:latin typeface="Aptos" pitchFamily="34" charset="0"/>
                <a:ea typeface="Aptos" pitchFamily="34" charset="-122"/>
                <a:cs typeface="Aptos" pitchFamily="34" charset="-120"/>
              </a:rPr>
              <a:t>Assign risk clearly</a:t>
            </a:r>
            <a:endParaRPr lang="en-US" sz="2100" dirty="0"/>
          </a:p>
        </p:txBody>
      </p:sp>
      <p:sp>
        <p:nvSpPr>
          <p:cNvPr id="37" name="Shape 35"/>
          <p:cNvSpPr/>
          <p:nvPr/>
        </p:nvSpPr>
        <p:spPr>
          <a:xfrm>
            <a:off x="9445752" y="4544568"/>
            <a:ext cx="2350008" cy="0"/>
          </a:xfrm>
          <a:prstGeom prst="line">
            <a:avLst/>
          </a:prstGeom>
          <a:noFill/>
          <a:ln w="9525">
            <a:solidFill>
              <a:srgbClr val="DCD7D1"/>
            </a:solidFill>
            <a:prstDash val="solid"/>
          </a:ln>
        </p:spPr>
      </p:sp>
      <p:sp>
        <p:nvSpPr>
          <p:cNvPr id="38" name="Text 36"/>
          <p:cNvSpPr/>
          <p:nvPr/>
        </p:nvSpPr>
        <p:spPr>
          <a:xfrm>
            <a:off x="9445752" y="4745736"/>
            <a:ext cx="2286000" cy="173736"/>
          </a:xfrm>
          <a:prstGeom prst="rect">
            <a:avLst/>
          </a:prstGeom>
          <a:noFill/>
          <a:ln/>
        </p:spPr>
        <p:txBody>
          <a:bodyPr wrap="square" lIns="0" tIns="0" rIns="0" bIns="0" rtlCol="0" anchor="ctr">
            <a:normAutofit/>
          </a:bodyPr>
          <a:lstStyle/>
          <a:p>
            <a:pPr indent="0" marL="0">
              <a:buNone/>
            </a:pPr>
            <a:r>
              <a:rPr lang="en-US" sz="1000" b="1" dirty="0">
                <a:solidFill>
                  <a:srgbClr val="857F78"/>
                </a:solidFill>
                <a:latin typeface="Aptos" pitchFamily="34" charset="0"/>
                <a:ea typeface="Aptos" pitchFamily="34" charset="-122"/>
                <a:cs typeface="Aptos" pitchFamily="34" charset="-120"/>
              </a:rPr>
              <a:t>OUTPUT</a:t>
            </a:r>
            <a:endParaRPr lang="en-US" sz="1000" dirty="0"/>
          </a:p>
        </p:txBody>
      </p:sp>
      <p:sp>
        <p:nvSpPr>
          <p:cNvPr id="39" name="Text 37"/>
          <p:cNvSpPr/>
          <p:nvPr/>
        </p:nvSpPr>
        <p:spPr>
          <a:xfrm>
            <a:off x="9445752" y="4983480"/>
            <a:ext cx="2368296" cy="301752"/>
          </a:xfrm>
          <a:prstGeom prst="rect">
            <a:avLst/>
          </a:prstGeom>
          <a:noFill/>
          <a:ln/>
        </p:spPr>
        <p:txBody>
          <a:bodyPr wrap="square" lIns="0" tIns="0" rIns="0" bIns="0" rtlCol="0" anchor="ctr">
            <a:normAutofit/>
          </a:bodyPr>
          <a:lstStyle/>
          <a:p>
            <a:pPr indent="0" marL="0">
              <a:buNone/>
            </a:pPr>
            <a:r>
              <a:rPr lang="en-US" sz="1400" b="1" dirty="0">
                <a:solidFill>
                  <a:srgbClr val="D83E00"/>
                </a:solidFill>
                <a:latin typeface="Aptos" pitchFamily="34" charset="0"/>
                <a:ea typeface="Aptos" pitchFamily="34" charset="-122"/>
                <a:cs typeface="Aptos" pitchFamily="34" charset="-120"/>
              </a:rPr>
              <a:t>Signed work order</a:t>
            </a:r>
            <a:endParaRPr lang="en-US" sz="1400" dirty="0"/>
          </a:p>
        </p:txBody>
      </p:sp>
      <p:sp>
        <p:nvSpPr>
          <p:cNvPr id="40" name="Shape 38"/>
          <p:cNvSpPr/>
          <p:nvPr/>
        </p:nvSpPr>
        <p:spPr>
          <a:xfrm>
            <a:off x="585216" y="5742432"/>
            <a:ext cx="11036808" cy="557784"/>
          </a:xfrm>
          <a:prstGeom prst="rect">
            <a:avLst/>
          </a:prstGeom>
          <a:solidFill>
            <a:srgbClr val="171716"/>
          </a:solidFill>
          <a:ln w="7620">
            <a:solidFill>
              <a:srgbClr val="171716">
                <a:alpha val="0"/>
              </a:srgbClr>
            </a:solidFill>
            <a:prstDash val="solid"/>
          </a:ln>
        </p:spPr>
      </p:sp>
      <p:sp>
        <p:nvSpPr>
          <p:cNvPr id="41" name="Text 39"/>
          <p:cNvSpPr/>
          <p:nvPr/>
        </p:nvSpPr>
        <p:spPr>
          <a:xfrm>
            <a:off x="795528" y="5833872"/>
            <a:ext cx="10570464" cy="356616"/>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Approval rule: do not promise delivery or reserve new capacity until each handoff is credible.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F44B00"/>
          </a:solidFill>
          <a:ln w="7620">
            <a:solidFill>
              <a:srgbClr val="F44B00">
                <a:alpha val="0"/>
              </a:srgbClr>
            </a:solidFill>
            <a:prstDash val="solid"/>
          </a:ln>
        </p:spPr>
      </p:sp>
      <p:sp>
        <p:nvSpPr>
          <p:cNvPr id="3" name="Text 1"/>
          <p:cNvSpPr/>
          <p:nvPr/>
        </p:nvSpPr>
        <p:spPr>
          <a:xfrm>
            <a:off x="548640" y="338328"/>
            <a:ext cx="3383280" cy="283464"/>
          </a:xfrm>
          <a:prstGeom prst="rect">
            <a:avLst/>
          </a:prstGeom>
          <a:noFill/>
          <a:ln/>
        </p:spPr>
        <p:txBody>
          <a:bodyPr wrap="square" lIns="0" tIns="0" rIns="0" bIns="0" rtlCol="0" anchor="ctr">
            <a:normAutofit/>
          </a:bodyPr>
          <a:lstStyle/>
          <a:p>
            <a:pPr indent="0" marL="0">
              <a:buNone/>
            </a:pPr>
            <a:r>
              <a:rPr lang="en-US" sz="1200" b="1" spc="160" kern="0" dirty="0">
                <a:solidFill>
                  <a:srgbClr val="171716"/>
                </a:solidFill>
                <a:latin typeface="Aptos" pitchFamily="34" charset="0"/>
                <a:ea typeface="Aptos" pitchFamily="34" charset="-122"/>
                <a:cs typeface="Aptos" pitchFamily="34" charset="-120"/>
              </a:rPr>
              <a:t>APPLIED COMPUTE</a:t>
            </a:r>
            <a:endParaRPr lang="en-US" sz="1200" dirty="0"/>
          </a:p>
        </p:txBody>
      </p:sp>
      <p:sp>
        <p:nvSpPr>
          <p:cNvPr id="4" name="Text 2"/>
          <p:cNvSpPr/>
          <p:nvPr/>
        </p:nvSpPr>
        <p:spPr>
          <a:xfrm>
            <a:off x="8503920" y="365760"/>
            <a:ext cx="3063240" cy="210312"/>
          </a:xfrm>
          <a:prstGeom prst="rect">
            <a:avLst/>
          </a:prstGeom>
          <a:noFill/>
          <a:ln/>
        </p:spPr>
        <p:txBody>
          <a:bodyPr wrap="square" lIns="0" tIns="0" rIns="0" bIns="0" rtlCol="0" anchor="ctr">
            <a:normAutofit/>
          </a:bodyPr>
          <a:lstStyle/>
          <a:p>
            <a:pPr algn="r" indent="0" marL="0">
              <a:buNone/>
            </a:pPr>
            <a:r>
              <a:rPr lang="en-US" sz="1000" b="1" spc="100" kern="0" dirty="0">
                <a:solidFill>
                  <a:srgbClr val="857F78"/>
                </a:solidFill>
                <a:latin typeface="Aptos" pitchFamily="34" charset="0"/>
                <a:ea typeface="Aptos" pitchFamily="34" charset="-122"/>
                <a:cs typeface="Aptos" pitchFamily="34" charset="-120"/>
              </a:rPr>
              <a:t>01 / DEMAND INTAKE</a:t>
            </a:r>
            <a:endParaRPr lang="en-US" sz="1000" dirty="0"/>
          </a:p>
        </p:txBody>
      </p:sp>
      <p:sp>
        <p:nvSpPr>
          <p:cNvPr id="5" name="Text 3"/>
          <p:cNvSpPr/>
          <p:nvPr/>
        </p:nvSpPr>
        <p:spPr>
          <a:xfrm>
            <a:off x="557784" y="932688"/>
            <a:ext cx="11036808" cy="1024128"/>
          </a:xfrm>
          <a:prstGeom prst="rect">
            <a:avLst/>
          </a:prstGeom>
          <a:noFill/>
          <a:ln/>
        </p:spPr>
        <p:txBody>
          <a:bodyPr wrap="square" lIns="0" tIns="0" rIns="0" bIns="0" rtlCol="0" anchor="ctr">
            <a:normAutofit/>
          </a:bodyPr>
          <a:lstStyle/>
          <a:p>
            <a:pPr indent="0" marL="0">
              <a:buNone/>
            </a:pPr>
            <a:r>
              <a:rPr lang="en-US" sz="3100" b="1" dirty="0">
                <a:solidFill>
                  <a:srgbClr val="171716"/>
                </a:solidFill>
                <a:latin typeface="Aptos" pitchFamily="34" charset="0"/>
                <a:ea typeface="Aptos" pitchFamily="34" charset="-122"/>
                <a:cs typeface="Aptos" pitchFamily="34" charset="-120"/>
              </a:rPr>
              <a:t>Translate a customer goal into a testable workload</a:t>
            </a:r>
            <a:endParaRPr lang="en-US" sz="3100" dirty="0"/>
          </a:p>
        </p:txBody>
      </p:sp>
      <p:sp>
        <p:nvSpPr>
          <p:cNvPr id="6" name="Shape 4"/>
          <p:cNvSpPr/>
          <p:nvPr/>
        </p:nvSpPr>
        <p:spPr>
          <a:xfrm>
            <a:off x="557784" y="6483096"/>
            <a:ext cx="11055096" cy="0"/>
          </a:xfrm>
          <a:prstGeom prst="line">
            <a:avLst/>
          </a:prstGeom>
          <a:noFill/>
          <a:ln w="9525">
            <a:solidFill>
              <a:srgbClr val="DCD7D1"/>
            </a:solidFill>
            <a:prstDash val="solid"/>
          </a:ln>
        </p:spPr>
      </p:sp>
      <p:sp>
        <p:nvSpPr>
          <p:cNvPr id="7" name="Text 5"/>
          <p:cNvSpPr/>
          <p:nvPr/>
        </p:nvSpPr>
        <p:spPr>
          <a:xfrm>
            <a:off x="557784" y="6565392"/>
            <a:ext cx="8412480" cy="128016"/>
          </a:xfrm>
          <a:prstGeom prst="rect">
            <a:avLst/>
          </a:prstGeom>
          <a:noFill/>
          <a:ln/>
        </p:spPr>
        <p:txBody>
          <a:bodyPr wrap="square" lIns="0" tIns="0" rIns="0" bIns="0" rtlCol="0" anchor="ctr">
            <a:normAutofit/>
          </a:bodyPr>
          <a:lstStyle/>
          <a:p>
            <a:pPr indent="0" marL="0">
              <a:buNone/>
            </a:pPr>
            <a:r>
              <a:rPr lang="en-US" sz="820" b="1" dirty="0">
                <a:solidFill>
                  <a:srgbClr val="857F78"/>
                </a:solidFill>
                <a:latin typeface="Aptos" pitchFamily="34" charset="0"/>
                <a:ea typeface="Aptos" pitchFamily="34" charset="-122"/>
                <a:cs typeface="Aptos" pitchFamily="34" charset="-120"/>
              </a:rPr>
              <a:t>ENTERPRISE DEAL ECONOMICS  /  ILLUSTRATIVE FRAMEWORK</a:t>
            </a:r>
            <a:endParaRPr lang="en-US" sz="820" dirty="0"/>
          </a:p>
        </p:txBody>
      </p:sp>
      <p:sp>
        <p:nvSpPr>
          <p:cNvPr id="8" name="Text 6"/>
          <p:cNvSpPr/>
          <p:nvPr/>
        </p:nvSpPr>
        <p:spPr>
          <a:xfrm>
            <a:off x="11173968" y="6547104"/>
            <a:ext cx="411480" cy="146304"/>
          </a:xfrm>
          <a:prstGeom prst="rect">
            <a:avLst/>
          </a:prstGeom>
          <a:noFill/>
          <a:ln/>
        </p:spPr>
        <p:txBody>
          <a:bodyPr wrap="square" lIns="0" tIns="0" rIns="0" bIns="0" rtlCol="0" anchor="ctr">
            <a:normAutofit/>
          </a:bodyPr>
          <a:lstStyle/>
          <a:p>
            <a:pPr algn="r" indent="0" marL="0">
              <a:buNone/>
            </a:pPr>
            <a:r>
              <a:rPr lang="en-US" sz="900" b="1" dirty="0">
                <a:solidFill>
                  <a:srgbClr val="5F5B57"/>
                </a:solidFill>
                <a:latin typeface="Aptos" pitchFamily="34" charset="0"/>
                <a:ea typeface="Aptos" pitchFamily="34" charset="-122"/>
                <a:cs typeface="Aptos" pitchFamily="34" charset="-120"/>
              </a:rPr>
              <a:t>03</a:t>
            </a:r>
            <a:endParaRPr lang="en-US" sz="900" dirty="0"/>
          </a:p>
        </p:txBody>
      </p:sp>
      <p:sp>
        <p:nvSpPr>
          <p:cNvPr id="9" name="Shape 7"/>
          <p:cNvSpPr/>
          <p:nvPr/>
        </p:nvSpPr>
        <p:spPr>
          <a:xfrm>
            <a:off x="585216" y="2121408"/>
            <a:ext cx="3639312" cy="1325880"/>
          </a:xfrm>
          <a:prstGeom prst="roundRect">
            <a:avLst>
              <a:gd name="adj" fmla="val 5517"/>
            </a:avLst>
          </a:prstGeom>
          <a:solidFill>
            <a:srgbClr val="FFFFFF"/>
          </a:solidFill>
          <a:ln w="10160">
            <a:solidFill>
              <a:srgbClr val="DCD7D1"/>
            </a:solidFill>
            <a:prstDash val="solid"/>
          </a:ln>
        </p:spPr>
      </p:sp>
      <p:sp>
        <p:nvSpPr>
          <p:cNvPr id="10" name="Text 8"/>
          <p:cNvSpPr/>
          <p:nvPr/>
        </p:nvSpPr>
        <p:spPr>
          <a:xfrm>
            <a:off x="768096" y="2313432"/>
            <a:ext cx="502920" cy="301752"/>
          </a:xfrm>
          <a:prstGeom prst="rect">
            <a:avLst/>
          </a:prstGeom>
          <a:noFill/>
          <a:ln/>
        </p:spPr>
        <p:txBody>
          <a:bodyPr wrap="square" lIns="0" tIns="0" rIns="0" bIns="0" rtlCol="0" anchor="ctr">
            <a:normAutofit/>
          </a:bodyPr>
          <a:lstStyle/>
          <a:p>
            <a:pPr indent="0" marL="0">
              <a:buNone/>
            </a:pPr>
            <a:r>
              <a:rPr lang="en-US" sz="1900" b="1" dirty="0">
                <a:solidFill>
                  <a:srgbClr val="F44B00"/>
                </a:solidFill>
                <a:latin typeface="Aptos" pitchFamily="34" charset="0"/>
                <a:ea typeface="Aptos" pitchFamily="34" charset="-122"/>
                <a:cs typeface="Aptos" pitchFamily="34" charset="-120"/>
              </a:rPr>
              <a:t>01</a:t>
            </a:r>
            <a:endParaRPr lang="en-US" sz="1900" dirty="0"/>
          </a:p>
        </p:txBody>
      </p:sp>
      <p:sp>
        <p:nvSpPr>
          <p:cNvPr id="11" name="Text 9"/>
          <p:cNvSpPr/>
          <p:nvPr/>
        </p:nvSpPr>
        <p:spPr>
          <a:xfrm>
            <a:off x="1353312" y="2322576"/>
            <a:ext cx="2679192" cy="237744"/>
          </a:xfrm>
          <a:prstGeom prst="rect">
            <a:avLst/>
          </a:prstGeom>
          <a:noFill/>
          <a:ln/>
        </p:spPr>
        <p:txBody>
          <a:bodyPr wrap="square" lIns="0" tIns="0" rIns="0" bIns="0" rtlCol="0" anchor="ctr">
            <a:normAutofit/>
          </a:bodyPr>
          <a:lstStyle/>
          <a:p>
            <a:pPr indent="0" marL="0">
              <a:buNone/>
            </a:pPr>
            <a:r>
              <a:rPr lang="en-US" sz="1200" b="1" spc="50" kern="0" dirty="0">
                <a:solidFill>
                  <a:srgbClr val="D83E00"/>
                </a:solidFill>
                <a:latin typeface="Aptos" pitchFamily="34" charset="0"/>
                <a:ea typeface="Aptos" pitchFamily="34" charset="-122"/>
                <a:cs typeface="Aptos" pitchFamily="34" charset="-120"/>
              </a:rPr>
              <a:t>BUSINESS TASK</a:t>
            </a:r>
            <a:endParaRPr lang="en-US" sz="1200" dirty="0"/>
          </a:p>
        </p:txBody>
      </p:sp>
      <p:sp>
        <p:nvSpPr>
          <p:cNvPr id="12" name="Text 10"/>
          <p:cNvSpPr/>
          <p:nvPr/>
        </p:nvSpPr>
        <p:spPr>
          <a:xfrm>
            <a:off x="777240" y="2798064"/>
            <a:ext cx="3273552" cy="402336"/>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Workflow, volume, value</a:t>
            </a:r>
            <a:endParaRPr lang="en-US" sz="1700" dirty="0"/>
          </a:p>
        </p:txBody>
      </p:sp>
      <p:sp>
        <p:nvSpPr>
          <p:cNvPr id="13" name="Shape 11"/>
          <p:cNvSpPr/>
          <p:nvPr/>
        </p:nvSpPr>
        <p:spPr>
          <a:xfrm>
            <a:off x="4425696" y="2121408"/>
            <a:ext cx="3639312" cy="1325880"/>
          </a:xfrm>
          <a:prstGeom prst="roundRect">
            <a:avLst>
              <a:gd name="adj" fmla="val 5517"/>
            </a:avLst>
          </a:prstGeom>
          <a:solidFill>
            <a:srgbClr val="FFFFFF"/>
          </a:solidFill>
          <a:ln w="10160">
            <a:solidFill>
              <a:srgbClr val="DCD7D1"/>
            </a:solidFill>
            <a:prstDash val="solid"/>
          </a:ln>
        </p:spPr>
      </p:sp>
      <p:sp>
        <p:nvSpPr>
          <p:cNvPr id="14" name="Text 12"/>
          <p:cNvSpPr/>
          <p:nvPr/>
        </p:nvSpPr>
        <p:spPr>
          <a:xfrm>
            <a:off x="4608576" y="2313432"/>
            <a:ext cx="502920" cy="301752"/>
          </a:xfrm>
          <a:prstGeom prst="rect">
            <a:avLst/>
          </a:prstGeom>
          <a:noFill/>
          <a:ln/>
        </p:spPr>
        <p:txBody>
          <a:bodyPr wrap="square" lIns="0" tIns="0" rIns="0" bIns="0" rtlCol="0" anchor="ctr">
            <a:normAutofit/>
          </a:bodyPr>
          <a:lstStyle/>
          <a:p>
            <a:pPr indent="0" marL="0">
              <a:buNone/>
            </a:pPr>
            <a:r>
              <a:rPr lang="en-US" sz="1900" b="1" dirty="0">
                <a:solidFill>
                  <a:srgbClr val="F44B00"/>
                </a:solidFill>
                <a:latin typeface="Aptos" pitchFamily="34" charset="0"/>
                <a:ea typeface="Aptos" pitchFamily="34" charset="-122"/>
                <a:cs typeface="Aptos" pitchFamily="34" charset="-120"/>
              </a:rPr>
              <a:t>02</a:t>
            </a:r>
            <a:endParaRPr lang="en-US" sz="1900" dirty="0"/>
          </a:p>
        </p:txBody>
      </p:sp>
      <p:sp>
        <p:nvSpPr>
          <p:cNvPr id="15" name="Text 13"/>
          <p:cNvSpPr/>
          <p:nvPr/>
        </p:nvSpPr>
        <p:spPr>
          <a:xfrm>
            <a:off x="5193792" y="2322576"/>
            <a:ext cx="2679192" cy="237744"/>
          </a:xfrm>
          <a:prstGeom prst="rect">
            <a:avLst/>
          </a:prstGeom>
          <a:noFill/>
          <a:ln/>
        </p:spPr>
        <p:txBody>
          <a:bodyPr wrap="square" lIns="0" tIns="0" rIns="0" bIns="0" rtlCol="0" anchor="ctr">
            <a:normAutofit/>
          </a:bodyPr>
          <a:lstStyle/>
          <a:p>
            <a:pPr indent="0" marL="0">
              <a:buNone/>
            </a:pPr>
            <a:r>
              <a:rPr lang="en-US" sz="1200" b="1" spc="50" kern="0" dirty="0">
                <a:solidFill>
                  <a:srgbClr val="D83E00"/>
                </a:solidFill>
                <a:latin typeface="Aptos" pitchFamily="34" charset="0"/>
                <a:ea typeface="Aptos" pitchFamily="34" charset="-122"/>
                <a:cs typeface="Aptos" pitchFamily="34" charset="-120"/>
              </a:rPr>
              <a:t>SUCCESS TEST</a:t>
            </a:r>
            <a:endParaRPr lang="en-US" sz="1200" dirty="0"/>
          </a:p>
        </p:txBody>
      </p:sp>
      <p:sp>
        <p:nvSpPr>
          <p:cNvPr id="16" name="Text 14"/>
          <p:cNvSpPr/>
          <p:nvPr/>
        </p:nvSpPr>
        <p:spPr>
          <a:xfrm>
            <a:off x="4617720" y="2798064"/>
            <a:ext cx="3273552" cy="402336"/>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Baseline, held-out cases, grader</a:t>
            </a:r>
            <a:endParaRPr lang="en-US" sz="1700" dirty="0"/>
          </a:p>
        </p:txBody>
      </p:sp>
      <p:sp>
        <p:nvSpPr>
          <p:cNvPr id="17" name="Shape 15"/>
          <p:cNvSpPr/>
          <p:nvPr/>
        </p:nvSpPr>
        <p:spPr>
          <a:xfrm>
            <a:off x="8266176" y="2121408"/>
            <a:ext cx="3639312" cy="1325880"/>
          </a:xfrm>
          <a:prstGeom prst="roundRect">
            <a:avLst>
              <a:gd name="adj" fmla="val 5517"/>
            </a:avLst>
          </a:prstGeom>
          <a:solidFill>
            <a:srgbClr val="FFFFFF"/>
          </a:solidFill>
          <a:ln w="10160">
            <a:solidFill>
              <a:srgbClr val="DCD7D1"/>
            </a:solidFill>
            <a:prstDash val="solid"/>
          </a:ln>
        </p:spPr>
      </p:sp>
      <p:sp>
        <p:nvSpPr>
          <p:cNvPr id="18" name="Text 16"/>
          <p:cNvSpPr/>
          <p:nvPr/>
        </p:nvSpPr>
        <p:spPr>
          <a:xfrm>
            <a:off x="8449056" y="2313432"/>
            <a:ext cx="502920" cy="301752"/>
          </a:xfrm>
          <a:prstGeom prst="rect">
            <a:avLst/>
          </a:prstGeom>
          <a:noFill/>
          <a:ln/>
        </p:spPr>
        <p:txBody>
          <a:bodyPr wrap="square" lIns="0" tIns="0" rIns="0" bIns="0" rtlCol="0" anchor="ctr">
            <a:normAutofit/>
          </a:bodyPr>
          <a:lstStyle/>
          <a:p>
            <a:pPr indent="0" marL="0">
              <a:buNone/>
            </a:pPr>
            <a:r>
              <a:rPr lang="en-US" sz="1900" b="1" dirty="0">
                <a:solidFill>
                  <a:srgbClr val="F44B00"/>
                </a:solidFill>
                <a:latin typeface="Aptos" pitchFamily="34" charset="0"/>
                <a:ea typeface="Aptos" pitchFamily="34" charset="-122"/>
                <a:cs typeface="Aptos" pitchFamily="34" charset="-120"/>
              </a:rPr>
              <a:t>03</a:t>
            </a:r>
            <a:endParaRPr lang="en-US" sz="1900" dirty="0"/>
          </a:p>
        </p:txBody>
      </p:sp>
      <p:sp>
        <p:nvSpPr>
          <p:cNvPr id="19" name="Text 17"/>
          <p:cNvSpPr/>
          <p:nvPr/>
        </p:nvSpPr>
        <p:spPr>
          <a:xfrm>
            <a:off x="9034272" y="2322576"/>
            <a:ext cx="2679192" cy="237744"/>
          </a:xfrm>
          <a:prstGeom prst="rect">
            <a:avLst/>
          </a:prstGeom>
          <a:noFill/>
          <a:ln/>
        </p:spPr>
        <p:txBody>
          <a:bodyPr wrap="square" lIns="0" tIns="0" rIns="0" bIns="0" rtlCol="0" anchor="ctr">
            <a:normAutofit/>
          </a:bodyPr>
          <a:lstStyle/>
          <a:p>
            <a:pPr indent="0" marL="0">
              <a:buNone/>
            </a:pPr>
            <a:r>
              <a:rPr lang="en-US" sz="1200" b="1" spc="50" kern="0" dirty="0">
                <a:solidFill>
                  <a:srgbClr val="D83E00"/>
                </a:solidFill>
                <a:latin typeface="Aptos" pitchFamily="34" charset="0"/>
                <a:ea typeface="Aptos" pitchFamily="34" charset="-122"/>
                <a:cs typeface="Aptos" pitchFamily="34" charset="-120"/>
              </a:rPr>
              <a:t>DATA + HARNESS</a:t>
            </a:r>
            <a:endParaRPr lang="en-US" sz="1200" dirty="0"/>
          </a:p>
        </p:txBody>
      </p:sp>
      <p:sp>
        <p:nvSpPr>
          <p:cNvPr id="20" name="Text 18"/>
          <p:cNvSpPr/>
          <p:nvPr/>
        </p:nvSpPr>
        <p:spPr>
          <a:xfrm>
            <a:off x="8458200" y="2798064"/>
            <a:ext cx="3273552" cy="402336"/>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Examples, tools, environments</a:t>
            </a:r>
            <a:endParaRPr lang="en-US" sz="1700" dirty="0"/>
          </a:p>
        </p:txBody>
      </p:sp>
      <p:sp>
        <p:nvSpPr>
          <p:cNvPr id="21" name="Shape 19"/>
          <p:cNvSpPr/>
          <p:nvPr/>
        </p:nvSpPr>
        <p:spPr>
          <a:xfrm>
            <a:off x="585216" y="3621024"/>
            <a:ext cx="3639312" cy="1325880"/>
          </a:xfrm>
          <a:prstGeom prst="roundRect">
            <a:avLst>
              <a:gd name="adj" fmla="val 5517"/>
            </a:avLst>
          </a:prstGeom>
          <a:solidFill>
            <a:srgbClr val="FFFFFF"/>
          </a:solidFill>
          <a:ln w="10160">
            <a:solidFill>
              <a:srgbClr val="DCD7D1"/>
            </a:solidFill>
            <a:prstDash val="solid"/>
          </a:ln>
        </p:spPr>
      </p:sp>
      <p:sp>
        <p:nvSpPr>
          <p:cNvPr id="22" name="Text 20"/>
          <p:cNvSpPr/>
          <p:nvPr/>
        </p:nvSpPr>
        <p:spPr>
          <a:xfrm>
            <a:off x="768096" y="3813048"/>
            <a:ext cx="502920" cy="301752"/>
          </a:xfrm>
          <a:prstGeom prst="rect">
            <a:avLst/>
          </a:prstGeom>
          <a:noFill/>
          <a:ln/>
        </p:spPr>
        <p:txBody>
          <a:bodyPr wrap="square" lIns="0" tIns="0" rIns="0" bIns="0" rtlCol="0" anchor="ctr">
            <a:normAutofit/>
          </a:bodyPr>
          <a:lstStyle/>
          <a:p>
            <a:pPr indent="0" marL="0">
              <a:buNone/>
            </a:pPr>
            <a:r>
              <a:rPr lang="en-US" sz="1900" b="1" dirty="0">
                <a:solidFill>
                  <a:srgbClr val="F44B00"/>
                </a:solidFill>
                <a:latin typeface="Aptos" pitchFamily="34" charset="0"/>
                <a:ea typeface="Aptos" pitchFamily="34" charset="-122"/>
                <a:cs typeface="Aptos" pitchFamily="34" charset="-120"/>
              </a:rPr>
              <a:t>04</a:t>
            </a:r>
            <a:endParaRPr lang="en-US" sz="1900" dirty="0"/>
          </a:p>
        </p:txBody>
      </p:sp>
      <p:sp>
        <p:nvSpPr>
          <p:cNvPr id="23" name="Text 21"/>
          <p:cNvSpPr/>
          <p:nvPr/>
        </p:nvSpPr>
        <p:spPr>
          <a:xfrm>
            <a:off x="1353312" y="3822192"/>
            <a:ext cx="2679192" cy="237744"/>
          </a:xfrm>
          <a:prstGeom prst="rect">
            <a:avLst/>
          </a:prstGeom>
          <a:noFill/>
          <a:ln/>
        </p:spPr>
        <p:txBody>
          <a:bodyPr wrap="square" lIns="0" tIns="0" rIns="0" bIns="0" rtlCol="0" anchor="ctr">
            <a:normAutofit/>
          </a:bodyPr>
          <a:lstStyle/>
          <a:p>
            <a:pPr indent="0" marL="0">
              <a:buNone/>
            </a:pPr>
            <a:r>
              <a:rPr lang="en-US" sz="1200" b="1" spc="50" kern="0" dirty="0">
                <a:solidFill>
                  <a:srgbClr val="D83E00"/>
                </a:solidFill>
                <a:latin typeface="Aptos" pitchFamily="34" charset="0"/>
                <a:ea typeface="Aptos" pitchFamily="34" charset="-122"/>
                <a:cs typeface="Aptos" pitchFamily="34" charset="-120"/>
              </a:rPr>
              <a:t>MODEL + METHOD</a:t>
            </a:r>
            <a:endParaRPr lang="en-US" sz="1200" dirty="0"/>
          </a:p>
        </p:txBody>
      </p:sp>
      <p:sp>
        <p:nvSpPr>
          <p:cNvPr id="24" name="Text 22"/>
          <p:cNvSpPr/>
          <p:nvPr/>
        </p:nvSpPr>
        <p:spPr>
          <a:xfrm>
            <a:off x="777240" y="4297680"/>
            <a:ext cx="3273552" cy="402336"/>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Starting weights; RL, SFT or distill</a:t>
            </a:r>
            <a:endParaRPr lang="en-US" sz="1700" dirty="0"/>
          </a:p>
        </p:txBody>
      </p:sp>
      <p:sp>
        <p:nvSpPr>
          <p:cNvPr id="25" name="Shape 23"/>
          <p:cNvSpPr/>
          <p:nvPr/>
        </p:nvSpPr>
        <p:spPr>
          <a:xfrm>
            <a:off x="4425696" y="3621024"/>
            <a:ext cx="3639312" cy="1325880"/>
          </a:xfrm>
          <a:prstGeom prst="roundRect">
            <a:avLst>
              <a:gd name="adj" fmla="val 5517"/>
            </a:avLst>
          </a:prstGeom>
          <a:solidFill>
            <a:srgbClr val="FFFFFF"/>
          </a:solidFill>
          <a:ln w="10160">
            <a:solidFill>
              <a:srgbClr val="DCD7D1"/>
            </a:solidFill>
            <a:prstDash val="solid"/>
          </a:ln>
        </p:spPr>
      </p:sp>
      <p:sp>
        <p:nvSpPr>
          <p:cNvPr id="26" name="Text 24"/>
          <p:cNvSpPr/>
          <p:nvPr/>
        </p:nvSpPr>
        <p:spPr>
          <a:xfrm>
            <a:off x="4608576" y="3813048"/>
            <a:ext cx="502920" cy="301752"/>
          </a:xfrm>
          <a:prstGeom prst="rect">
            <a:avLst/>
          </a:prstGeom>
          <a:noFill/>
          <a:ln/>
        </p:spPr>
        <p:txBody>
          <a:bodyPr wrap="square" lIns="0" tIns="0" rIns="0" bIns="0" rtlCol="0" anchor="ctr">
            <a:normAutofit/>
          </a:bodyPr>
          <a:lstStyle/>
          <a:p>
            <a:pPr indent="0" marL="0">
              <a:buNone/>
            </a:pPr>
            <a:r>
              <a:rPr lang="en-US" sz="1900" b="1" dirty="0">
                <a:solidFill>
                  <a:srgbClr val="F44B00"/>
                </a:solidFill>
                <a:latin typeface="Aptos" pitchFamily="34" charset="0"/>
                <a:ea typeface="Aptos" pitchFamily="34" charset="-122"/>
                <a:cs typeface="Aptos" pitchFamily="34" charset="-120"/>
              </a:rPr>
              <a:t>05</a:t>
            </a:r>
            <a:endParaRPr lang="en-US" sz="1900" dirty="0"/>
          </a:p>
        </p:txBody>
      </p:sp>
      <p:sp>
        <p:nvSpPr>
          <p:cNvPr id="27" name="Text 25"/>
          <p:cNvSpPr/>
          <p:nvPr/>
        </p:nvSpPr>
        <p:spPr>
          <a:xfrm>
            <a:off x="5193792" y="3822192"/>
            <a:ext cx="2679192" cy="237744"/>
          </a:xfrm>
          <a:prstGeom prst="rect">
            <a:avLst/>
          </a:prstGeom>
          <a:noFill/>
          <a:ln/>
        </p:spPr>
        <p:txBody>
          <a:bodyPr wrap="square" lIns="0" tIns="0" rIns="0" bIns="0" rtlCol="0" anchor="ctr">
            <a:normAutofit/>
          </a:bodyPr>
          <a:lstStyle/>
          <a:p>
            <a:pPr indent="0" marL="0">
              <a:buNone/>
            </a:pPr>
            <a:r>
              <a:rPr lang="en-US" sz="1200" b="1" spc="50" kern="0" dirty="0">
                <a:solidFill>
                  <a:srgbClr val="D83E00"/>
                </a:solidFill>
                <a:latin typeface="Aptos" pitchFamily="34" charset="0"/>
                <a:ea typeface="Aptos" pitchFamily="34" charset="-122"/>
                <a:cs typeface="Aptos" pitchFamily="34" charset="-120"/>
              </a:rPr>
              <a:t>RUN SHAPE</a:t>
            </a:r>
            <a:endParaRPr lang="en-US" sz="1200" dirty="0"/>
          </a:p>
        </p:txBody>
      </p:sp>
      <p:sp>
        <p:nvSpPr>
          <p:cNvPr id="28" name="Text 26"/>
          <p:cNvSpPr/>
          <p:nvPr/>
        </p:nvSpPr>
        <p:spPr>
          <a:xfrm>
            <a:off x="4617720" y="4297680"/>
            <a:ext cx="3273552" cy="402336"/>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Tasks, tokens, throughput, dates</a:t>
            </a:r>
            <a:endParaRPr lang="en-US" sz="1700" dirty="0"/>
          </a:p>
        </p:txBody>
      </p:sp>
      <p:sp>
        <p:nvSpPr>
          <p:cNvPr id="29" name="Shape 27"/>
          <p:cNvSpPr/>
          <p:nvPr/>
        </p:nvSpPr>
        <p:spPr>
          <a:xfrm>
            <a:off x="8266176" y="3621024"/>
            <a:ext cx="3639312" cy="1325880"/>
          </a:xfrm>
          <a:prstGeom prst="roundRect">
            <a:avLst>
              <a:gd name="adj" fmla="val 5517"/>
            </a:avLst>
          </a:prstGeom>
          <a:solidFill>
            <a:srgbClr val="FFFFFF"/>
          </a:solidFill>
          <a:ln w="10160">
            <a:solidFill>
              <a:srgbClr val="DCD7D1"/>
            </a:solidFill>
            <a:prstDash val="solid"/>
          </a:ln>
        </p:spPr>
      </p:sp>
      <p:sp>
        <p:nvSpPr>
          <p:cNvPr id="30" name="Text 28"/>
          <p:cNvSpPr/>
          <p:nvPr/>
        </p:nvSpPr>
        <p:spPr>
          <a:xfrm>
            <a:off x="8449056" y="3813048"/>
            <a:ext cx="502920" cy="301752"/>
          </a:xfrm>
          <a:prstGeom prst="rect">
            <a:avLst/>
          </a:prstGeom>
          <a:noFill/>
          <a:ln/>
        </p:spPr>
        <p:txBody>
          <a:bodyPr wrap="square" lIns="0" tIns="0" rIns="0" bIns="0" rtlCol="0" anchor="ctr">
            <a:normAutofit/>
          </a:bodyPr>
          <a:lstStyle/>
          <a:p>
            <a:pPr indent="0" marL="0">
              <a:buNone/>
            </a:pPr>
            <a:r>
              <a:rPr lang="en-US" sz="1900" b="1" dirty="0">
                <a:solidFill>
                  <a:srgbClr val="F44B00"/>
                </a:solidFill>
                <a:latin typeface="Aptos" pitchFamily="34" charset="0"/>
                <a:ea typeface="Aptos" pitchFamily="34" charset="-122"/>
                <a:cs typeface="Aptos" pitchFamily="34" charset="-120"/>
              </a:rPr>
              <a:t>06</a:t>
            </a:r>
            <a:endParaRPr lang="en-US" sz="1900" dirty="0"/>
          </a:p>
        </p:txBody>
      </p:sp>
      <p:sp>
        <p:nvSpPr>
          <p:cNvPr id="31" name="Text 29"/>
          <p:cNvSpPr/>
          <p:nvPr/>
        </p:nvSpPr>
        <p:spPr>
          <a:xfrm>
            <a:off x="9034272" y="3822192"/>
            <a:ext cx="2679192" cy="237744"/>
          </a:xfrm>
          <a:prstGeom prst="rect">
            <a:avLst/>
          </a:prstGeom>
          <a:noFill/>
          <a:ln/>
        </p:spPr>
        <p:txBody>
          <a:bodyPr wrap="square" lIns="0" tIns="0" rIns="0" bIns="0" rtlCol="0" anchor="ctr">
            <a:normAutofit/>
          </a:bodyPr>
          <a:lstStyle/>
          <a:p>
            <a:pPr indent="0" marL="0">
              <a:buNone/>
            </a:pPr>
            <a:r>
              <a:rPr lang="en-US" sz="1200" b="1" spc="50" kern="0" dirty="0">
                <a:solidFill>
                  <a:srgbClr val="D83E00"/>
                </a:solidFill>
                <a:latin typeface="Aptos" pitchFamily="34" charset="0"/>
                <a:ea typeface="Aptos" pitchFamily="34" charset="-122"/>
                <a:cs typeface="Aptos" pitchFamily="34" charset="-120"/>
              </a:rPr>
              <a:t>GUARDRAILS</a:t>
            </a:r>
            <a:endParaRPr lang="en-US" sz="1200" dirty="0"/>
          </a:p>
        </p:txBody>
      </p:sp>
      <p:sp>
        <p:nvSpPr>
          <p:cNvPr id="32" name="Text 30"/>
          <p:cNvSpPr/>
          <p:nvPr/>
        </p:nvSpPr>
        <p:spPr>
          <a:xfrm>
            <a:off x="8458200" y="4297680"/>
            <a:ext cx="3273552" cy="402336"/>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Region, privacy, budget, SLOs</a:t>
            </a:r>
            <a:endParaRPr lang="en-US" sz="1700" dirty="0"/>
          </a:p>
        </p:txBody>
      </p:sp>
      <p:sp>
        <p:nvSpPr>
          <p:cNvPr id="33" name="Shape 31"/>
          <p:cNvSpPr/>
          <p:nvPr/>
        </p:nvSpPr>
        <p:spPr>
          <a:xfrm>
            <a:off x="594360" y="5321808"/>
            <a:ext cx="10991088" cy="850392"/>
          </a:xfrm>
          <a:prstGeom prst="rect">
            <a:avLst/>
          </a:prstGeom>
          <a:solidFill>
            <a:srgbClr val="171716"/>
          </a:solidFill>
          <a:ln w="7620">
            <a:solidFill>
              <a:srgbClr val="171716">
                <a:alpha val="0"/>
              </a:srgbClr>
            </a:solidFill>
            <a:prstDash val="solid"/>
          </a:ln>
        </p:spPr>
      </p:sp>
      <p:sp>
        <p:nvSpPr>
          <p:cNvPr id="34" name="Text 32"/>
          <p:cNvSpPr/>
          <p:nvPr/>
        </p:nvSpPr>
        <p:spPr>
          <a:xfrm>
            <a:off x="832104" y="5522976"/>
            <a:ext cx="2313432" cy="292608"/>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Feasibility gate</a:t>
            </a:r>
            <a:endParaRPr lang="en-US" sz="1700" dirty="0"/>
          </a:p>
        </p:txBody>
      </p:sp>
      <p:sp>
        <p:nvSpPr>
          <p:cNvPr id="35" name="Text 33"/>
          <p:cNvSpPr/>
          <p:nvPr/>
        </p:nvSpPr>
        <p:spPr>
          <a:xfrm>
            <a:off x="2953512" y="5541264"/>
            <a:ext cx="8321040" cy="283464"/>
          </a:xfrm>
          <a:prstGeom prst="rect">
            <a:avLst/>
          </a:prstGeom>
          <a:noFill/>
          <a:ln/>
        </p:spPr>
        <p:txBody>
          <a:bodyPr wrap="square" lIns="0" tIns="0" rIns="0" bIns="0" rtlCol="0" anchor="ctr">
            <a:normAutofit/>
          </a:bodyPr>
          <a:lstStyle/>
          <a:p>
            <a:pPr indent="0" marL="0">
              <a:buNone/>
            </a:pPr>
            <a:r>
              <a:rPr lang="en-US" sz="1600" dirty="0">
                <a:solidFill>
                  <a:srgbClr val="EAE5DF"/>
                </a:solidFill>
                <a:latin typeface="Aptos" pitchFamily="34" charset="0"/>
                <a:ea typeface="Aptos" pitchFamily="34" charset="-122"/>
                <a:cs typeface="Aptos" pitchFamily="34" charset="-120"/>
              </a:rPr>
              <a:t>Only commit to RL after the baseline and grader can measure improvement.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F44B00"/>
          </a:solidFill>
          <a:ln w="7620">
            <a:solidFill>
              <a:srgbClr val="F44B00">
                <a:alpha val="0"/>
              </a:srgbClr>
            </a:solidFill>
            <a:prstDash val="solid"/>
          </a:ln>
        </p:spPr>
      </p:sp>
      <p:sp>
        <p:nvSpPr>
          <p:cNvPr id="3" name="Text 1"/>
          <p:cNvSpPr/>
          <p:nvPr/>
        </p:nvSpPr>
        <p:spPr>
          <a:xfrm>
            <a:off x="548640" y="338328"/>
            <a:ext cx="3383280" cy="283464"/>
          </a:xfrm>
          <a:prstGeom prst="rect">
            <a:avLst/>
          </a:prstGeom>
          <a:noFill/>
          <a:ln/>
        </p:spPr>
        <p:txBody>
          <a:bodyPr wrap="square" lIns="0" tIns="0" rIns="0" bIns="0" rtlCol="0" anchor="ctr">
            <a:normAutofit/>
          </a:bodyPr>
          <a:lstStyle/>
          <a:p>
            <a:pPr indent="0" marL="0">
              <a:buNone/>
            </a:pPr>
            <a:r>
              <a:rPr lang="en-US" sz="1200" b="1" spc="160" kern="0" dirty="0">
                <a:solidFill>
                  <a:srgbClr val="171716"/>
                </a:solidFill>
                <a:latin typeface="Aptos" pitchFamily="34" charset="0"/>
                <a:ea typeface="Aptos" pitchFamily="34" charset="-122"/>
                <a:cs typeface="Aptos" pitchFamily="34" charset="-120"/>
              </a:rPr>
              <a:t>APPLIED COMPUTE</a:t>
            </a:r>
            <a:endParaRPr lang="en-US" sz="1200" dirty="0"/>
          </a:p>
        </p:txBody>
      </p:sp>
      <p:sp>
        <p:nvSpPr>
          <p:cNvPr id="4" name="Text 2"/>
          <p:cNvSpPr/>
          <p:nvPr/>
        </p:nvSpPr>
        <p:spPr>
          <a:xfrm>
            <a:off x="8503920" y="365760"/>
            <a:ext cx="3063240" cy="210312"/>
          </a:xfrm>
          <a:prstGeom prst="rect">
            <a:avLst/>
          </a:prstGeom>
          <a:noFill/>
          <a:ln/>
        </p:spPr>
        <p:txBody>
          <a:bodyPr wrap="square" lIns="0" tIns="0" rIns="0" bIns="0" rtlCol="0" anchor="ctr">
            <a:normAutofit/>
          </a:bodyPr>
          <a:lstStyle/>
          <a:p>
            <a:pPr algn="r" indent="0" marL="0">
              <a:buNone/>
            </a:pPr>
            <a:r>
              <a:rPr lang="en-US" sz="1000" b="1" spc="100" kern="0" dirty="0">
                <a:solidFill>
                  <a:srgbClr val="857F78"/>
                </a:solidFill>
                <a:latin typeface="Aptos" pitchFamily="34" charset="0"/>
                <a:ea typeface="Aptos" pitchFamily="34" charset="-122"/>
                <a:cs typeface="Aptos" pitchFamily="34" charset="-120"/>
              </a:rPr>
              <a:t>02 / COGS</a:t>
            </a:r>
            <a:endParaRPr lang="en-US" sz="1000" dirty="0"/>
          </a:p>
        </p:txBody>
      </p:sp>
      <p:sp>
        <p:nvSpPr>
          <p:cNvPr id="5" name="Text 3"/>
          <p:cNvSpPr/>
          <p:nvPr/>
        </p:nvSpPr>
        <p:spPr>
          <a:xfrm>
            <a:off x="557784" y="932688"/>
            <a:ext cx="11036808" cy="1024128"/>
          </a:xfrm>
          <a:prstGeom prst="rect">
            <a:avLst/>
          </a:prstGeom>
          <a:noFill/>
          <a:ln/>
        </p:spPr>
        <p:txBody>
          <a:bodyPr wrap="square" lIns="0" tIns="0" rIns="0" bIns="0" rtlCol="0" anchor="ctr">
            <a:normAutofit/>
          </a:bodyPr>
          <a:lstStyle/>
          <a:p>
            <a:pPr indent="0" marL="0">
              <a:buNone/>
            </a:pPr>
            <a:r>
              <a:rPr lang="en-US" sz="3100" b="1" dirty="0">
                <a:solidFill>
                  <a:srgbClr val="171716"/>
                </a:solidFill>
                <a:latin typeface="Aptos" pitchFamily="34" charset="0"/>
                <a:ea typeface="Aptos" pitchFamily="34" charset="-122"/>
                <a:cs typeface="Aptos" pitchFamily="34" charset="-120"/>
              </a:rPr>
              <a:t>Eight cost pools cover the full post-training delivery</a:t>
            </a:r>
            <a:endParaRPr lang="en-US" sz="3100" dirty="0"/>
          </a:p>
        </p:txBody>
      </p:sp>
      <p:sp>
        <p:nvSpPr>
          <p:cNvPr id="6" name="Shape 4"/>
          <p:cNvSpPr/>
          <p:nvPr/>
        </p:nvSpPr>
        <p:spPr>
          <a:xfrm>
            <a:off x="557784" y="6483096"/>
            <a:ext cx="11055096" cy="0"/>
          </a:xfrm>
          <a:prstGeom prst="line">
            <a:avLst/>
          </a:prstGeom>
          <a:noFill/>
          <a:ln w="9525">
            <a:solidFill>
              <a:srgbClr val="DCD7D1"/>
            </a:solidFill>
            <a:prstDash val="solid"/>
          </a:ln>
        </p:spPr>
      </p:sp>
      <p:sp>
        <p:nvSpPr>
          <p:cNvPr id="7" name="Text 5"/>
          <p:cNvSpPr/>
          <p:nvPr/>
        </p:nvSpPr>
        <p:spPr>
          <a:xfrm>
            <a:off x="557784" y="6565392"/>
            <a:ext cx="8412480" cy="128016"/>
          </a:xfrm>
          <a:prstGeom prst="rect">
            <a:avLst/>
          </a:prstGeom>
          <a:noFill/>
          <a:ln/>
        </p:spPr>
        <p:txBody>
          <a:bodyPr wrap="square" lIns="0" tIns="0" rIns="0" bIns="0" rtlCol="0" anchor="ctr">
            <a:normAutofit/>
          </a:bodyPr>
          <a:lstStyle/>
          <a:p>
            <a:pPr indent="0" marL="0">
              <a:buNone/>
            </a:pPr>
            <a:r>
              <a:rPr lang="en-US" sz="820" b="1" dirty="0">
                <a:solidFill>
                  <a:srgbClr val="857F78"/>
                </a:solidFill>
                <a:latin typeface="Aptos" pitchFamily="34" charset="0"/>
                <a:ea typeface="Aptos" pitchFamily="34" charset="-122"/>
                <a:cs typeface="Aptos" pitchFamily="34" charset="-120"/>
              </a:rPr>
              <a:t>ENTERPRISE DEAL ECONOMICS  /  ILLUSTRATIVE FRAMEWORK</a:t>
            </a:r>
            <a:endParaRPr lang="en-US" sz="820" dirty="0"/>
          </a:p>
        </p:txBody>
      </p:sp>
      <p:sp>
        <p:nvSpPr>
          <p:cNvPr id="8" name="Text 6"/>
          <p:cNvSpPr/>
          <p:nvPr/>
        </p:nvSpPr>
        <p:spPr>
          <a:xfrm>
            <a:off x="11173968" y="6547104"/>
            <a:ext cx="411480" cy="146304"/>
          </a:xfrm>
          <a:prstGeom prst="rect">
            <a:avLst/>
          </a:prstGeom>
          <a:noFill/>
          <a:ln/>
        </p:spPr>
        <p:txBody>
          <a:bodyPr wrap="square" lIns="0" tIns="0" rIns="0" bIns="0" rtlCol="0" anchor="ctr">
            <a:normAutofit/>
          </a:bodyPr>
          <a:lstStyle/>
          <a:p>
            <a:pPr algn="r" indent="0" marL="0">
              <a:buNone/>
            </a:pPr>
            <a:r>
              <a:rPr lang="en-US" sz="900" b="1" dirty="0">
                <a:solidFill>
                  <a:srgbClr val="5F5B57"/>
                </a:solidFill>
                <a:latin typeface="Aptos" pitchFamily="34" charset="0"/>
                <a:ea typeface="Aptos" pitchFamily="34" charset="-122"/>
                <a:cs typeface="Aptos" pitchFamily="34" charset="-120"/>
              </a:rPr>
              <a:t>04</a:t>
            </a:r>
            <a:endParaRPr lang="en-US" sz="900" dirty="0"/>
          </a:p>
        </p:txBody>
      </p:sp>
      <p:sp>
        <p:nvSpPr>
          <p:cNvPr id="9" name="Shape 7"/>
          <p:cNvSpPr/>
          <p:nvPr/>
        </p:nvSpPr>
        <p:spPr>
          <a:xfrm>
            <a:off x="566928" y="2130552"/>
            <a:ext cx="2734056" cy="1316736"/>
          </a:xfrm>
          <a:prstGeom prst="roundRect">
            <a:avLst>
              <a:gd name="adj" fmla="val 5556"/>
            </a:avLst>
          </a:prstGeom>
          <a:solidFill>
            <a:srgbClr val="FFFFFF"/>
          </a:solidFill>
          <a:ln w="10160">
            <a:solidFill>
              <a:srgbClr val="DCD7D1"/>
            </a:solidFill>
            <a:prstDash val="solid"/>
          </a:ln>
        </p:spPr>
      </p:sp>
      <p:sp>
        <p:nvSpPr>
          <p:cNvPr id="10" name="Text 8"/>
          <p:cNvSpPr/>
          <p:nvPr/>
        </p:nvSpPr>
        <p:spPr>
          <a:xfrm>
            <a:off x="731520" y="2249424"/>
            <a:ext cx="448056" cy="320040"/>
          </a:xfrm>
          <a:prstGeom prst="rect">
            <a:avLst/>
          </a:prstGeom>
          <a:noFill/>
          <a:ln/>
        </p:spPr>
        <p:txBody>
          <a:bodyPr wrap="square" lIns="0" tIns="0" rIns="0" bIns="0" rtlCol="0" anchor="ctr">
            <a:normAutofit/>
          </a:bodyPr>
          <a:lstStyle/>
          <a:p>
            <a:pPr indent="0" marL="0">
              <a:buNone/>
            </a:pPr>
            <a:r>
              <a:rPr lang="en-US" sz="1800" b="1" dirty="0">
                <a:solidFill>
                  <a:srgbClr val="F44B00"/>
                </a:solidFill>
                <a:latin typeface="Aptos" pitchFamily="34" charset="0"/>
                <a:ea typeface="Aptos" pitchFamily="34" charset="-122"/>
                <a:cs typeface="Aptos" pitchFamily="34" charset="-120"/>
              </a:rPr>
              <a:t>01</a:t>
            </a:r>
            <a:endParaRPr lang="en-US" sz="1800" dirty="0"/>
          </a:p>
        </p:txBody>
      </p:sp>
      <p:sp>
        <p:nvSpPr>
          <p:cNvPr id="11" name="Text 9"/>
          <p:cNvSpPr/>
          <p:nvPr/>
        </p:nvSpPr>
        <p:spPr>
          <a:xfrm>
            <a:off x="740664" y="2651760"/>
            <a:ext cx="2414016" cy="320040"/>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Training GPUs</a:t>
            </a:r>
            <a:endParaRPr lang="en-US" sz="1700" dirty="0"/>
          </a:p>
        </p:txBody>
      </p:sp>
      <p:sp>
        <p:nvSpPr>
          <p:cNvPr id="12" name="Text 10"/>
          <p:cNvSpPr/>
          <p:nvPr/>
        </p:nvSpPr>
        <p:spPr>
          <a:xfrm>
            <a:off x="740664" y="3063240"/>
            <a:ext cx="2414016" cy="182880"/>
          </a:xfrm>
          <a:prstGeom prst="rect">
            <a:avLst/>
          </a:prstGeom>
          <a:noFill/>
          <a:ln/>
        </p:spPr>
        <p:txBody>
          <a:bodyPr wrap="square" lIns="0" tIns="0" rIns="0" bIns="0" rtlCol="0" anchor="ctr">
            <a:normAutofit/>
          </a:bodyPr>
          <a:lstStyle/>
          <a:p>
            <a:pPr indent="0" marL="0">
              <a:buNone/>
            </a:pPr>
            <a:r>
              <a:rPr lang="en-US" sz="1120" dirty="0">
                <a:solidFill>
                  <a:srgbClr val="5F5B57"/>
                </a:solidFill>
                <a:latin typeface="Aptos" pitchFamily="34" charset="0"/>
                <a:ea typeface="Aptos" pitchFamily="34" charset="-122"/>
                <a:cs typeface="Aptos" pitchFamily="34" charset="-120"/>
              </a:rPr>
              <a:t>Model updates; distributed jobs</a:t>
            </a:r>
            <a:endParaRPr lang="en-US" sz="1120" dirty="0"/>
          </a:p>
        </p:txBody>
      </p:sp>
      <p:sp>
        <p:nvSpPr>
          <p:cNvPr id="13" name="Shape 11"/>
          <p:cNvSpPr/>
          <p:nvPr/>
        </p:nvSpPr>
        <p:spPr>
          <a:xfrm>
            <a:off x="3465576" y="2130552"/>
            <a:ext cx="2734056" cy="1316736"/>
          </a:xfrm>
          <a:prstGeom prst="roundRect">
            <a:avLst>
              <a:gd name="adj" fmla="val 5556"/>
            </a:avLst>
          </a:prstGeom>
          <a:solidFill>
            <a:srgbClr val="FFFFFF"/>
          </a:solidFill>
          <a:ln w="10160">
            <a:solidFill>
              <a:srgbClr val="DCD7D1"/>
            </a:solidFill>
            <a:prstDash val="solid"/>
          </a:ln>
        </p:spPr>
      </p:sp>
      <p:sp>
        <p:nvSpPr>
          <p:cNvPr id="14" name="Text 12"/>
          <p:cNvSpPr/>
          <p:nvPr/>
        </p:nvSpPr>
        <p:spPr>
          <a:xfrm>
            <a:off x="3630168" y="2249424"/>
            <a:ext cx="448056" cy="320040"/>
          </a:xfrm>
          <a:prstGeom prst="rect">
            <a:avLst/>
          </a:prstGeom>
          <a:noFill/>
          <a:ln/>
        </p:spPr>
        <p:txBody>
          <a:bodyPr wrap="square" lIns="0" tIns="0" rIns="0" bIns="0" rtlCol="0" anchor="ctr">
            <a:normAutofit/>
          </a:bodyPr>
          <a:lstStyle/>
          <a:p>
            <a:pPr indent="0" marL="0">
              <a:buNone/>
            </a:pPr>
            <a:r>
              <a:rPr lang="en-US" sz="1800" b="1" dirty="0">
                <a:solidFill>
                  <a:srgbClr val="F44B00"/>
                </a:solidFill>
                <a:latin typeface="Aptos" pitchFamily="34" charset="0"/>
                <a:ea typeface="Aptos" pitchFamily="34" charset="-122"/>
                <a:cs typeface="Aptos" pitchFamily="34" charset="-120"/>
              </a:rPr>
              <a:t>02</a:t>
            </a:r>
            <a:endParaRPr lang="en-US" sz="1800" dirty="0"/>
          </a:p>
        </p:txBody>
      </p:sp>
      <p:sp>
        <p:nvSpPr>
          <p:cNvPr id="15" name="Text 13"/>
          <p:cNvSpPr/>
          <p:nvPr/>
        </p:nvSpPr>
        <p:spPr>
          <a:xfrm>
            <a:off x="3639312" y="2651760"/>
            <a:ext cx="2414016" cy="320040"/>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Rollout GPUs</a:t>
            </a:r>
            <a:endParaRPr lang="en-US" sz="1700" dirty="0"/>
          </a:p>
        </p:txBody>
      </p:sp>
      <p:sp>
        <p:nvSpPr>
          <p:cNvPr id="16" name="Text 14"/>
          <p:cNvSpPr/>
          <p:nvPr/>
        </p:nvSpPr>
        <p:spPr>
          <a:xfrm>
            <a:off x="3639312" y="3063240"/>
            <a:ext cx="2414016" cy="182880"/>
          </a:xfrm>
          <a:prstGeom prst="rect">
            <a:avLst/>
          </a:prstGeom>
          <a:noFill/>
          <a:ln/>
        </p:spPr>
        <p:txBody>
          <a:bodyPr wrap="square" lIns="0" tIns="0" rIns="0" bIns="0" rtlCol="0" anchor="ctr">
            <a:normAutofit/>
          </a:bodyPr>
          <a:lstStyle/>
          <a:p>
            <a:pPr indent="0" marL="0">
              <a:buNone/>
            </a:pPr>
            <a:r>
              <a:rPr lang="en-US" sz="1120" dirty="0">
                <a:solidFill>
                  <a:srgbClr val="5F5B57"/>
                </a:solidFill>
                <a:latin typeface="Aptos" pitchFamily="34" charset="0"/>
                <a:ea typeface="Aptos" pitchFamily="34" charset="-122"/>
                <a:cs typeface="Aptos" pitchFamily="34" charset="-120"/>
              </a:rPr>
              <a:t>Trajectory generation; decoding</a:t>
            </a:r>
            <a:endParaRPr lang="en-US" sz="1120" dirty="0"/>
          </a:p>
        </p:txBody>
      </p:sp>
      <p:sp>
        <p:nvSpPr>
          <p:cNvPr id="17" name="Shape 15"/>
          <p:cNvSpPr/>
          <p:nvPr/>
        </p:nvSpPr>
        <p:spPr>
          <a:xfrm>
            <a:off x="6364224" y="2130552"/>
            <a:ext cx="2734056" cy="1316736"/>
          </a:xfrm>
          <a:prstGeom prst="roundRect">
            <a:avLst>
              <a:gd name="adj" fmla="val 5556"/>
            </a:avLst>
          </a:prstGeom>
          <a:solidFill>
            <a:srgbClr val="FFFFFF"/>
          </a:solidFill>
          <a:ln w="10160">
            <a:solidFill>
              <a:srgbClr val="DCD7D1"/>
            </a:solidFill>
            <a:prstDash val="solid"/>
          </a:ln>
        </p:spPr>
      </p:sp>
      <p:sp>
        <p:nvSpPr>
          <p:cNvPr id="18" name="Text 16"/>
          <p:cNvSpPr/>
          <p:nvPr/>
        </p:nvSpPr>
        <p:spPr>
          <a:xfrm>
            <a:off x="6528816" y="2249424"/>
            <a:ext cx="448056" cy="320040"/>
          </a:xfrm>
          <a:prstGeom prst="rect">
            <a:avLst/>
          </a:prstGeom>
          <a:noFill/>
          <a:ln/>
        </p:spPr>
        <p:txBody>
          <a:bodyPr wrap="square" lIns="0" tIns="0" rIns="0" bIns="0" rtlCol="0" anchor="ctr">
            <a:normAutofit/>
          </a:bodyPr>
          <a:lstStyle/>
          <a:p>
            <a:pPr indent="0" marL="0">
              <a:buNone/>
            </a:pPr>
            <a:r>
              <a:rPr lang="en-US" sz="1800" b="1" dirty="0">
                <a:solidFill>
                  <a:srgbClr val="F44B00"/>
                </a:solidFill>
                <a:latin typeface="Aptos" pitchFamily="34" charset="0"/>
                <a:ea typeface="Aptos" pitchFamily="34" charset="-122"/>
                <a:cs typeface="Aptos" pitchFamily="34" charset="-120"/>
              </a:rPr>
              <a:t>03</a:t>
            </a:r>
            <a:endParaRPr lang="en-US" sz="1800" dirty="0"/>
          </a:p>
        </p:txBody>
      </p:sp>
      <p:sp>
        <p:nvSpPr>
          <p:cNvPr id="19" name="Text 17"/>
          <p:cNvSpPr/>
          <p:nvPr/>
        </p:nvSpPr>
        <p:spPr>
          <a:xfrm>
            <a:off x="6537960" y="2651760"/>
            <a:ext cx="2414016" cy="320040"/>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Eval + graders</a:t>
            </a:r>
            <a:endParaRPr lang="en-US" sz="1700" dirty="0"/>
          </a:p>
        </p:txBody>
      </p:sp>
      <p:sp>
        <p:nvSpPr>
          <p:cNvPr id="20" name="Text 18"/>
          <p:cNvSpPr/>
          <p:nvPr/>
        </p:nvSpPr>
        <p:spPr>
          <a:xfrm>
            <a:off x="6537960" y="3063240"/>
            <a:ext cx="2414016" cy="182880"/>
          </a:xfrm>
          <a:prstGeom prst="rect">
            <a:avLst/>
          </a:prstGeom>
          <a:noFill/>
          <a:ln/>
        </p:spPr>
        <p:txBody>
          <a:bodyPr wrap="square" lIns="0" tIns="0" rIns="0" bIns="0" rtlCol="0" anchor="ctr">
            <a:normAutofit/>
          </a:bodyPr>
          <a:lstStyle/>
          <a:p>
            <a:pPr indent="0" marL="0">
              <a:buNone/>
            </a:pPr>
            <a:r>
              <a:rPr lang="en-US" sz="1120" dirty="0">
                <a:solidFill>
                  <a:srgbClr val="5F5B57"/>
                </a:solidFill>
                <a:latin typeface="Aptos" pitchFamily="34" charset="0"/>
                <a:ea typeface="Aptos" pitchFamily="34" charset="-122"/>
                <a:cs typeface="Aptos" pitchFamily="34" charset="-120"/>
              </a:rPr>
              <a:t>Held-out runs; judge APIs</a:t>
            </a:r>
            <a:endParaRPr lang="en-US" sz="1120" dirty="0"/>
          </a:p>
        </p:txBody>
      </p:sp>
      <p:sp>
        <p:nvSpPr>
          <p:cNvPr id="21" name="Shape 19"/>
          <p:cNvSpPr/>
          <p:nvPr/>
        </p:nvSpPr>
        <p:spPr>
          <a:xfrm>
            <a:off x="9262872" y="2130552"/>
            <a:ext cx="2734056" cy="1316736"/>
          </a:xfrm>
          <a:prstGeom prst="roundRect">
            <a:avLst>
              <a:gd name="adj" fmla="val 5556"/>
            </a:avLst>
          </a:prstGeom>
          <a:solidFill>
            <a:srgbClr val="FFFFFF"/>
          </a:solidFill>
          <a:ln w="10160">
            <a:solidFill>
              <a:srgbClr val="DCD7D1"/>
            </a:solidFill>
            <a:prstDash val="solid"/>
          </a:ln>
        </p:spPr>
      </p:sp>
      <p:sp>
        <p:nvSpPr>
          <p:cNvPr id="22" name="Text 20"/>
          <p:cNvSpPr/>
          <p:nvPr/>
        </p:nvSpPr>
        <p:spPr>
          <a:xfrm>
            <a:off x="9427464" y="2249424"/>
            <a:ext cx="448056" cy="320040"/>
          </a:xfrm>
          <a:prstGeom prst="rect">
            <a:avLst/>
          </a:prstGeom>
          <a:noFill/>
          <a:ln/>
        </p:spPr>
        <p:txBody>
          <a:bodyPr wrap="square" lIns="0" tIns="0" rIns="0" bIns="0" rtlCol="0" anchor="ctr">
            <a:normAutofit/>
          </a:bodyPr>
          <a:lstStyle/>
          <a:p>
            <a:pPr indent="0" marL="0">
              <a:buNone/>
            </a:pPr>
            <a:r>
              <a:rPr lang="en-US" sz="1800" b="1" dirty="0">
                <a:solidFill>
                  <a:srgbClr val="F44B00"/>
                </a:solidFill>
                <a:latin typeface="Aptos" pitchFamily="34" charset="0"/>
                <a:ea typeface="Aptos" pitchFamily="34" charset="-122"/>
                <a:cs typeface="Aptos" pitchFamily="34" charset="-120"/>
              </a:rPr>
              <a:t>04</a:t>
            </a:r>
            <a:endParaRPr lang="en-US" sz="1800" dirty="0"/>
          </a:p>
        </p:txBody>
      </p:sp>
      <p:sp>
        <p:nvSpPr>
          <p:cNvPr id="23" name="Text 21"/>
          <p:cNvSpPr/>
          <p:nvPr/>
        </p:nvSpPr>
        <p:spPr>
          <a:xfrm>
            <a:off x="9436608" y="2651760"/>
            <a:ext cx="2414016" cy="320040"/>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Agent sandboxes</a:t>
            </a:r>
            <a:endParaRPr lang="en-US" sz="1700" dirty="0"/>
          </a:p>
        </p:txBody>
      </p:sp>
      <p:sp>
        <p:nvSpPr>
          <p:cNvPr id="24" name="Text 22"/>
          <p:cNvSpPr/>
          <p:nvPr/>
        </p:nvSpPr>
        <p:spPr>
          <a:xfrm>
            <a:off x="9436608" y="3063240"/>
            <a:ext cx="2414016" cy="182880"/>
          </a:xfrm>
          <a:prstGeom prst="rect">
            <a:avLst/>
          </a:prstGeom>
          <a:noFill/>
          <a:ln/>
        </p:spPr>
        <p:txBody>
          <a:bodyPr wrap="square" lIns="0" tIns="0" rIns="0" bIns="0" rtlCol="0" anchor="ctr">
            <a:normAutofit/>
          </a:bodyPr>
          <a:lstStyle/>
          <a:p>
            <a:pPr indent="0" marL="0">
              <a:buNone/>
            </a:pPr>
            <a:r>
              <a:rPr lang="en-US" sz="1120" dirty="0">
                <a:solidFill>
                  <a:srgbClr val="5F5B57"/>
                </a:solidFill>
                <a:latin typeface="Aptos" pitchFamily="34" charset="0"/>
                <a:ea typeface="Aptos" pitchFamily="34" charset="-122"/>
                <a:cs typeface="Aptos" pitchFamily="34" charset="-120"/>
              </a:rPr>
              <a:t>CPU, tools, execution environments</a:t>
            </a:r>
            <a:endParaRPr lang="en-US" sz="1120" dirty="0"/>
          </a:p>
        </p:txBody>
      </p:sp>
      <p:sp>
        <p:nvSpPr>
          <p:cNvPr id="25" name="Shape 23"/>
          <p:cNvSpPr/>
          <p:nvPr/>
        </p:nvSpPr>
        <p:spPr>
          <a:xfrm>
            <a:off x="566928" y="3621024"/>
            <a:ext cx="2734056" cy="1316736"/>
          </a:xfrm>
          <a:prstGeom prst="roundRect">
            <a:avLst>
              <a:gd name="adj" fmla="val 5556"/>
            </a:avLst>
          </a:prstGeom>
          <a:solidFill>
            <a:srgbClr val="FFFFFF"/>
          </a:solidFill>
          <a:ln w="10160">
            <a:solidFill>
              <a:srgbClr val="DCD7D1"/>
            </a:solidFill>
            <a:prstDash val="solid"/>
          </a:ln>
        </p:spPr>
      </p:sp>
      <p:sp>
        <p:nvSpPr>
          <p:cNvPr id="26" name="Text 24"/>
          <p:cNvSpPr/>
          <p:nvPr/>
        </p:nvSpPr>
        <p:spPr>
          <a:xfrm>
            <a:off x="731520" y="3739896"/>
            <a:ext cx="448056" cy="320040"/>
          </a:xfrm>
          <a:prstGeom prst="rect">
            <a:avLst/>
          </a:prstGeom>
          <a:noFill/>
          <a:ln/>
        </p:spPr>
        <p:txBody>
          <a:bodyPr wrap="square" lIns="0" tIns="0" rIns="0" bIns="0" rtlCol="0" anchor="ctr">
            <a:normAutofit/>
          </a:bodyPr>
          <a:lstStyle/>
          <a:p>
            <a:pPr indent="0" marL="0">
              <a:buNone/>
            </a:pPr>
            <a:r>
              <a:rPr lang="en-US" sz="1800" b="1" dirty="0">
                <a:solidFill>
                  <a:srgbClr val="F44B00"/>
                </a:solidFill>
                <a:latin typeface="Aptos" pitchFamily="34" charset="0"/>
                <a:ea typeface="Aptos" pitchFamily="34" charset="-122"/>
                <a:cs typeface="Aptos" pitchFamily="34" charset="-120"/>
              </a:rPr>
              <a:t>05</a:t>
            </a:r>
            <a:endParaRPr lang="en-US" sz="1800" dirty="0"/>
          </a:p>
        </p:txBody>
      </p:sp>
      <p:sp>
        <p:nvSpPr>
          <p:cNvPr id="27" name="Text 25"/>
          <p:cNvSpPr/>
          <p:nvPr/>
        </p:nvSpPr>
        <p:spPr>
          <a:xfrm>
            <a:off x="740664" y="4142232"/>
            <a:ext cx="2414016" cy="320040"/>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Engineering team</a:t>
            </a:r>
            <a:endParaRPr lang="en-US" sz="1700" dirty="0"/>
          </a:p>
        </p:txBody>
      </p:sp>
      <p:sp>
        <p:nvSpPr>
          <p:cNvPr id="28" name="Text 26"/>
          <p:cNvSpPr/>
          <p:nvPr/>
        </p:nvSpPr>
        <p:spPr>
          <a:xfrm>
            <a:off x="740664" y="4553712"/>
            <a:ext cx="2414016" cy="182880"/>
          </a:xfrm>
          <a:prstGeom prst="rect">
            <a:avLst/>
          </a:prstGeom>
          <a:noFill/>
          <a:ln/>
        </p:spPr>
        <p:txBody>
          <a:bodyPr wrap="square" lIns="0" tIns="0" rIns="0" bIns="0" rtlCol="0" anchor="ctr">
            <a:normAutofit/>
          </a:bodyPr>
          <a:lstStyle/>
          <a:p>
            <a:pPr indent="0" marL="0">
              <a:buNone/>
            </a:pPr>
            <a:r>
              <a:rPr lang="en-US" sz="1120" dirty="0">
                <a:solidFill>
                  <a:srgbClr val="5F5B57"/>
                </a:solidFill>
                <a:latin typeface="Aptos" pitchFamily="34" charset="0"/>
                <a:ea typeface="Aptos" pitchFamily="34" charset="-122"/>
                <a:cs typeface="Aptos" pitchFamily="34" charset="-120"/>
              </a:rPr>
              <a:t>Research, FDE, infrastructure, PM</a:t>
            </a:r>
            <a:endParaRPr lang="en-US" sz="1120" dirty="0"/>
          </a:p>
        </p:txBody>
      </p:sp>
      <p:sp>
        <p:nvSpPr>
          <p:cNvPr id="29" name="Shape 27"/>
          <p:cNvSpPr/>
          <p:nvPr/>
        </p:nvSpPr>
        <p:spPr>
          <a:xfrm>
            <a:off x="3465576" y="3621024"/>
            <a:ext cx="2734056" cy="1316736"/>
          </a:xfrm>
          <a:prstGeom prst="roundRect">
            <a:avLst>
              <a:gd name="adj" fmla="val 5556"/>
            </a:avLst>
          </a:prstGeom>
          <a:solidFill>
            <a:srgbClr val="FFFFFF"/>
          </a:solidFill>
          <a:ln w="10160">
            <a:solidFill>
              <a:srgbClr val="DCD7D1"/>
            </a:solidFill>
            <a:prstDash val="solid"/>
          </a:ln>
        </p:spPr>
      </p:sp>
      <p:sp>
        <p:nvSpPr>
          <p:cNvPr id="30" name="Text 28"/>
          <p:cNvSpPr/>
          <p:nvPr/>
        </p:nvSpPr>
        <p:spPr>
          <a:xfrm>
            <a:off x="3630168" y="3739896"/>
            <a:ext cx="448056" cy="320040"/>
          </a:xfrm>
          <a:prstGeom prst="rect">
            <a:avLst/>
          </a:prstGeom>
          <a:noFill/>
          <a:ln/>
        </p:spPr>
        <p:txBody>
          <a:bodyPr wrap="square" lIns="0" tIns="0" rIns="0" bIns="0" rtlCol="0" anchor="ctr">
            <a:normAutofit/>
          </a:bodyPr>
          <a:lstStyle/>
          <a:p>
            <a:pPr indent="0" marL="0">
              <a:buNone/>
            </a:pPr>
            <a:r>
              <a:rPr lang="en-US" sz="1800" b="1" dirty="0">
                <a:solidFill>
                  <a:srgbClr val="F44B00"/>
                </a:solidFill>
                <a:latin typeface="Aptos" pitchFamily="34" charset="0"/>
                <a:ea typeface="Aptos" pitchFamily="34" charset="-122"/>
                <a:cs typeface="Aptos" pitchFamily="34" charset="-120"/>
              </a:rPr>
              <a:t>06</a:t>
            </a:r>
            <a:endParaRPr lang="en-US" sz="1800" dirty="0"/>
          </a:p>
        </p:txBody>
      </p:sp>
      <p:sp>
        <p:nvSpPr>
          <p:cNvPr id="31" name="Text 29"/>
          <p:cNvSpPr/>
          <p:nvPr/>
        </p:nvSpPr>
        <p:spPr>
          <a:xfrm>
            <a:off x="3639312" y="4142232"/>
            <a:ext cx="2414016" cy="320040"/>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Data + checkpoints</a:t>
            </a:r>
            <a:endParaRPr lang="en-US" sz="1700" dirty="0"/>
          </a:p>
        </p:txBody>
      </p:sp>
      <p:sp>
        <p:nvSpPr>
          <p:cNvPr id="32" name="Text 30"/>
          <p:cNvSpPr/>
          <p:nvPr/>
        </p:nvSpPr>
        <p:spPr>
          <a:xfrm>
            <a:off x="3639312" y="4553712"/>
            <a:ext cx="2414016" cy="182880"/>
          </a:xfrm>
          <a:prstGeom prst="rect">
            <a:avLst/>
          </a:prstGeom>
          <a:noFill/>
          <a:ln/>
        </p:spPr>
        <p:txBody>
          <a:bodyPr wrap="square" lIns="0" tIns="0" rIns="0" bIns="0" rtlCol="0" anchor="ctr">
            <a:normAutofit/>
          </a:bodyPr>
          <a:lstStyle/>
          <a:p>
            <a:pPr indent="0" marL="0">
              <a:buNone/>
            </a:pPr>
            <a:r>
              <a:rPr lang="en-US" sz="1120" dirty="0">
                <a:solidFill>
                  <a:srgbClr val="5F5B57"/>
                </a:solidFill>
                <a:latin typeface="Aptos" pitchFamily="34" charset="0"/>
                <a:ea typeface="Aptos" pitchFamily="34" charset="-122"/>
                <a:cs typeface="Aptos" pitchFamily="34" charset="-120"/>
              </a:rPr>
              <a:t>Ingest, storage, retention</a:t>
            </a:r>
            <a:endParaRPr lang="en-US" sz="1120" dirty="0"/>
          </a:p>
        </p:txBody>
      </p:sp>
      <p:sp>
        <p:nvSpPr>
          <p:cNvPr id="33" name="Shape 31"/>
          <p:cNvSpPr/>
          <p:nvPr/>
        </p:nvSpPr>
        <p:spPr>
          <a:xfrm>
            <a:off x="6364224" y="3621024"/>
            <a:ext cx="2734056" cy="1316736"/>
          </a:xfrm>
          <a:prstGeom prst="roundRect">
            <a:avLst>
              <a:gd name="adj" fmla="val 5556"/>
            </a:avLst>
          </a:prstGeom>
          <a:solidFill>
            <a:srgbClr val="FFFFFF"/>
          </a:solidFill>
          <a:ln w="10160">
            <a:solidFill>
              <a:srgbClr val="DCD7D1"/>
            </a:solidFill>
            <a:prstDash val="solid"/>
          </a:ln>
        </p:spPr>
      </p:sp>
      <p:sp>
        <p:nvSpPr>
          <p:cNvPr id="34" name="Text 32"/>
          <p:cNvSpPr/>
          <p:nvPr/>
        </p:nvSpPr>
        <p:spPr>
          <a:xfrm>
            <a:off x="6528816" y="3739896"/>
            <a:ext cx="448056" cy="320040"/>
          </a:xfrm>
          <a:prstGeom prst="rect">
            <a:avLst/>
          </a:prstGeom>
          <a:noFill/>
          <a:ln/>
        </p:spPr>
        <p:txBody>
          <a:bodyPr wrap="square" lIns="0" tIns="0" rIns="0" bIns="0" rtlCol="0" anchor="ctr">
            <a:normAutofit/>
          </a:bodyPr>
          <a:lstStyle/>
          <a:p>
            <a:pPr indent="0" marL="0">
              <a:buNone/>
            </a:pPr>
            <a:r>
              <a:rPr lang="en-US" sz="1800" b="1" dirty="0">
                <a:solidFill>
                  <a:srgbClr val="F44B00"/>
                </a:solidFill>
                <a:latin typeface="Aptos" pitchFamily="34" charset="0"/>
                <a:ea typeface="Aptos" pitchFamily="34" charset="-122"/>
                <a:cs typeface="Aptos" pitchFamily="34" charset="-120"/>
              </a:rPr>
              <a:t>07</a:t>
            </a:r>
            <a:endParaRPr lang="en-US" sz="1800" dirty="0"/>
          </a:p>
        </p:txBody>
      </p:sp>
      <p:sp>
        <p:nvSpPr>
          <p:cNvPr id="35" name="Text 33"/>
          <p:cNvSpPr/>
          <p:nvPr/>
        </p:nvSpPr>
        <p:spPr>
          <a:xfrm>
            <a:off x="6537960" y="4142232"/>
            <a:ext cx="2414016" cy="320040"/>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Network + operations</a:t>
            </a:r>
            <a:endParaRPr lang="en-US" sz="1700" dirty="0"/>
          </a:p>
        </p:txBody>
      </p:sp>
      <p:sp>
        <p:nvSpPr>
          <p:cNvPr id="36" name="Text 34"/>
          <p:cNvSpPr/>
          <p:nvPr/>
        </p:nvSpPr>
        <p:spPr>
          <a:xfrm>
            <a:off x="6537960" y="4553712"/>
            <a:ext cx="2414016" cy="182880"/>
          </a:xfrm>
          <a:prstGeom prst="rect">
            <a:avLst/>
          </a:prstGeom>
          <a:noFill/>
          <a:ln/>
        </p:spPr>
        <p:txBody>
          <a:bodyPr wrap="square" lIns="0" tIns="0" rIns="0" bIns="0" rtlCol="0" anchor="ctr">
            <a:normAutofit/>
          </a:bodyPr>
          <a:lstStyle/>
          <a:p>
            <a:pPr indent="0" marL="0">
              <a:buNone/>
            </a:pPr>
            <a:r>
              <a:rPr lang="en-US" sz="1120" dirty="0">
                <a:solidFill>
                  <a:srgbClr val="5F5B57"/>
                </a:solidFill>
                <a:latin typeface="Aptos" pitchFamily="34" charset="0"/>
                <a:ea typeface="Aptos" pitchFamily="34" charset="-122"/>
                <a:cs typeface="Aptos" pitchFamily="34" charset="-120"/>
              </a:rPr>
              <a:t>Egress, telemetry, on-call</a:t>
            </a:r>
            <a:endParaRPr lang="en-US" sz="1120" dirty="0"/>
          </a:p>
        </p:txBody>
      </p:sp>
      <p:sp>
        <p:nvSpPr>
          <p:cNvPr id="37" name="Shape 35"/>
          <p:cNvSpPr/>
          <p:nvPr/>
        </p:nvSpPr>
        <p:spPr>
          <a:xfrm>
            <a:off x="9262872" y="3621024"/>
            <a:ext cx="2734056" cy="1316736"/>
          </a:xfrm>
          <a:prstGeom prst="roundRect">
            <a:avLst>
              <a:gd name="adj" fmla="val 5556"/>
            </a:avLst>
          </a:prstGeom>
          <a:solidFill>
            <a:srgbClr val="FFFFFF"/>
          </a:solidFill>
          <a:ln w="10160">
            <a:solidFill>
              <a:srgbClr val="DCD7D1"/>
            </a:solidFill>
            <a:prstDash val="solid"/>
          </a:ln>
        </p:spPr>
      </p:sp>
      <p:sp>
        <p:nvSpPr>
          <p:cNvPr id="38" name="Text 36"/>
          <p:cNvSpPr/>
          <p:nvPr/>
        </p:nvSpPr>
        <p:spPr>
          <a:xfrm>
            <a:off x="9427464" y="3739896"/>
            <a:ext cx="448056" cy="320040"/>
          </a:xfrm>
          <a:prstGeom prst="rect">
            <a:avLst/>
          </a:prstGeom>
          <a:noFill/>
          <a:ln/>
        </p:spPr>
        <p:txBody>
          <a:bodyPr wrap="square" lIns="0" tIns="0" rIns="0" bIns="0" rtlCol="0" anchor="ctr">
            <a:normAutofit/>
          </a:bodyPr>
          <a:lstStyle/>
          <a:p>
            <a:pPr indent="0" marL="0">
              <a:buNone/>
            </a:pPr>
            <a:r>
              <a:rPr lang="en-US" sz="1800" b="1" dirty="0">
                <a:solidFill>
                  <a:srgbClr val="F44B00"/>
                </a:solidFill>
                <a:latin typeface="Aptos" pitchFamily="34" charset="0"/>
                <a:ea typeface="Aptos" pitchFamily="34" charset="-122"/>
                <a:cs typeface="Aptos" pitchFamily="34" charset="-120"/>
              </a:rPr>
              <a:t>08</a:t>
            </a:r>
            <a:endParaRPr lang="en-US" sz="1800" dirty="0"/>
          </a:p>
        </p:txBody>
      </p:sp>
      <p:sp>
        <p:nvSpPr>
          <p:cNvPr id="39" name="Text 37"/>
          <p:cNvSpPr/>
          <p:nvPr/>
        </p:nvSpPr>
        <p:spPr>
          <a:xfrm>
            <a:off x="9436608" y="4142232"/>
            <a:ext cx="2414016" cy="320040"/>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Expected rework</a:t>
            </a:r>
            <a:endParaRPr lang="en-US" sz="1700" dirty="0"/>
          </a:p>
        </p:txBody>
      </p:sp>
      <p:sp>
        <p:nvSpPr>
          <p:cNvPr id="40" name="Text 38"/>
          <p:cNvSpPr/>
          <p:nvPr/>
        </p:nvSpPr>
        <p:spPr>
          <a:xfrm>
            <a:off x="9436608" y="4553712"/>
            <a:ext cx="2414016" cy="182880"/>
          </a:xfrm>
          <a:prstGeom prst="rect">
            <a:avLst/>
          </a:prstGeom>
          <a:noFill/>
          <a:ln/>
        </p:spPr>
        <p:txBody>
          <a:bodyPr wrap="square" lIns="0" tIns="0" rIns="0" bIns="0" rtlCol="0" anchor="ctr">
            <a:normAutofit/>
          </a:bodyPr>
          <a:lstStyle/>
          <a:p>
            <a:pPr indent="0" marL="0">
              <a:buNone/>
            </a:pPr>
            <a:r>
              <a:rPr lang="en-US" sz="1120" dirty="0">
                <a:solidFill>
                  <a:srgbClr val="5F5B57"/>
                </a:solidFill>
                <a:latin typeface="Aptos" pitchFamily="34" charset="0"/>
                <a:ea typeface="Aptos" pitchFamily="34" charset="-122"/>
                <a:cs typeface="Aptos" pitchFamily="34" charset="-120"/>
              </a:rPr>
              <a:t>Failed runs and grader changes</a:t>
            </a:r>
            <a:endParaRPr lang="en-US" sz="1120" dirty="0"/>
          </a:p>
        </p:txBody>
      </p:sp>
      <p:sp>
        <p:nvSpPr>
          <p:cNvPr id="41" name="Shape 39"/>
          <p:cNvSpPr/>
          <p:nvPr/>
        </p:nvSpPr>
        <p:spPr>
          <a:xfrm>
            <a:off x="576072" y="5330952"/>
            <a:ext cx="11036808" cy="822960"/>
          </a:xfrm>
          <a:prstGeom prst="rect">
            <a:avLst/>
          </a:prstGeom>
          <a:solidFill>
            <a:srgbClr val="171716"/>
          </a:solidFill>
          <a:ln w="7620">
            <a:solidFill>
              <a:srgbClr val="171716">
                <a:alpha val="0"/>
              </a:srgbClr>
            </a:solidFill>
            <a:prstDash val="solid"/>
          </a:ln>
        </p:spPr>
      </p:sp>
      <p:sp>
        <p:nvSpPr>
          <p:cNvPr id="42" name="Text 40"/>
          <p:cNvSpPr/>
          <p:nvPr/>
        </p:nvSpPr>
        <p:spPr>
          <a:xfrm>
            <a:off x="822960" y="5541264"/>
            <a:ext cx="10579608" cy="374904"/>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ptos" pitchFamily="34" charset="0"/>
                <a:ea typeface="Aptos" pitchFamily="34" charset="-122"/>
                <a:cs typeface="Aptos" pitchFamily="34" charset="-120"/>
              </a:rPr>
              <a:t>Expected COGS = Σ (volume × unit cost) + expected cost of rework</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F44B00"/>
          </a:solidFill>
          <a:ln w="7620">
            <a:solidFill>
              <a:srgbClr val="F44B00">
                <a:alpha val="0"/>
              </a:srgbClr>
            </a:solidFill>
            <a:prstDash val="solid"/>
          </a:ln>
        </p:spPr>
      </p:sp>
      <p:sp>
        <p:nvSpPr>
          <p:cNvPr id="3" name="Text 1"/>
          <p:cNvSpPr/>
          <p:nvPr/>
        </p:nvSpPr>
        <p:spPr>
          <a:xfrm>
            <a:off x="548640" y="338328"/>
            <a:ext cx="3383280" cy="283464"/>
          </a:xfrm>
          <a:prstGeom prst="rect">
            <a:avLst/>
          </a:prstGeom>
          <a:noFill/>
          <a:ln/>
        </p:spPr>
        <p:txBody>
          <a:bodyPr wrap="square" lIns="0" tIns="0" rIns="0" bIns="0" rtlCol="0" anchor="ctr">
            <a:normAutofit/>
          </a:bodyPr>
          <a:lstStyle/>
          <a:p>
            <a:pPr indent="0" marL="0">
              <a:buNone/>
            </a:pPr>
            <a:r>
              <a:rPr lang="en-US" sz="1200" b="1" spc="160" kern="0" dirty="0">
                <a:solidFill>
                  <a:srgbClr val="171716"/>
                </a:solidFill>
                <a:latin typeface="Aptos" pitchFamily="34" charset="0"/>
                <a:ea typeface="Aptos" pitchFamily="34" charset="-122"/>
                <a:cs typeface="Aptos" pitchFamily="34" charset="-120"/>
              </a:rPr>
              <a:t>APPLIED COMPUTE</a:t>
            </a:r>
            <a:endParaRPr lang="en-US" sz="1200" dirty="0"/>
          </a:p>
        </p:txBody>
      </p:sp>
      <p:sp>
        <p:nvSpPr>
          <p:cNvPr id="4" name="Text 2"/>
          <p:cNvSpPr/>
          <p:nvPr/>
        </p:nvSpPr>
        <p:spPr>
          <a:xfrm>
            <a:off x="8503920" y="365760"/>
            <a:ext cx="3063240" cy="210312"/>
          </a:xfrm>
          <a:prstGeom prst="rect">
            <a:avLst/>
          </a:prstGeom>
          <a:noFill/>
          <a:ln/>
        </p:spPr>
        <p:txBody>
          <a:bodyPr wrap="square" lIns="0" tIns="0" rIns="0" bIns="0" rtlCol="0" anchor="ctr">
            <a:normAutofit/>
          </a:bodyPr>
          <a:lstStyle/>
          <a:p>
            <a:pPr algn="r" indent="0" marL="0">
              <a:buNone/>
            </a:pPr>
            <a:r>
              <a:rPr lang="en-US" sz="1000" b="1" spc="100" kern="0" dirty="0">
                <a:solidFill>
                  <a:srgbClr val="857F78"/>
                </a:solidFill>
                <a:latin typeface="Aptos" pitchFamily="34" charset="0"/>
                <a:ea typeface="Aptos" pitchFamily="34" charset="-122"/>
                <a:cs typeface="Aptos" pitchFamily="34" charset="-120"/>
              </a:rPr>
              <a:t>02 / CAPACITY PLANNING</a:t>
            </a:r>
            <a:endParaRPr lang="en-US" sz="1000" dirty="0"/>
          </a:p>
        </p:txBody>
      </p:sp>
      <p:sp>
        <p:nvSpPr>
          <p:cNvPr id="5" name="Text 3"/>
          <p:cNvSpPr/>
          <p:nvPr/>
        </p:nvSpPr>
        <p:spPr>
          <a:xfrm>
            <a:off x="557784" y="932688"/>
            <a:ext cx="11036808" cy="1024128"/>
          </a:xfrm>
          <a:prstGeom prst="rect">
            <a:avLst/>
          </a:prstGeom>
          <a:noFill/>
          <a:ln/>
        </p:spPr>
        <p:txBody>
          <a:bodyPr wrap="square" lIns="0" tIns="0" rIns="0" bIns="0" rtlCol="0" anchor="ctr">
            <a:normAutofit/>
          </a:bodyPr>
          <a:lstStyle/>
          <a:p>
            <a:pPr indent="0" marL="0">
              <a:buNone/>
            </a:pPr>
            <a:r>
              <a:rPr lang="en-US" sz="3100" b="1" dirty="0">
                <a:solidFill>
                  <a:srgbClr val="171716"/>
                </a:solidFill>
                <a:latin typeface="Aptos" pitchFamily="34" charset="0"/>
                <a:ea typeface="Aptos" pitchFamily="34" charset="-122"/>
                <a:cs typeface="Aptos" pitchFamily="34" charset="-120"/>
              </a:rPr>
              <a:t>Match each workload to the right GPU capacity</a:t>
            </a:r>
            <a:endParaRPr lang="en-US" sz="3100" dirty="0"/>
          </a:p>
        </p:txBody>
      </p:sp>
      <p:sp>
        <p:nvSpPr>
          <p:cNvPr id="6" name="Shape 4"/>
          <p:cNvSpPr/>
          <p:nvPr/>
        </p:nvSpPr>
        <p:spPr>
          <a:xfrm>
            <a:off x="557784" y="6483096"/>
            <a:ext cx="11055096" cy="0"/>
          </a:xfrm>
          <a:prstGeom prst="line">
            <a:avLst/>
          </a:prstGeom>
          <a:noFill/>
          <a:ln w="9525">
            <a:solidFill>
              <a:srgbClr val="DCD7D1"/>
            </a:solidFill>
            <a:prstDash val="solid"/>
          </a:ln>
        </p:spPr>
      </p:sp>
      <p:sp>
        <p:nvSpPr>
          <p:cNvPr id="7" name="Text 5"/>
          <p:cNvSpPr/>
          <p:nvPr/>
        </p:nvSpPr>
        <p:spPr>
          <a:xfrm>
            <a:off x="557784" y="6565392"/>
            <a:ext cx="8412480" cy="128016"/>
          </a:xfrm>
          <a:prstGeom prst="rect">
            <a:avLst/>
          </a:prstGeom>
          <a:noFill/>
          <a:ln/>
        </p:spPr>
        <p:txBody>
          <a:bodyPr wrap="square" lIns="0" tIns="0" rIns="0" bIns="0" rtlCol="0" anchor="ctr">
            <a:normAutofit/>
          </a:bodyPr>
          <a:lstStyle/>
          <a:p>
            <a:pPr indent="0" marL="0">
              <a:buNone/>
            </a:pPr>
            <a:r>
              <a:rPr lang="en-US" sz="820" b="1" dirty="0">
                <a:solidFill>
                  <a:srgbClr val="857F78"/>
                </a:solidFill>
                <a:latin typeface="Aptos" pitchFamily="34" charset="0"/>
                <a:ea typeface="Aptos" pitchFamily="34" charset="-122"/>
                <a:cs typeface="Aptos" pitchFamily="34" charset="-120"/>
              </a:rPr>
              <a:t>ENTERPRISE DEAL ECONOMICS  /  ILLUSTRATIVE FRAMEWORK</a:t>
            </a:r>
            <a:endParaRPr lang="en-US" sz="820" dirty="0"/>
          </a:p>
        </p:txBody>
      </p:sp>
      <p:sp>
        <p:nvSpPr>
          <p:cNvPr id="8" name="Text 6"/>
          <p:cNvSpPr/>
          <p:nvPr/>
        </p:nvSpPr>
        <p:spPr>
          <a:xfrm>
            <a:off x="11173968" y="6547104"/>
            <a:ext cx="411480" cy="146304"/>
          </a:xfrm>
          <a:prstGeom prst="rect">
            <a:avLst/>
          </a:prstGeom>
          <a:noFill/>
          <a:ln/>
        </p:spPr>
        <p:txBody>
          <a:bodyPr wrap="square" lIns="0" tIns="0" rIns="0" bIns="0" rtlCol="0" anchor="ctr">
            <a:normAutofit/>
          </a:bodyPr>
          <a:lstStyle/>
          <a:p>
            <a:pPr algn="r" indent="0" marL="0">
              <a:buNone/>
            </a:pPr>
            <a:r>
              <a:rPr lang="en-US" sz="900" b="1" dirty="0">
                <a:solidFill>
                  <a:srgbClr val="5F5B57"/>
                </a:solidFill>
                <a:latin typeface="Aptos" pitchFamily="34" charset="0"/>
                <a:ea typeface="Aptos" pitchFamily="34" charset="-122"/>
                <a:cs typeface="Aptos" pitchFamily="34" charset="-120"/>
              </a:rPr>
              <a:t>05</a:t>
            </a:r>
            <a:endParaRPr lang="en-US" sz="900" dirty="0"/>
          </a:p>
        </p:txBody>
      </p:sp>
      <p:sp>
        <p:nvSpPr>
          <p:cNvPr id="9" name="Shape 7"/>
          <p:cNvSpPr/>
          <p:nvPr/>
        </p:nvSpPr>
        <p:spPr>
          <a:xfrm>
            <a:off x="594360" y="2121408"/>
            <a:ext cx="1572768" cy="722376"/>
          </a:xfrm>
          <a:prstGeom prst="rect">
            <a:avLst/>
          </a:prstGeom>
          <a:solidFill>
            <a:srgbClr val="171716"/>
          </a:solidFill>
          <a:ln w="7620">
            <a:solidFill>
              <a:srgbClr val="171716">
                <a:alpha val="0"/>
              </a:srgbClr>
            </a:solidFill>
            <a:prstDash val="solid"/>
          </a:ln>
        </p:spPr>
      </p:sp>
      <p:sp>
        <p:nvSpPr>
          <p:cNvPr id="10" name="Text 8"/>
          <p:cNvSpPr/>
          <p:nvPr/>
        </p:nvSpPr>
        <p:spPr>
          <a:xfrm>
            <a:off x="722376" y="2240280"/>
            <a:ext cx="1353312" cy="448056"/>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Aptos" pitchFamily="34" charset="0"/>
                <a:ea typeface="Aptos" pitchFamily="34" charset="-122"/>
                <a:cs typeface="Aptos" pitchFamily="34" charset="-120"/>
              </a:rPr>
              <a:t>CAPACITY</a:t>
            </a:r>
            <a:endParaRPr lang="en-US" sz="1200" dirty="0"/>
          </a:p>
          <a:p>
            <a:pPr indent="0" marL="0">
              <a:buNone/>
            </a:pPr>
            <a:r>
              <a:rPr lang="en-US" sz="1200" b="1" dirty="0">
                <a:solidFill>
                  <a:srgbClr val="FFFFFF"/>
                </a:solidFill>
                <a:latin typeface="Aptos" pitchFamily="34" charset="0"/>
                <a:ea typeface="Aptos" pitchFamily="34" charset="-122"/>
                <a:cs typeface="Aptos" pitchFamily="34" charset="-120"/>
              </a:rPr>
              <a:t>CHECK</a:t>
            </a:r>
            <a:endParaRPr lang="en-US" sz="1200" dirty="0"/>
          </a:p>
        </p:txBody>
      </p:sp>
      <p:sp>
        <p:nvSpPr>
          <p:cNvPr id="11" name="Shape 9"/>
          <p:cNvSpPr/>
          <p:nvPr/>
        </p:nvSpPr>
        <p:spPr>
          <a:xfrm>
            <a:off x="2167128" y="2121408"/>
            <a:ext cx="1851660" cy="722376"/>
          </a:xfrm>
          <a:prstGeom prst="rect">
            <a:avLst/>
          </a:prstGeom>
          <a:solidFill>
            <a:srgbClr val="171716"/>
          </a:solidFill>
          <a:ln w="7620">
            <a:solidFill>
              <a:srgbClr val="171716">
                <a:alpha val="0"/>
              </a:srgbClr>
            </a:solidFill>
            <a:prstDash val="solid"/>
          </a:ln>
        </p:spPr>
      </p:sp>
      <p:sp>
        <p:nvSpPr>
          <p:cNvPr id="12" name="Text 10"/>
          <p:cNvSpPr/>
          <p:nvPr/>
        </p:nvSpPr>
        <p:spPr>
          <a:xfrm>
            <a:off x="2267712" y="2240280"/>
            <a:ext cx="1673352" cy="420624"/>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ptos" pitchFamily="34" charset="0"/>
                <a:ea typeface="Aptos" pitchFamily="34" charset="-122"/>
                <a:cs typeface="Aptos" pitchFamily="34" charset="-120"/>
              </a:rPr>
              <a:t>Existing spare</a:t>
            </a:r>
            <a:endParaRPr lang="en-US" sz="1320" dirty="0"/>
          </a:p>
        </p:txBody>
      </p:sp>
      <p:sp>
        <p:nvSpPr>
          <p:cNvPr id="13" name="Shape 11"/>
          <p:cNvSpPr/>
          <p:nvPr/>
        </p:nvSpPr>
        <p:spPr>
          <a:xfrm>
            <a:off x="4050792" y="2121408"/>
            <a:ext cx="1851660" cy="722376"/>
          </a:xfrm>
          <a:prstGeom prst="rect">
            <a:avLst/>
          </a:prstGeom>
          <a:solidFill>
            <a:srgbClr val="171716"/>
          </a:solidFill>
          <a:ln w="7620">
            <a:solidFill>
              <a:srgbClr val="171716">
                <a:alpha val="0"/>
              </a:srgbClr>
            </a:solidFill>
            <a:prstDash val="solid"/>
          </a:ln>
        </p:spPr>
      </p:sp>
      <p:sp>
        <p:nvSpPr>
          <p:cNvPr id="14" name="Text 12"/>
          <p:cNvSpPr/>
          <p:nvPr/>
        </p:nvSpPr>
        <p:spPr>
          <a:xfrm>
            <a:off x="4151376" y="2240280"/>
            <a:ext cx="1673352" cy="420624"/>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ptos" pitchFamily="34" charset="0"/>
                <a:ea typeface="Aptos" pitchFamily="34" charset="-122"/>
                <a:cs typeface="Aptos" pitchFamily="34" charset="-120"/>
              </a:rPr>
              <a:t>Extend a reserve</a:t>
            </a:r>
            <a:endParaRPr lang="en-US" sz="1320" dirty="0"/>
          </a:p>
        </p:txBody>
      </p:sp>
      <p:sp>
        <p:nvSpPr>
          <p:cNvPr id="15" name="Shape 13"/>
          <p:cNvSpPr/>
          <p:nvPr/>
        </p:nvSpPr>
        <p:spPr>
          <a:xfrm>
            <a:off x="5934456" y="2121408"/>
            <a:ext cx="1851660" cy="722376"/>
          </a:xfrm>
          <a:prstGeom prst="rect">
            <a:avLst/>
          </a:prstGeom>
          <a:solidFill>
            <a:srgbClr val="F44B00"/>
          </a:solidFill>
          <a:ln w="7620">
            <a:solidFill>
              <a:srgbClr val="F44B00">
                <a:alpha val="0"/>
              </a:srgbClr>
            </a:solidFill>
            <a:prstDash val="solid"/>
          </a:ln>
        </p:spPr>
      </p:sp>
      <p:sp>
        <p:nvSpPr>
          <p:cNvPr id="16" name="Text 14"/>
          <p:cNvSpPr/>
          <p:nvPr/>
        </p:nvSpPr>
        <p:spPr>
          <a:xfrm>
            <a:off x="6035040" y="2240280"/>
            <a:ext cx="1673352" cy="420624"/>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ptos" pitchFamily="34" charset="0"/>
                <a:ea typeface="Aptos" pitchFamily="34" charset="-122"/>
                <a:cs typeface="Aptos" pitchFamily="34" charset="-120"/>
              </a:rPr>
              <a:t>Pay as needed</a:t>
            </a:r>
            <a:endParaRPr lang="en-US" sz="1320" dirty="0"/>
          </a:p>
        </p:txBody>
      </p:sp>
      <p:sp>
        <p:nvSpPr>
          <p:cNvPr id="17" name="Shape 15"/>
          <p:cNvSpPr/>
          <p:nvPr/>
        </p:nvSpPr>
        <p:spPr>
          <a:xfrm>
            <a:off x="7818120" y="2121408"/>
            <a:ext cx="1851660" cy="722376"/>
          </a:xfrm>
          <a:prstGeom prst="rect">
            <a:avLst/>
          </a:prstGeom>
          <a:solidFill>
            <a:srgbClr val="171716"/>
          </a:solidFill>
          <a:ln w="7620">
            <a:solidFill>
              <a:srgbClr val="171716">
                <a:alpha val="0"/>
              </a:srgbClr>
            </a:solidFill>
            <a:prstDash val="solid"/>
          </a:ln>
        </p:spPr>
      </p:sp>
      <p:sp>
        <p:nvSpPr>
          <p:cNvPr id="18" name="Text 16"/>
          <p:cNvSpPr/>
          <p:nvPr/>
        </p:nvSpPr>
        <p:spPr>
          <a:xfrm>
            <a:off x="7918704" y="2240280"/>
            <a:ext cx="1673352" cy="420624"/>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ptos" pitchFamily="34" charset="0"/>
                <a:ea typeface="Aptos" pitchFamily="34" charset="-122"/>
                <a:cs typeface="Aptos" pitchFamily="34" charset="-120"/>
              </a:rPr>
              <a:t>New commitment</a:t>
            </a:r>
            <a:endParaRPr lang="en-US" sz="1320" dirty="0"/>
          </a:p>
        </p:txBody>
      </p:sp>
      <p:sp>
        <p:nvSpPr>
          <p:cNvPr id="19" name="Shape 17"/>
          <p:cNvSpPr/>
          <p:nvPr/>
        </p:nvSpPr>
        <p:spPr>
          <a:xfrm>
            <a:off x="9701784" y="2121408"/>
            <a:ext cx="1851660" cy="722376"/>
          </a:xfrm>
          <a:prstGeom prst="rect">
            <a:avLst/>
          </a:prstGeom>
          <a:solidFill>
            <a:srgbClr val="171716"/>
          </a:solidFill>
          <a:ln w="7620">
            <a:solidFill>
              <a:srgbClr val="171716">
                <a:alpha val="0"/>
              </a:srgbClr>
            </a:solidFill>
            <a:prstDash val="solid"/>
          </a:ln>
        </p:spPr>
      </p:sp>
      <p:sp>
        <p:nvSpPr>
          <p:cNvPr id="20" name="Text 18"/>
          <p:cNvSpPr/>
          <p:nvPr/>
        </p:nvSpPr>
        <p:spPr>
          <a:xfrm>
            <a:off x="9802368" y="2240280"/>
            <a:ext cx="1673352" cy="420624"/>
          </a:xfrm>
          <a:prstGeom prst="rect">
            <a:avLst/>
          </a:prstGeom>
          <a:noFill/>
          <a:ln/>
        </p:spPr>
        <p:txBody>
          <a:bodyPr wrap="square" lIns="0" tIns="0" rIns="0" bIns="0" rtlCol="0" anchor="ctr">
            <a:normAutofit/>
          </a:bodyPr>
          <a:lstStyle/>
          <a:p>
            <a:pPr algn="ctr" indent="0" marL="0">
              <a:buNone/>
            </a:pPr>
            <a:r>
              <a:rPr lang="en-US" sz="1320" b="1" dirty="0">
                <a:solidFill>
                  <a:srgbClr val="FFFFFF"/>
                </a:solidFill>
                <a:latin typeface="Aptos" pitchFamily="34" charset="0"/>
                <a:ea typeface="Aptos" pitchFamily="34" charset="-122"/>
                <a:cs typeface="Aptos" pitchFamily="34" charset="-120"/>
              </a:rPr>
              <a:t>Customer cloud</a:t>
            </a:r>
            <a:endParaRPr lang="en-US" sz="1320" dirty="0"/>
          </a:p>
        </p:txBody>
      </p:sp>
      <p:sp>
        <p:nvSpPr>
          <p:cNvPr id="21" name="Shape 19"/>
          <p:cNvSpPr/>
          <p:nvPr/>
        </p:nvSpPr>
        <p:spPr>
          <a:xfrm>
            <a:off x="594360" y="2871216"/>
            <a:ext cx="1572768" cy="521208"/>
          </a:xfrm>
          <a:prstGeom prst="rect">
            <a:avLst/>
          </a:prstGeom>
          <a:solidFill>
            <a:srgbClr val="F3F0EC"/>
          </a:solidFill>
          <a:ln w="7620">
            <a:solidFill>
              <a:srgbClr val="F3F0EC">
                <a:alpha val="0"/>
              </a:srgbClr>
            </a:solidFill>
            <a:prstDash val="solid"/>
          </a:ln>
        </p:spPr>
      </p:sp>
      <p:sp>
        <p:nvSpPr>
          <p:cNvPr id="22" name="Text 20"/>
          <p:cNvSpPr/>
          <p:nvPr/>
        </p:nvSpPr>
        <p:spPr>
          <a:xfrm>
            <a:off x="704088" y="2935224"/>
            <a:ext cx="1389888" cy="384048"/>
          </a:xfrm>
          <a:prstGeom prst="rect">
            <a:avLst/>
          </a:prstGeom>
          <a:noFill/>
          <a:ln/>
        </p:spPr>
        <p:txBody>
          <a:bodyPr wrap="square" lIns="0" tIns="0" rIns="0" bIns="0" rtlCol="0" anchor="ctr">
            <a:normAutofit/>
          </a:bodyPr>
          <a:lstStyle/>
          <a:p>
            <a:pPr indent="0" marL="0">
              <a:buNone/>
            </a:pPr>
            <a:r>
              <a:rPr lang="en-US" sz="1190" b="1" dirty="0">
                <a:solidFill>
                  <a:srgbClr val="171716"/>
                </a:solidFill>
                <a:latin typeface="Aptos" pitchFamily="34" charset="0"/>
                <a:ea typeface="Aptos" pitchFamily="34" charset="-122"/>
                <a:cs typeface="Aptos" pitchFamily="34" charset="-120"/>
              </a:rPr>
              <a:t>Available when needed?</a:t>
            </a:r>
            <a:endParaRPr lang="en-US" sz="1190" dirty="0"/>
          </a:p>
        </p:txBody>
      </p:sp>
      <p:sp>
        <p:nvSpPr>
          <p:cNvPr id="23" name="Shape 21"/>
          <p:cNvSpPr/>
          <p:nvPr/>
        </p:nvSpPr>
        <p:spPr>
          <a:xfrm>
            <a:off x="2167128" y="2871216"/>
            <a:ext cx="1851660" cy="521208"/>
          </a:xfrm>
          <a:prstGeom prst="rect">
            <a:avLst/>
          </a:prstGeom>
          <a:solidFill>
            <a:srgbClr val="FFFFFF"/>
          </a:solidFill>
          <a:ln w="7620">
            <a:solidFill>
              <a:srgbClr val="FFFFFF">
                <a:alpha val="0"/>
              </a:srgbClr>
            </a:solidFill>
            <a:prstDash val="solid"/>
          </a:ln>
        </p:spPr>
      </p:sp>
      <p:sp>
        <p:nvSpPr>
          <p:cNvPr id="24" name="Text 22"/>
          <p:cNvSpPr/>
          <p:nvPr/>
        </p:nvSpPr>
        <p:spPr>
          <a:xfrm>
            <a:off x="2267712" y="292608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Only if unassigned</a:t>
            </a:r>
            <a:endParaRPr lang="en-US" sz="1160" dirty="0"/>
          </a:p>
        </p:txBody>
      </p:sp>
      <p:sp>
        <p:nvSpPr>
          <p:cNvPr id="25" name="Shape 23"/>
          <p:cNvSpPr/>
          <p:nvPr/>
        </p:nvSpPr>
        <p:spPr>
          <a:xfrm>
            <a:off x="4050792" y="2871216"/>
            <a:ext cx="1851660" cy="521208"/>
          </a:xfrm>
          <a:prstGeom prst="rect">
            <a:avLst/>
          </a:prstGeom>
          <a:solidFill>
            <a:srgbClr val="FFFFFF"/>
          </a:solidFill>
          <a:ln w="7620">
            <a:solidFill>
              <a:srgbClr val="FFFFFF">
                <a:alpha val="0"/>
              </a:srgbClr>
            </a:solidFill>
            <a:prstDash val="solid"/>
          </a:ln>
        </p:spPr>
      </p:sp>
      <p:sp>
        <p:nvSpPr>
          <p:cNvPr id="26" name="Text 24"/>
          <p:cNvSpPr/>
          <p:nvPr/>
        </p:nvSpPr>
        <p:spPr>
          <a:xfrm>
            <a:off x="4151376" y="292608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If expiry is near</a:t>
            </a:r>
            <a:endParaRPr lang="en-US" sz="1160" dirty="0"/>
          </a:p>
        </p:txBody>
      </p:sp>
      <p:sp>
        <p:nvSpPr>
          <p:cNvPr id="27" name="Shape 25"/>
          <p:cNvSpPr/>
          <p:nvPr/>
        </p:nvSpPr>
        <p:spPr>
          <a:xfrm>
            <a:off x="5934456" y="2871216"/>
            <a:ext cx="1851660" cy="521208"/>
          </a:xfrm>
          <a:prstGeom prst="rect">
            <a:avLst/>
          </a:prstGeom>
          <a:solidFill>
            <a:srgbClr val="FFF3ED"/>
          </a:solidFill>
          <a:ln w="7620">
            <a:solidFill>
              <a:srgbClr val="FFF3ED">
                <a:alpha val="0"/>
              </a:srgbClr>
            </a:solidFill>
            <a:prstDash val="solid"/>
          </a:ln>
        </p:spPr>
      </p:sp>
      <p:sp>
        <p:nvSpPr>
          <p:cNvPr id="28" name="Text 26"/>
          <p:cNvSpPr/>
          <p:nvPr/>
        </p:nvSpPr>
        <p:spPr>
          <a:xfrm>
            <a:off x="6035040" y="2926080"/>
            <a:ext cx="1682496" cy="402336"/>
          </a:xfrm>
          <a:prstGeom prst="rect">
            <a:avLst/>
          </a:prstGeom>
          <a:noFill/>
          <a:ln/>
        </p:spPr>
        <p:txBody>
          <a:bodyPr wrap="square" lIns="0" tIns="0" rIns="0" bIns="0" rtlCol="0" anchor="ctr">
            <a:normAutofit/>
          </a:bodyPr>
          <a:lstStyle/>
          <a:p>
            <a:pPr indent="0" marL="0">
              <a:buNone/>
            </a:pPr>
            <a:r>
              <a:rPr lang="en-US" sz="1160" dirty="0">
                <a:solidFill>
                  <a:srgbClr val="D83E00"/>
                </a:solidFill>
                <a:latin typeface="Aptos" pitchFamily="34" charset="0"/>
                <a:ea typeface="Aptos" pitchFamily="34" charset="-122"/>
                <a:cs typeface="Aptos" pitchFamily="34" charset="-120"/>
              </a:rPr>
              <a:t>If market has stock</a:t>
            </a:r>
            <a:endParaRPr lang="en-US" sz="1160" dirty="0"/>
          </a:p>
        </p:txBody>
      </p:sp>
      <p:sp>
        <p:nvSpPr>
          <p:cNvPr id="29" name="Shape 27"/>
          <p:cNvSpPr/>
          <p:nvPr/>
        </p:nvSpPr>
        <p:spPr>
          <a:xfrm>
            <a:off x="7818120" y="2871216"/>
            <a:ext cx="1851660" cy="521208"/>
          </a:xfrm>
          <a:prstGeom prst="rect">
            <a:avLst/>
          </a:prstGeom>
          <a:solidFill>
            <a:srgbClr val="FFFFFF"/>
          </a:solidFill>
          <a:ln w="7620">
            <a:solidFill>
              <a:srgbClr val="FFFFFF">
                <a:alpha val="0"/>
              </a:srgbClr>
            </a:solidFill>
            <a:prstDash val="solid"/>
          </a:ln>
        </p:spPr>
      </p:sp>
      <p:sp>
        <p:nvSpPr>
          <p:cNvPr id="30" name="Text 28"/>
          <p:cNvSpPr/>
          <p:nvPr/>
        </p:nvSpPr>
        <p:spPr>
          <a:xfrm>
            <a:off x="7918704" y="292608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After procurement</a:t>
            </a:r>
            <a:endParaRPr lang="en-US" sz="1160" dirty="0"/>
          </a:p>
        </p:txBody>
      </p:sp>
      <p:sp>
        <p:nvSpPr>
          <p:cNvPr id="31" name="Shape 29"/>
          <p:cNvSpPr/>
          <p:nvPr/>
        </p:nvSpPr>
        <p:spPr>
          <a:xfrm>
            <a:off x="9701784" y="2871216"/>
            <a:ext cx="1851660" cy="521208"/>
          </a:xfrm>
          <a:prstGeom prst="rect">
            <a:avLst/>
          </a:prstGeom>
          <a:solidFill>
            <a:srgbClr val="FFFFFF"/>
          </a:solidFill>
          <a:ln w="7620">
            <a:solidFill>
              <a:srgbClr val="FFFFFF">
                <a:alpha val="0"/>
              </a:srgbClr>
            </a:solidFill>
            <a:prstDash val="solid"/>
          </a:ln>
        </p:spPr>
      </p:sp>
      <p:sp>
        <p:nvSpPr>
          <p:cNvPr id="32" name="Text 30"/>
          <p:cNvSpPr/>
          <p:nvPr/>
        </p:nvSpPr>
        <p:spPr>
          <a:xfrm>
            <a:off x="9802368" y="292608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Subject to quota</a:t>
            </a:r>
            <a:endParaRPr lang="en-US" sz="1160" dirty="0"/>
          </a:p>
        </p:txBody>
      </p:sp>
      <p:sp>
        <p:nvSpPr>
          <p:cNvPr id="33" name="Shape 31"/>
          <p:cNvSpPr/>
          <p:nvPr/>
        </p:nvSpPr>
        <p:spPr>
          <a:xfrm>
            <a:off x="594360" y="3419856"/>
            <a:ext cx="1572768" cy="521208"/>
          </a:xfrm>
          <a:prstGeom prst="rect">
            <a:avLst/>
          </a:prstGeom>
          <a:solidFill>
            <a:srgbClr val="E6E1DB"/>
          </a:solidFill>
          <a:ln w="7620">
            <a:solidFill>
              <a:srgbClr val="E6E1DB">
                <a:alpha val="0"/>
              </a:srgbClr>
            </a:solidFill>
            <a:prstDash val="solid"/>
          </a:ln>
        </p:spPr>
      </p:sp>
      <p:sp>
        <p:nvSpPr>
          <p:cNvPr id="34" name="Text 32"/>
          <p:cNvSpPr/>
          <p:nvPr/>
        </p:nvSpPr>
        <p:spPr>
          <a:xfrm>
            <a:off x="704088" y="3483864"/>
            <a:ext cx="1389888" cy="384048"/>
          </a:xfrm>
          <a:prstGeom prst="rect">
            <a:avLst/>
          </a:prstGeom>
          <a:noFill/>
          <a:ln/>
        </p:spPr>
        <p:txBody>
          <a:bodyPr wrap="square" lIns="0" tIns="0" rIns="0" bIns="0" rtlCol="0" anchor="ctr">
            <a:normAutofit/>
          </a:bodyPr>
          <a:lstStyle/>
          <a:p>
            <a:pPr indent="0" marL="0">
              <a:buNone/>
            </a:pPr>
            <a:r>
              <a:rPr lang="en-US" sz="1190" b="1" dirty="0">
                <a:solidFill>
                  <a:srgbClr val="171716"/>
                </a:solidFill>
                <a:latin typeface="Aptos" pitchFamily="34" charset="0"/>
                <a:ea typeface="Aptos" pitchFamily="34" charset="-122"/>
                <a:cs typeface="Aptos" pitchFamily="34" charset="-120"/>
              </a:rPr>
              <a:t>New cash outlay</a:t>
            </a:r>
            <a:endParaRPr lang="en-US" sz="1190" dirty="0"/>
          </a:p>
        </p:txBody>
      </p:sp>
      <p:sp>
        <p:nvSpPr>
          <p:cNvPr id="35" name="Shape 33"/>
          <p:cNvSpPr/>
          <p:nvPr/>
        </p:nvSpPr>
        <p:spPr>
          <a:xfrm>
            <a:off x="2167128" y="3419856"/>
            <a:ext cx="1851660" cy="521208"/>
          </a:xfrm>
          <a:prstGeom prst="rect">
            <a:avLst/>
          </a:prstGeom>
          <a:solidFill>
            <a:srgbClr val="F3F0EC"/>
          </a:solidFill>
          <a:ln w="7620">
            <a:solidFill>
              <a:srgbClr val="F3F0EC">
                <a:alpha val="0"/>
              </a:srgbClr>
            </a:solidFill>
            <a:prstDash val="solid"/>
          </a:ln>
        </p:spPr>
      </p:sp>
      <p:sp>
        <p:nvSpPr>
          <p:cNvPr id="36" name="Text 34"/>
          <p:cNvSpPr/>
          <p:nvPr/>
        </p:nvSpPr>
        <p:spPr>
          <a:xfrm>
            <a:off x="2267712" y="347472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Minimal if prepaid</a:t>
            </a:r>
            <a:endParaRPr lang="en-US" sz="1160" dirty="0"/>
          </a:p>
        </p:txBody>
      </p:sp>
      <p:sp>
        <p:nvSpPr>
          <p:cNvPr id="37" name="Shape 35"/>
          <p:cNvSpPr/>
          <p:nvPr/>
        </p:nvSpPr>
        <p:spPr>
          <a:xfrm>
            <a:off x="4050792" y="3419856"/>
            <a:ext cx="1851660" cy="521208"/>
          </a:xfrm>
          <a:prstGeom prst="rect">
            <a:avLst/>
          </a:prstGeom>
          <a:solidFill>
            <a:srgbClr val="F3F0EC"/>
          </a:solidFill>
          <a:ln w="7620">
            <a:solidFill>
              <a:srgbClr val="F3F0EC">
                <a:alpha val="0"/>
              </a:srgbClr>
            </a:solidFill>
            <a:prstDash val="solid"/>
          </a:ln>
        </p:spPr>
      </p:sp>
      <p:sp>
        <p:nvSpPr>
          <p:cNvPr id="38" name="Text 36"/>
          <p:cNvSpPr/>
          <p:nvPr/>
        </p:nvSpPr>
        <p:spPr>
          <a:xfrm>
            <a:off x="4151376" y="347472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Extension charges</a:t>
            </a:r>
            <a:endParaRPr lang="en-US" sz="1160" dirty="0"/>
          </a:p>
        </p:txBody>
      </p:sp>
      <p:sp>
        <p:nvSpPr>
          <p:cNvPr id="39" name="Shape 37"/>
          <p:cNvSpPr/>
          <p:nvPr/>
        </p:nvSpPr>
        <p:spPr>
          <a:xfrm>
            <a:off x="5934456" y="3419856"/>
            <a:ext cx="1851660" cy="521208"/>
          </a:xfrm>
          <a:prstGeom prst="rect">
            <a:avLst/>
          </a:prstGeom>
          <a:solidFill>
            <a:srgbClr val="FFF3ED"/>
          </a:solidFill>
          <a:ln w="7620">
            <a:solidFill>
              <a:srgbClr val="FFF3ED">
                <a:alpha val="0"/>
              </a:srgbClr>
            </a:solidFill>
            <a:prstDash val="solid"/>
          </a:ln>
        </p:spPr>
      </p:sp>
      <p:sp>
        <p:nvSpPr>
          <p:cNvPr id="40" name="Text 38"/>
          <p:cNvSpPr/>
          <p:nvPr/>
        </p:nvSpPr>
        <p:spPr>
          <a:xfrm>
            <a:off x="6035040" y="3474720"/>
            <a:ext cx="1682496" cy="402336"/>
          </a:xfrm>
          <a:prstGeom prst="rect">
            <a:avLst/>
          </a:prstGeom>
          <a:noFill/>
          <a:ln/>
        </p:spPr>
        <p:txBody>
          <a:bodyPr wrap="square" lIns="0" tIns="0" rIns="0" bIns="0" rtlCol="0" anchor="ctr">
            <a:normAutofit/>
          </a:bodyPr>
          <a:lstStyle/>
          <a:p>
            <a:pPr indent="0" marL="0">
              <a:buNone/>
            </a:pPr>
            <a:r>
              <a:rPr lang="en-US" sz="1160" dirty="0">
                <a:solidFill>
                  <a:srgbClr val="D83E00"/>
                </a:solidFill>
                <a:latin typeface="Aptos" pitchFamily="34" charset="0"/>
                <a:ea typeface="Aptos" pitchFamily="34" charset="-122"/>
                <a:cs typeface="Aptos" pitchFamily="34" charset="-120"/>
              </a:rPr>
              <a:t>Only billed runtime</a:t>
            </a:r>
            <a:endParaRPr lang="en-US" sz="1160" dirty="0"/>
          </a:p>
        </p:txBody>
      </p:sp>
      <p:sp>
        <p:nvSpPr>
          <p:cNvPr id="41" name="Shape 39"/>
          <p:cNvSpPr/>
          <p:nvPr/>
        </p:nvSpPr>
        <p:spPr>
          <a:xfrm>
            <a:off x="7818120" y="3419856"/>
            <a:ext cx="1851660" cy="521208"/>
          </a:xfrm>
          <a:prstGeom prst="rect">
            <a:avLst/>
          </a:prstGeom>
          <a:solidFill>
            <a:srgbClr val="F3F0EC"/>
          </a:solidFill>
          <a:ln w="7620">
            <a:solidFill>
              <a:srgbClr val="F3F0EC">
                <a:alpha val="0"/>
              </a:srgbClr>
            </a:solidFill>
            <a:prstDash val="solid"/>
          </a:ln>
        </p:spPr>
      </p:sp>
      <p:sp>
        <p:nvSpPr>
          <p:cNvPr id="42" name="Text 40"/>
          <p:cNvSpPr/>
          <p:nvPr/>
        </p:nvSpPr>
        <p:spPr>
          <a:xfrm>
            <a:off x="7918704" y="347472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Full contract term</a:t>
            </a:r>
            <a:endParaRPr lang="en-US" sz="1160" dirty="0"/>
          </a:p>
        </p:txBody>
      </p:sp>
      <p:sp>
        <p:nvSpPr>
          <p:cNvPr id="43" name="Shape 41"/>
          <p:cNvSpPr/>
          <p:nvPr/>
        </p:nvSpPr>
        <p:spPr>
          <a:xfrm>
            <a:off x="9701784" y="3419856"/>
            <a:ext cx="1851660" cy="521208"/>
          </a:xfrm>
          <a:prstGeom prst="rect">
            <a:avLst/>
          </a:prstGeom>
          <a:solidFill>
            <a:srgbClr val="F3F0EC"/>
          </a:solidFill>
          <a:ln w="7620">
            <a:solidFill>
              <a:srgbClr val="F3F0EC">
                <a:alpha val="0"/>
              </a:srgbClr>
            </a:solidFill>
            <a:prstDash val="solid"/>
          </a:ln>
        </p:spPr>
      </p:sp>
      <p:sp>
        <p:nvSpPr>
          <p:cNvPr id="44" name="Text 42"/>
          <p:cNvSpPr/>
          <p:nvPr/>
        </p:nvSpPr>
        <p:spPr>
          <a:xfrm>
            <a:off x="9802368" y="347472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Usually paid by client</a:t>
            </a:r>
            <a:endParaRPr lang="en-US" sz="1160" dirty="0"/>
          </a:p>
        </p:txBody>
      </p:sp>
      <p:sp>
        <p:nvSpPr>
          <p:cNvPr id="45" name="Shape 43"/>
          <p:cNvSpPr/>
          <p:nvPr/>
        </p:nvSpPr>
        <p:spPr>
          <a:xfrm>
            <a:off x="594360" y="3968496"/>
            <a:ext cx="1572768" cy="521208"/>
          </a:xfrm>
          <a:prstGeom prst="rect">
            <a:avLst/>
          </a:prstGeom>
          <a:solidFill>
            <a:srgbClr val="F3F0EC"/>
          </a:solidFill>
          <a:ln w="7620">
            <a:solidFill>
              <a:srgbClr val="F3F0EC">
                <a:alpha val="0"/>
              </a:srgbClr>
            </a:solidFill>
            <a:prstDash val="solid"/>
          </a:ln>
        </p:spPr>
      </p:sp>
      <p:sp>
        <p:nvSpPr>
          <p:cNvPr id="46" name="Text 44"/>
          <p:cNvSpPr/>
          <p:nvPr/>
        </p:nvSpPr>
        <p:spPr>
          <a:xfrm>
            <a:off x="704088" y="4032504"/>
            <a:ext cx="1389888" cy="384048"/>
          </a:xfrm>
          <a:prstGeom prst="rect">
            <a:avLst/>
          </a:prstGeom>
          <a:noFill/>
          <a:ln/>
        </p:spPr>
        <p:txBody>
          <a:bodyPr wrap="square" lIns="0" tIns="0" rIns="0" bIns="0" rtlCol="0" anchor="ctr">
            <a:normAutofit/>
          </a:bodyPr>
          <a:lstStyle/>
          <a:p>
            <a:pPr indent="0" marL="0">
              <a:buNone/>
            </a:pPr>
            <a:r>
              <a:rPr lang="en-US" sz="1190" b="1" dirty="0">
                <a:solidFill>
                  <a:srgbClr val="171716"/>
                </a:solidFill>
                <a:latin typeface="Aptos" pitchFamily="34" charset="0"/>
                <a:ea typeface="Aptos" pitchFamily="34" charset="-122"/>
                <a:cs typeface="Aptos" pitchFamily="34" charset="-120"/>
              </a:rPr>
              <a:t>Unused-time exposure</a:t>
            </a:r>
            <a:endParaRPr lang="en-US" sz="1190" dirty="0"/>
          </a:p>
        </p:txBody>
      </p:sp>
      <p:sp>
        <p:nvSpPr>
          <p:cNvPr id="47" name="Shape 45"/>
          <p:cNvSpPr/>
          <p:nvPr/>
        </p:nvSpPr>
        <p:spPr>
          <a:xfrm>
            <a:off x="2167128" y="3968496"/>
            <a:ext cx="1851660" cy="521208"/>
          </a:xfrm>
          <a:prstGeom prst="rect">
            <a:avLst/>
          </a:prstGeom>
          <a:solidFill>
            <a:srgbClr val="FFFFFF"/>
          </a:solidFill>
          <a:ln w="7620">
            <a:solidFill>
              <a:srgbClr val="FFFFFF">
                <a:alpha val="0"/>
              </a:srgbClr>
            </a:solidFill>
            <a:prstDash val="solid"/>
          </a:ln>
        </p:spPr>
      </p:sp>
      <p:sp>
        <p:nvSpPr>
          <p:cNvPr id="48" name="Text 46"/>
          <p:cNvSpPr/>
          <p:nvPr/>
        </p:nvSpPr>
        <p:spPr>
          <a:xfrm>
            <a:off x="2267712" y="402336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Already committed</a:t>
            </a:r>
            <a:endParaRPr lang="en-US" sz="1160" dirty="0"/>
          </a:p>
        </p:txBody>
      </p:sp>
      <p:sp>
        <p:nvSpPr>
          <p:cNvPr id="49" name="Shape 47"/>
          <p:cNvSpPr/>
          <p:nvPr/>
        </p:nvSpPr>
        <p:spPr>
          <a:xfrm>
            <a:off x="4050792" y="3968496"/>
            <a:ext cx="1851660" cy="521208"/>
          </a:xfrm>
          <a:prstGeom prst="rect">
            <a:avLst/>
          </a:prstGeom>
          <a:solidFill>
            <a:srgbClr val="FFFFFF"/>
          </a:solidFill>
          <a:ln w="7620">
            <a:solidFill>
              <a:srgbClr val="FFFFFF">
                <a:alpha val="0"/>
              </a:srgbClr>
            </a:solidFill>
            <a:prstDash val="solid"/>
          </a:ln>
        </p:spPr>
      </p:sp>
      <p:sp>
        <p:nvSpPr>
          <p:cNvPr id="50" name="Text 48"/>
          <p:cNvSpPr/>
          <p:nvPr/>
        </p:nvSpPr>
        <p:spPr>
          <a:xfrm>
            <a:off x="4151376" y="402336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Extension leftovers</a:t>
            </a:r>
            <a:endParaRPr lang="en-US" sz="1160" dirty="0"/>
          </a:p>
        </p:txBody>
      </p:sp>
      <p:sp>
        <p:nvSpPr>
          <p:cNvPr id="51" name="Shape 49"/>
          <p:cNvSpPr/>
          <p:nvPr/>
        </p:nvSpPr>
        <p:spPr>
          <a:xfrm>
            <a:off x="5934456" y="3968496"/>
            <a:ext cx="1851660" cy="521208"/>
          </a:xfrm>
          <a:prstGeom prst="rect">
            <a:avLst/>
          </a:prstGeom>
          <a:solidFill>
            <a:srgbClr val="FFF3ED"/>
          </a:solidFill>
          <a:ln w="7620">
            <a:solidFill>
              <a:srgbClr val="FFF3ED">
                <a:alpha val="0"/>
              </a:srgbClr>
            </a:solidFill>
            <a:prstDash val="solid"/>
          </a:ln>
        </p:spPr>
      </p:sp>
      <p:sp>
        <p:nvSpPr>
          <p:cNvPr id="52" name="Text 50"/>
          <p:cNvSpPr/>
          <p:nvPr/>
        </p:nvSpPr>
        <p:spPr>
          <a:xfrm>
            <a:off x="6035040" y="4023360"/>
            <a:ext cx="1682496" cy="402336"/>
          </a:xfrm>
          <a:prstGeom prst="rect">
            <a:avLst/>
          </a:prstGeom>
          <a:noFill/>
          <a:ln/>
        </p:spPr>
        <p:txBody>
          <a:bodyPr wrap="square" lIns="0" tIns="0" rIns="0" bIns="0" rtlCol="0" anchor="ctr">
            <a:normAutofit/>
          </a:bodyPr>
          <a:lstStyle/>
          <a:p>
            <a:pPr indent="0" marL="0">
              <a:buNone/>
            </a:pPr>
            <a:r>
              <a:rPr lang="en-US" sz="1160" dirty="0">
                <a:solidFill>
                  <a:srgbClr val="D83E00"/>
                </a:solidFill>
                <a:latin typeface="Aptos" pitchFamily="34" charset="0"/>
                <a:ea typeface="Aptos" pitchFamily="34" charset="-122"/>
                <a:cs typeface="Aptos" pitchFamily="34" charset="-120"/>
              </a:rPr>
              <a:t>Low/no commitment</a:t>
            </a:r>
            <a:endParaRPr lang="en-US" sz="1160" dirty="0"/>
          </a:p>
        </p:txBody>
      </p:sp>
      <p:sp>
        <p:nvSpPr>
          <p:cNvPr id="53" name="Shape 51"/>
          <p:cNvSpPr/>
          <p:nvPr/>
        </p:nvSpPr>
        <p:spPr>
          <a:xfrm>
            <a:off x="7818120" y="3968496"/>
            <a:ext cx="1851660" cy="521208"/>
          </a:xfrm>
          <a:prstGeom prst="rect">
            <a:avLst/>
          </a:prstGeom>
          <a:solidFill>
            <a:srgbClr val="FFFFFF"/>
          </a:solidFill>
          <a:ln w="7620">
            <a:solidFill>
              <a:srgbClr val="FFFFFF">
                <a:alpha val="0"/>
              </a:srgbClr>
            </a:solidFill>
            <a:prstDash val="solid"/>
          </a:ln>
        </p:spPr>
      </p:sp>
      <p:sp>
        <p:nvSpPr>
          <p:cNvPr id="54" name="Text 52"/>
          <p:cNvSpPr/>
          <p:nvPr/>
        </p:nvSpPr>
        <p:spPr>
          <a:xfrm>
            <a:off x="7918704" y="402336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High if unused</a:t>
            </a:r>
            <a:endParaRPr lang="en-US" sz="1160" dirty="0"/>
          </a:p>
        </p:txBody>
      </p:sp>
      <p:sp>
        <p:nvSpPr>
          <p:cNvPr id="55" name="Shape 53"/>
          <p:cNvSpPr/>
          <p:nvPr/>
        </p:nvSpPr>
        <p:spPr>
          <a:xfrm>
            <a:off x="9701784" y="3968496"/>
            <a:ext cx="1851660" cy="521208"/>
          </a:xfrm>
          <a:prstGeom prst="rect">
            <a:avLst/>
          </a:prstGeom>
          <a:solidFill>
            <a:srgbClr val="FFFFFF"/>
          </a:solidFill>
          <a:ln w="7620">
            <a:solidFill>
              <a:srgbClr val="FFFFFF">
                <a:alpha val="0"/>
              </a:srgbClr>
            </a:solidFill>
            <a:prstDash val="solid"/>
          </a:ln>
        </p:spPr>
      </p:sp>
      <p:sp>
        <p:nvSpPr>
          <p:cNvPr id="56" name="Text 54"/>
          <p:cNvSpPr/>
          <p:nvPr/>
        </p:nvSpPr>
        <p:spPr>
          <a:xfrm>
            <a:off x="9802368" y="402336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Client holds GPU bill</a:t>
            </a:r>
            <a:endParaRPr lang="en-US" sz="1160" dirty="0"/>
          </a:p>
        </p:txBody>
      </p:sp>
      <p:sp>
        <p:nvSpPr>
          <p:cNvPr id="57" name="Shape 55"/>
          <p:cNvSpPr/>
          <p:nvPr/>
        </p:nvSpPr>
        <p:spPr>
          <a:xfrm>
            <a:off x="594360" y="4517136"/>
            <a:ext cx="1572768" cy="521208"/>
          </a:xfrm>
          <a:prstGeom prst="rect">
            <a:avLst/>
          </a:prstGeom>
          <a:solidFill>
            <a:srgbClr val="E6E1DB"/>
          </a:solidFill>
          <a:ln w="7620">
            <a:solidFill>
              <a:srgbClr val="E6E1DB">
                <a:alpha val="0"/>
              </a:srgbClr>
            </a:solidFill>
            <a:prstDash val="solid"/>
          </a:ln>
        </p:spPr>
      </p:sp>
      <p:sp>
        <p:nvSpPr>
          <p:cNvPr id="58" name="Text 56"/>
          <p:cNvSpPr/>
          <p:nvPr/>
        </p:nvSpPr>
        <p:spPr>
          <a:xfrm>
            <a:off x="704088" y="4581144"/>
            <a:ext cx="1389888" cy="384048"/>
          </a:xfrm>
          <a:prstGeom prst="rect">
            <a:avLst/>
          </a:prstGeom>
          <a:noFill/>
          <a:ln/>
        </p:spPr>
        <p:txBody>
          <a:bodyPr wrap="square" lIns="0" tIns="0" rIns="0" bIns="0" rtlCol="0" anchor="ctr">
            <a:normAutofit/>
          </a:bodyPr>
          <a:lstStyle/>
          <a:p>
            <a:pPr indent="0" marL="0">
              <a:buNone/>
            </a:pPr>
            <a:r>
              <a:rPr lang="en-US" sz="1190" b="1" dirty="0">
                <a:solidFill>
                  <a:srgbClr val="171716"/>
                </a:solidFill>
                <a:latin typeface="Aptos" pitchFamily="34" charset="0"/>
                <a:ea typeface="Aptos" pitchFamily="34" charset="-122"/>
                <a:cs typeface="Aptos" pitchFamily="34" charset="-120"/>
              </a:rPr>
              <a:t>Alternative customer value</a:t>
            </a:r>
            <a:endParaRPr lang="en-US" sz="1190" dirty="0"/>
          </a:p>
        </p:txBody>
      </p:sp>
      <p:sp>
        <p:nvSpPr>
          <p:cNvPr id="59" name="Shape 57"/>
          <p:cNvSpPr/>
          <p:nvPr/>
        </p:nvSpPr>
        <p:spPr>
          <a:xfrm>
            <a:off x="2167128" y="4517136"/>
            <a:ext cx="1851660" cy="521208"/>
          </a:xfrm>
          <a:prstGeom prst="rect">
            <a:avLst/>
          </a:prstGeom>
          <a:solidFill>
            <a:srgbClr val="F3F0EC"/>
          </a:solidFill>
          <a:ln w="7620">
            <a:solidFill>
              <a:srgbClr val="F3F0EC">
                <a:alpha val="0"/>
              </a:srgbClr>
            </a:solidFill>
            <a:prstDash val="solid"/>
          </a:ln>
        </p:spPr>
      </p:sp>
      <p:sp>
        <p:nvSpPr>
          <p:cNvPr id="60" name="Text 58"/>
          <p:cNvSpPr/>
          <p:nvPr/>
        </p:nvSpPr>
        <p:spPr>
          <a:xfrm>
            <a:off x="2267712" y="457200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May displace work</a:t>
            </a:r>
            <a:endParaRPr lang="en-US" sz="1160" dirty="0"/>
          </a:p>
        </p:txBody>
      </p:sp>
      <p:sp>
        <p:nvSpPr>
          <p:cNvPr id="61" name="Shape 59"/>
          <p:cNvSpPr/>
          <p:nvPr/>
        </p:nvSpPr>
        <p:spPr>
          <a:xfrm>
            <a:off x="4050792" y="4517136"/>
            <a:ext cx="1851660" cy="521208"/>
          </a:xfrm>
          <a:prstGeom prst="rect">
            <a:avLst/>
          </a:prstGeom>
          <a:solidFill>
            <a:srgbClr val="F3F0EC"/>
          </a:solidFill>
          <a:ln w="7620">
            <a:solidFill>
              <a:srgbClr val="F3F0EC">
                <a:alpha val="0"/>
              </a:srgbClr>
            </a:solidFill>
            <a:prstDash val="solid"/>
          </a:ln>
        </p:spPr>
      </p:sp>
      <p:sp>
        <p:nvSpPr>
          <p:cNvPr id="62" name="Text 60"/>
          <p:cNvSpPr/>
          <p:nvPr/>
        </p:nvSpPr>
        <p:spPr>
          <a:xfrm>
            <a:off x="4151376" y="457200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Reduces future flex</a:t>
            </a:r>
            <a:endParaRPr lang="en-US" sz="1160" dirty="0"/>
          </a:p>
        </p:txBody>
      </p:sp>
      <p:sp>
        <p:nvSpPr>
          <p:cNvPr id="63" name="Shape 61"/>
          <p:cNvSpPr/>
          <p:nvPr/>
        </p:nvSpPr>
        <p:spPr>
          <a:xfrm>
            <a:off x="5934456" y="4517136"/>
            <a:ext cx="1851660" cy="521208"/>
          </a:xfrm>
          <a:prstGeom prst="rect">
            <a:avLst/>
          </a:prstGeom>
          <a:solidFill>
            <a:srgbClr val="FFF3ED"/>
          </a:solidFill>
          <a:ln w="7620">
            <a:solidFill>
              <a:srgbClr val="FFF3ED">
                <a:alpha val="0"/>
              </a:srgbClr>
            </a:solidFill>
            <a:prstDash val="solid"/>
          </a:ln>
        </p:spPr>
      </p:sp>
      <p:sp>
        <p:nvSpPr>
          <p:cNvPr id="64" name="Text 62"/>
          <p:cNvSpPr/>
          <p:nvPr/>
        </p:nvSpPr>
        <p:spPr>
          <a:xfrm>
            <a:off x="6035040" y="4572000"/>
            <a:ext cx="1682496" cy="402336"/>
          </a:xfrm>
          <a:prstGeom prst="rect">
            <a:avLst/>
          </a:prstGeom>
          <a:noFill/>
          <a:ln/>
        </p:spPr>
        <p:txBody>
          <a:bodyPr wrap="square" lIns="0" tIns="0" rIns="0" bIns="0" rtlCol="0" anchor="ctr">
            <a:normAutofit/>
          </a:bodyPr>
          <a:lstStyle/>
          <a:p>
            <a:pPr indent="0" marL="0">
              <a:buNone/>
            </a:pPr>
            <a:r>
              <a:rPr lang="en-US" sz="1160" dirty="0">
                <a:solidFill>
                  <a:srgbClr val="D83E00"/>
                </a:solidFill>
                <a:latin typeface="Aptos" pitchFamily="34" charset="0"/>
                <a:ea typeface="Aptos" pitchFamily="34" charset="-122"/>
                <a:cs typeface="Aptos" pitchFamily="34" charset="-120"/>
              </a:rPr>
              <a:t>Little if available</a:t>
            </a:r>
            <a:endParaRPr lang="en-US" sz="1160" dirty="0"/>
          </a:p>
        </p:txBody>
      </p:sp>
      <p:sp>
        <p:nvSpPr>
          <p:cNvPr id="65" name="Shape 63"/>
          <p:cNvSpPr/>
          <p:nvPr/>
        </p:nvSpPr>
        <p:spPr>
          <a:xfrm>
            <a:off x="7818120" y="4517136"/>
            <a:ext cx="1851660" cy="521208"/>
          </a:xfrm>
          <a:prstGeom prst="rect">
            <a:avLst/>
          </a:prstGeom>
          <a:solidFill>
            <a:srgbClr val="F3F0EC"/>
          </a:solidFill>
          <a:ln w="7620">
            <a:solidFill>
              <a:srgbClr val="F3F0EC">
                <a:alpha val="0"/>
              </a:srgbClr>
            </a:solidFill>
            <a:prstDash val="solid"/>
          </a:ln>
        </p:spPr>
      </p:sp>
      <p:sp>
        <p:nvSpPr>
          <p:cNvPr id="66" name="Text 64"/>
          <p:cNvSpPr/>
          <p:nvPr/>
        </p:nvSpPr>
        <p:spPr>
          <a:xfrm>
            <a:off x="7918704" y="457200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Blocks other demand</a:t>
            </a:r>
            <a:endParaRPr lang="en-US" sz="1160" dirty="0"/>
          </a:p>
        </p:txBody>
      </p:sp>
      <p:sp>
        <p:nvSpPr>
          <p:cNvPr id="67" name="Shape 65"/>
          <p:cNvSpPr/>
          <p:nvPr/>
        </p:nvSpPr>
        <p:spPr>
          <a:xfrm>
            <a:off x="9701784" y="4517136"/>
            <a:ext cx="1851660" cy="521208"/>
          </a:xfrm>
          <a:prstGeom prst="rect">
            <a:avLst/>
          </a:prstGeom>
          <a:solidFill>
            <a:srgbClr val="F3F0EC"/>
          </a:solidFill>
          <a:ln w="7620">
            <a:solidFill>
              <a:srgbClr val="F3F0EC">
                <a:alpha val="0"/>
              </a:srgbClr>
            </a:solidFill>
            <a:prstDash val="solid"/>
          </a:ln>
        </p:spPr>
      </p:sp>
      <p:sp>
        <p:nvSpPr>
          <p:cNvPr id="68" name="Text 66"/>
          <p:cNvSpPr/>
          <p:nvPr/>
        </p:nvSpPr>
        <p:spPr>
          <a:xfrm>
            <a:off x="9802368" y="4572000"/>
            <a:ext cx="1682496" cy="402336"/>
          </a:xfrm>
          <a:prstGeom prst="rect">
            <a:avLst/>
          </a:prstGeom>
          <a:noFill/>
          <a:ln/>
        </p:spPr>
        <p:txBody>
          <a:bodyPr wrap="square" lIns="0" tIns="0" rIns="0" bIns="0" rtlCol="0" anchor="ctr">
            <a:normAutofit/>
          </a:bodyPr>
          <a:lstStyle/>
          <a:p>
            <a:pPr indent="0" marL="0">
              <a:buNone/>
            </a:pPr>
            <a:r>
              <a:rPr lang="en-US" sz="1160" dirty="0">
                <a:solidFill>
                  <a:srgbClr val="171716"/>
                </a:solidFill>
                <a:latin typeface="Aptos" pitchFamily="34" charset="0"/>
                <a:ea typeface="Aptos" pitchFamily="34" charset="-122"/>
                <a:cs typeface="Aptos" pitchFamily="34" charset="-120"/>
              </a:rPr>
              <a:t>Integration effort</a:t>
            </a:r>
            <a:endParaRPr lang="en-US" sz="1160" dirty="0"/>
          </a:p>
        </p:txBody>
      </p:sp>
      <p:sp>
        <p:nvSpPr>
          <p:cNvPr id="69" name="Shape 67"/>
          <p:cNvSpPr/>
          <p:nvPr/>
        </p:nvSpPr>
        <p:spPr>
          <a:xfrm>
            <a:off x="594360" y="5065776"/>
            <a:ext cx="1572768" cy="521208"/>
          </a:xfrm>
          <a:prstGeom prst="rect">
            <a:avLst/>
          </a:prstGeom>
          <a:solidFill>
            <a:srgbClr val="F3F0EC"/>
          </a:solidFill>
          <a:ln w="7620">
            <a:solidFill>
              <a:srgbClr val="F3F0EC">
                <a:alpha val="0"/>
              </a:srgbClr>
            </a:solidFill>
            <a:prstDash val="solid"/>
          </a:ln>
        </p:spPr>
      </p:sp>
      <p:sp>
        <p:nvSpPr>
          <p:cNvPr id="70" name="Text 68"/>
          <p:cNvSpPr/>
          <p:nvPr/>
        </p:nvSpPr>
        <p:spPr>
          <a:xfrm>
            <a:off x="704088" y="5129784"/>
            <a:ext cx="1389888" cy="384048"/>
          </a:xfrm>
          <a:prstGeom prst="rect">
            <a:avLst/>
          </a:prstGeom>
          <a:noFill/>
          <a:ln/>
        </p:spPr>
        <p:txBody>
          <a:bodyPr wrap="square" lIns="0" tIns="0" rIns="0" bIns="0" rtlCol="0" anchor="ctr">
            <a:normAutofit/>
          </a:bodyPr>
          <a:lstStyle/>
          <a:p>
            <a:pPr indent="0" marL="0">
              <a:buNone/>
            </a:pPr>
            <a:r>
              <a:rPr lang="en-US" sz="1190" b="1" dirty="0">
                <a:solidFill>
                  <a:srgbClr val="171716"/>
                </a:solidFill>
                <a:latin typeface="Aptos" pitchFamily="34" charset="0"/>
                <a:ea typeface="Aptos" pitchFamily="34" charset="-122"/>
                <a:cs typeface="Aptos" pitchFamily="34" charset="-120"/>
              </a:rPr>
              <a:t>Best use case</a:t>
            </a:r>
            <a:endParaRPr lang="en-US" sz="1190" dirty="0"/>
          </a:p>
        </p:txBody>
      </p:sp>
      <p:sp>
        <p:nvSpPr>
          <p:cNvPr id="71" name="Shape 69"/>
          <p:cNvSpPr/>
          <p:nvPr/>
        </p:nvSpPr>
        <p:spPr>
          <a:xfrm>
            <a:off x="2167128" y="5065776"/>
            <a:ext cx="1851660" cy="521208"/>
          </a:xfrm>
          <a:prstGeom prst="rect">
            <a:avLst/>
          </a:prstGeom>
          <a:solidFill>
            <a:srgbClr val="FFFFFF"/>
          </a:solidFill>
          <a:ln w="7620">
            <a:solidFill>
              <a:srgbClr val="FFFFFF">
                <a:alpha val="0"/>
              </a:srgbClr>
            </a:solidFill>
            <a:prstDash val="solid"/>
          </a:ln>
        </p:spPr>
      </p:sp>
      <p:sp>
        <p:nvSpPr>
          <p:cNvPr id="72" name="Text 70"/>
          <p:cNvSpPr/>
          <p:nvPr/>
        </p:nvSpPr>
        <p:spPr>
          <a:xfrm>
            <a:off x="2267712" y="5120640"/>
            <a:ext cx="1682496" cy="402336"/>
          </a:xfrm>
          <a:prstGeom prst="rect">
            <a:avLst/>
          </a:prstGeom>
          <a:noFill/>
          <a:ln/>
        </p:spPr>
        <p:txBody>
          <a:bodyPr wrap="square" lIns="0" tIns="0" rIns="0" bIns="0" rtlCol="0" anchor="ctr">
            <a:normAutofit/>
          </a:bodyPr>
          <a:lstStyle/>
          <a:p>
            <a:pPr indent="0" marL="0">
              <a:buNone/>
            </a:pPr>
            <a:r>
              <a:rPr lang="en-US" sz="1160" b="1" dirty="0">
                <a:solidFill>
                  <a:srgbClr val="171716"/>
                </a:solidFill>
                <a:latin typeface="Aptos" pitchFamily="34" charset="0"/>
                <a:ea typeface="Aptos" pitchFamily="34" charset="-122"/>
                <a:cs typeface="Aptos" pitchFamily="34" charset="-120"/>
              </a:rPr>
              <a:t>Compatible free slots</a:t>
            </a:r>
            <a:endParaRPr lang="en-US" sz="1160" dirty="0"/>
          </a:p>
        </p:txBody>
      </p:sp>
      <p:sp>
        <p:nvSpPr>
          <p:cNvPr id="73" name="Shape 71"/>
          <p:cNvSpPr/>
          <p:nvPr/>
        </p:nvSpPr>
        <p:spPr>
          <a:xfrm>
            <a:off x="4050792" y="5065776"/>
            <a:ext cx="1851660" cy="521208"/>
          </a:xfrm>
          <a:prstGeom prst="rect">
            <a:avLst/>
          </a:prstGeom>
          <a:solidFill>
            <a:srgbClr val="FFFFFF"/>
          </a:solidFill>
          <a:ln w="7620">
            <a:solidFill>
              <a:srgbClr val="FFFFFF">
                <a:alpha val="0"/>
              </a:srgbClr>
            </a:solidFill>
            <a:prstDash val="solid"/>
          </a:ln>
        </p:spPr>
      </p:sp>
      <p:sp>
        <p:nvSpPr>
          <p:cNvPr id="74" name="Text 72"/>
          <p:cNvSpPr/>
          <p:nvPr/>
        </p:nvSpPr>
        <p:spPr>
          <a:xfrm>
            <a:off x="4151376" y="5120640"/>
            <a:ext cx="1682496" cy="402336"/>
          </a:xfrm>
          <a:prstGeom prst="rect">
            <a:avLst/>
          </a:prstGeom>
          <a:noFill/>
          <a:ln/>
        </p:spPr>
        <p:txBody>
          <a:bodyPr wrap="square" lIns="0" tIns="0" rIns="0" bIns="0" rtlCol="0" anchor="ctr">
            <a:normAutofit/>
          </a:bodyPr>
          <a:lstStyle/>
          <a:p>
            <a:pPr indent="0" marL="0">
              <a:buNone/>
            </a:pPr>
            <a:r>
              <a:rPr lang="en-US" sz="1160" b="1" dirty="0">
                <a:solidFill>
                  <a:srgbClr val="171716"/>
                </a:solidFill>
                <a:latin typeface="Aptos" pitchFamily="34" charset="0"/>
                <a:ea typeface="Aptos" pitchFamily="34" charset="-122"/>
                <a:cs typeface="Aptos" pitchFamily="34" charset="-120"/>
              </a:rPr>
              <a:t>Short dated gap</a:t>
            </a:r>
            <a:endParaRPr lang="en-US" sz="1160" dirty="0"/>
          </a:p>
        </p:txBody>
      </p:sp>
      <p:sp>
        <p:nvSpPr>
          <p:cNvPr id="75" name="Shape 73"/>
          <p:cNvSpPr/>
          <p:nvPr/>
        </p:nvSpPr>
        <p:spPr>
          <a:xfrm>
            <a:off x="5934456" y="5065776"/>
            <a:ext cx="1851660" cy="521208"/>
          </a:xfrm>
          <a:prstGeom prst="rect">
            <a:avLst/>
          </a:prstGeom>
          <a:solidFill>
            <a:srgbClr val="FFF3ED"/>
          </a:solidFill>
          <a:ln w="7620">
            <a:solidFill>
              <a:srgbClr val="FFF3ED">
                <a:alpha val="0"/>
              </a:srgbClr>
            </a:solidFill>
            <a:prstDash val="solid"/>
          </a:ln>
        </p:spPr>
      </p:sp>
      <p:sp>
        <p:nvSpPr>
          <p:cNvPr id="76" name="Text 74"/>
          <p:cNvSpPr/>
          <p:nvPr/>
        </p:nvSpPr>
        <p:spPr>
          <a:xfrm>
            <a:off x="6035040" y="5120640"/>
            <a:ext cx="1682496" cy="402336"/>
          </a:xfrm>
          <a:prstGeom prst="rect">
            <a:avLst/>
          </a:prstGeom>
          <a:noFill/>
          <a:ln/>
        </p:spPr>
        <p:txBody>
          <a:bodyPr wrap="square" lIns="0" tIns="0" rIns="0" bIns="0" rtlCol="0" anchor="ctr">
            <a:normAutofit/>
          </a:bodyPr>
          <a:lstStyle/>
          <a:p>
            <a:pPr indent="0" marL="0">
              <a:buNone/>
            </a:pPr>
            <a:r>
              <a:rPr lang="en-US" sz="1160" b="1" dirty="0">
                <a:solidFill>
                  <a:srgbClr val="D83E00"/>
                </a:solidFill>
                <a:latin typeface="Aptos" pitchFamily="34" charset="0"/>
                <a:ea typeface="Aptos" pitchFamily="34" charset="-122"/>
                <a:cs typeface="Aptos" pitchFamily="34" charset="-120"/>
              </a:rPr>
              <a:t>Uncertain pilot</a:t>
            </a:r>
            <a:endParaRPr lang="en-US" sz="1160" dirty="0"/>
          </a:p>
        </p:txBody>
      </p:sp>
      <p:sp>
        <p:nvSpPr>
          <p:cNvPr id="77" name="Shape 75"/>
          <p:cNvSpPr/>
          <p:nvPr/>
        </p:nvSpPr>
        <p:spPr>
          <a:xfrm>
            <a:off x="7818120" y="5065776"/>
            <a:ext cx="1851660" cy="521208"/>
          </a:xfrm>
          <a:prstGeom prst="rect">
            <a:avLst/>
          </a:prstGeom>
          <a:solidFill>
            <a:srgbClr val="FFFFFF"/>
          </a:solidFill>
          <a:ln w="7620">
            <a:solidFill>
              <a:srgbClr val="FFFFFF">
                <a:alpha val="0"/>
              </a:srgbClr>
            </a:solidFill>
            <a:prstDash val="solid"/>
          </a:ln>
        </p:spPr>
      </p:sp>
      <p:sp>
        <p:nvSpPr>
          <p:cNvPr id="78" name="Text 76"/>
          <p:cNvSpPr/>
          <p:nvPr/>
        </p:nvSpPr>
        <p:spPr>
          <a:xfrm>
            <a:off x="7918704" y="5120640"/>
            <a:ext cx="1682496" cy="402336"/>
          </a:xfrm>
          <a:prstGeom prst="rect">
            <a:avLst/>
          </a:prstGeom>
          <a:noFill/>
          <a:ln/>
        </p:spPr>
        <p:txBody>
          <a:bodyPr wrap="square" lIns="0" tIns="0" rIns="0" bIns="0" rtlCol="0" anchor="ctr">
            <a:normAutofit/>
          </a:bodyPr>
          <a:lstStyle/>
          <a:p>
            <a:pPr indent="0" marL="0">
              <a:buNone/>
            </a:pPr>
            <a:r>
              <a:rPr lang="en-US" sz="1160" b="1" dirty="0">
                <a:solidFill>
                  <a:srgbClr val="171716"/>
                </a:solidFill>
                <a:latin typeface="Aptos" pitchFamily="34" charset="0"/>
                <a:ea typeface="Aptos" pitchFamily="34" charset="-122"/>
                <a:cs typeface="Aptos" pitchFamily="34" charset="-120"/>
              </a:rPr>
              <a:t>Predictable portfolio</a:t>
            </a:r>
            <a:endParaRPr lang="en-US" sz="1160" dirty="0"/>
          </a:p>
        </p:txBody>
      </p:sp>
      <p:sp>
        <p:nvSpPr>
          <p:cNvPr id="79" name="Shape 77"/>
          <p:cNvSpPr/>
          <p:nvPr/>
        </p:nvSpPr>
        <p:spPr>
          <a:xfrm>
            <a:off x="9701784" y="5065776"/>
            <a:ext cx="1851660" cy="521208"/>
          </a:xfrm>
          <a:prstGeom prst="rect">
            <a:avLst/>
          </a:prstGeom>
          <a:solidFill>
            <a:srgbClr val="FFFFFF"/>
          </a:solidFill>
          <a:ln w="7620">
            <a:solidFill>
              <a:srgbClr val="FFFFFF">
                <a:alpha val="0"/>
              </a:srgbClr>
            </a:solidFill>
            <a:prstDash val="solid"/>
          </a:ln>
        </p:spPr>
      </p:sp>
      <p:sp>
        <p:nvSpPr>
          <p:cNvPr id="80" name="Text 78"/>
          <p:cNvSpPr/>
          <p:nvPr/>
        </p:nvSpPr>
        <p:spPr>
          <a:xfrm>
            <a:off x="9802368" y="5120640"/>
            <a:ext cx="1682496" cy="402336"/>
          </a:xfrm>
          <a:prstGeom prst="rect">
            <a:avLst/>
          </a:prstGeom>
          <a:noFill/>
          <a:ln/>
        </p:spPr>
        <p:txBody>
          <a:bodyPr wrap="square" lIns="0" tIns="0" rIns="0" bIns="0" rtlCol="0" anchor="ctr">
            <a:normAutofit/>
          </a:bodyPr>
          <a:lstStyle/>
          <a:p>
            <a:pPr indent="0" marL="0">
              <a:buNone/>
            </a:pPr>
            <a:r>
              <a:rPr lang="en-US" sz="1160" b="1" dirty="0">
                <a:solidFill>
                  <a:srgbClr val="171716"/>
                </a:solidFill>
                <a:latin typeface="Aptos" pitchFamily="34" charset="0"/>
                <a:ea typeface="Aptos" pitchFamily="34" charset="-122"/>
                <a:cs typeface="Aptos" pitchFamily="34" charset="-120"/>
              </a:rPr>
              <a:t>Isolation / control</a:t>
            </a:r>
            <a:endParaRPr lang="en-US" sz="1160" dirty="0"/>
          </a:p>
        </p:txBody>
      </p:sp>
      <p:sp>
        <p:nvSpPr>
          <p:cNvPr id="81" name="Shape 79"/>
          <p:cNvSpPr/>
          <p:nvPr/>
        </p:nvSpPr>
        <p:spPr>
          <a:xfrm>
            <a:off x="594360" y="5760720"/>
            <a:ext cx="11009376" cy="521208"/>
          </a:xfrm>
          <a:prstGeom prst="rect">
            <a:avLst/>
          </a:prstGeom>
          <a:solidFill>
            <a:srgbClr val="171716"/>
          </a:solidFill>
          <a:ln w="7620">
            <a:solidFill>
              <a:srgbClr val="171716">
                <a:alpha val="0"/>
              </a:srgbClr>
            </a:solidFill>
            <a:prstDash val="solid"/>
          </a:ln>
        </p:spPr>
      </p:sp>
      <p:sp>
        <p:nvSpPr>
          <p:cNvPr id="82" name="Text 80"/>
          <p:cNvSpPr/>
          <p:nvPr/>
        </p:nvSpPr>
        <p:spPr>
          <a:xfrm>
            <a:off x="758952" y="5852160"/>
            <a:ext cx="10652760" cy="356616"/>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Choose the lowest risk-adjusted TOTAL commitment that meets GPU type, dates, region and latency.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F44B00"/>
          </a:solidFill>
          <a:ln w="7620">
            <a:solidFill>
              <a:srgbClr val="F44B00">
                <a:alpha val="0"/>
              </a:srgbClr>
            </a:solidFill>
            <a:prstDash val="solid"/>
          </a:ln>
        </p:spPr>
      </p:sp>
      <p:sp>
        <p:nvSpPr>
          <p:cNvPr id="3" name="Text 1"/>
          <p:cNvSpPr/>
          <p:nvPr/>
        </p:nvSpPr>
        <p:spPr>
          <a:xfrm>
            <a:off x="548640" y="338328"/>
            <a:ext cx="3383280" cy="283464"/>
          </a:xfrm>
          <a:prstGeom prst="rect">
            <a:avLst/>
          </a:prstGeom>
          <a:noFill/>
          <a:ln/>
        </p:spPr>
        <p:txBody>
          <a:bodyPr wrap="square" lIns="0" tIns="0" rIns="0" bIns="0" rtlCol="0" anchor="ctr">
            <a:normAutofit/>
          </a:bodyPr>
          <a:lstStyle/>
          <a:p>
            <a:pPr indent="0" marL="0">
              <a:buNone/>
            </a:pPr>
            <a:r>
              <a:rPr lang="en-US" sz="1200" b="1" spc="160" kern="0" dirty="0">
                <a:solidFill>
                  <a:srgbClr val="171716"/>
                </a:solidFill>
                <a:latin typeface="Aptos" pitchFamily="34" charset="0"/>
                <a:ea typeface="Aptos" pitchFamily="34" charset="-122"/>
                <a:cs typeface="Aptos" pitchFamily="34" charset="-120"/>
              </a:rPr>
              <a:t>APPLIED COMPUTE</a:t>
            </a:r>
            <a:endParaRPr lang="en-US" sz="1200" dirty="0"/>
          </a:p>
        </p:txBody>
      </p:sp>
      <p:sp>
        <p:nvSpPr>
          <p:cNvPr id="4" name="Text 2"/>
          <p:cNvSpPr/>
          <p:nvPr/>
        </p:nvSpPr>
        <p:spPr>
          <a:xfrm>
            <a:off x="8503920" y="365760"/>
            <a:ext cx="3063240" cy="210312"/>
          </a:xfrm>
          <a:prstGeom prst="rect">
            <a:avLst/>
          </a:prstGeom>
          <a:noFill/>
          <a:ln/>
        </p:spPr>
        <p:txBody>
          <a:bodyPr wrap="square" lIns="0" tIns="0" rIns="0" bIns="0" rtlCol="0" anchor="ctr">
            <a:normAutofit/>
          </a:bodyPr>
          <a:lstStyle/>
          <a:p>
            <a:pPr algn="r" indent="0" marL="0">
              <a:buNone/>
            </a:pPr>
            <a:r>
              <a:rPr lang="en-US" sz="1000" b="1" spc="100" kern="0" dirty="0">
                <a:solidFill>
                  <a:srgbClr val="857F78"/>
                </a:solidFill>
                <a:latin typeface="Aptos" pitchFamily="34" charset="0"/>
                <a:ea typeface="Aptos" pitchFamily="34" charset="-122"/>
                <a:cs typeface="Aptos" pitchFamily="34" charset="-120"/>
              </a:rPr>
              <a:t>02 / CAPACITY ECONOMICS</a:t>
            </a:r>
            <a:endParaRPr lang="en-US" sz="1000" dirty="0"/>
          </a:p>
        </p:txBody>
      </p:sp>
      <p:sp>
        <p:nvSpPr>
          <p:cNvPr id="5" name="Text 3"/>
          <p:cNvSpPr/>
          <p:nvPr/>
        </p:nvSpPr>
        <p:spPr>
          <a:xfrm>
            <a:off x="557784" y="932688"/>
            <a:ext cx="11036808" cy="1024128"/>
          </a:xfrm>
          <a:prstGeom prst="rect">
            <a:avLst/>
          </a:prstGeom>
          <a:noFill/>
          <a:ln/>
        </p:spPr>
        <p:txBody>
          <a:bodyPr wrap="square" lIns="0" tIns="0" rIns="0" bIns="0" rtlCol="0" anchor="ctr">
            <a:normAutofit/>
          </a:bodyPr>
          <a:lstStyle/>
          <a:p>
            <a:pPr indent="0" marL="0">
              <a:buNone/>
            </a:pPr>
            <a:r>
              <a:rPr lang="en-US" sz="3100" b="1" dirty="0">
                <a:solidFill>
                  <a:srgbClr val="171716"/>
                </a:solidFill>
                <a:latin typeface="Aptos" pitchFamily="34" charset="0"/>
                <a:ea typeface="Aptos" pitchFamily="34" charset="-122"/>
                <a:cs typeface="Aptos" pitchFamily="34" charset="-120"/>
              </a:rPr>
              <a:t>Six questions determine the economics of available capacity</a:t>
            </a:r>
            <a:endParaRPr lang="en-US" sz="3100" dirty="0"/>
          </a:p>
        </p:txBody>
      </p:sp>
      <p:sp>
        <p:nvSpPr>
          <p:cNvPr id="6" name="Shape 4"/>
          <p:cNvSpPr/>
          <p:nvPr/>
        </p:nvSpPr>
        <p:spPr>
          <a:xfrm>
            <a:off x="557784" y="6483096"/>
            <a:ext cx="11055096" cy="0"/>
          </a:xfrm>
          <a:prstGeom prst="line">
            <a:avLst/>
          </a:prstGeom>
          <a:noFill/>
          <a:ln w="9525">
            <a:solidFill>
              <a:srgbClr val="DCD7D1"/>
            </a:solidFill>
            <a:prstDash val="solid"/>
          </a:ln>
        </p:spPr>
      </p:sp>
      <p:sp>
        <p:nvSpPr>
          <p:cNvPr id="7" name="Text 5"/>
          <p:cNvSpPr/>
          <p:nvPr/>
        </p:nvSpPr>
        <p:spPr>
          <a:xfrm>
            <a:off x="557784" y="6565392"/>
            <a:ext cx="8412480" cy="128016"/>
          </a:xfrm>
          <a:prstGeom prst="rect">
            <a:avLst/>
          </a:prstGeom>
          <a:noFill/>
          <a:ln/>
        </p:spPr>
        <p:txBody>
          <a:bodyPr wrap="square" lIns="0" tIns="0" rIns="0" bIns="0" rtlCol="0" anchor="ctr">
            <a:normAutofit/>
          </a:bodyPr>
          <a:lstStyle/>
          <a:p>
            <a:pPr indent="0" marL="0">
              <a:buNone/>
            </a:pPr>
            <a:r>
              <a:rPr lang="en-US" sz="820" b="1" dirty="0">
                <a:solidFill>
                  <a:srgbClr val="857F78"/>
                </a:solidFill>
                <a:latin typeface="Aptos" pitchFamily="34" charset="0"/>
                <a:ea typeface="Aptos" pitchFamily="34" charset="-122"/>
                <a:cs typeface="Aptos" pitchFamily="34" charset="-120"/>
              </a:rPr>
              <a:t>ENTERPRISE DEAL ECONOMICS  /  ILLUSTRATIVE FRAMEWORK</a:t>
            </a:r>
            <a:endParaRPr lang="en-US" sz="820" dirty="0"/>
          </a:p>
        </p:txBody>
      </p:sp>
      <p:sp>
        <p:nvSpPr>
          <p:cNvPr id="8" name="Text 6"/>
          <p:cNvSpPr/>
          <p:nvPr/>
        </p:nvSpPr>
        <p:spPr>
          <a:xfrm>
            <a:off x="11173968" y="6547104"/>
            <a:ext cx="411480" cy="146304"/>
          </a:xfrm>
          <a:prstGeom prst="rect">
            <a:avLst/>
          </a:prstGeom>
          <a:noFill/>
          <a:ln/>
        </p:spPr>
        <p:txBody>
          <a:bodyPr wrap="square" lIns="0" tIns="0" rIns="0" bIns="0" rtlCol="0" anchor="ctr">
            <a:normAutofit/>
          </a:bodyPr>
          <a:lstStyle/>
          <a:p>
            <a:pPr algn="r" indent="0" marL="0">
              <a:buNone/>
            </a:pPr>
            <a:r>
              <a:rPr lang="en-US" sz="900" b="1" dirty="0">
                <a:solidFill>
                  <a:srgbClr val="5F5B57"/>
                </a:solidFill>
                <a:latin typeface="Aptos" pitchFamily="34" charset="0"/>
                <a:ea typeface="Aptos" pitchFamily="34" charset="-122"/>
                <a:cs typeface="Aptos" pitchFamily="34" charset="-120"/>
              </a:rPr>
              <a:t>06</a:t>
            </a:r>
            <a:endParaRPr lang="en-US" sz="900" dirty="0"/>
          </a:p>
        </p:txBody>
      </p:sp>
      <p:sp>
        <p:nvSpPr>
          <p:cNvPr id="9" name="Shape 7"/>
          <p:cNvSpPr/>
          <p:nvPr/>
        </p:nvSpPr>
        <p:spPr>
          <a:xfrm>
            <a:off x="603504" y="2112264"/>
            <a:ext cx="3575304" cy="1307592"/>
          </a:xfrm>
          <a:prstGeom prst="roundRect">
            <a:avLst>
              <a:gd name="adj" fmla="val 5594"/>
            </a:avLst>
          </a:prstGeom>
          <a:solidFill>
            <a:srgbClr val="FFFFFF"/>
          </a:solidFill>
          <a:ln w="10160">
            <a:solidFill>
              <a:srgbClr val="DCD7D1"/>
            </a:solidFill>
            <a:prstDash val="solid"/>
          </a:ln>
        </p:spPr>
      </p:sp>
      <p:sp>
        <p:nvSpPr>
          <p:cNvPr id="10" name="Text 8"/>
          <p:cNvSpPr/>
          <p:nvPr/>
        </p:nvSpPr>
        <p:spPr>
          <a:xfrm>
            <a:off x="795528" y="2276856"/>
            <a:ext cx="3191256" cy="246888"/>
          </a:xfrm>
          <a:prstGeom prst="rect">
            <a:avLst/>
          </a:prstGeom>
          <a:noFill/>
          <a:ln/>
        </p:spPr>
        <p:txBody>
          <a:bodyPr wrap="square" lIns="0" tIns="0" rIns="0" bIns="0" rtlCol="0" anchor="ctr">
            <a:normAutofit/>
          </a:bodyPr>
          <a:lstStyle/>
          <a:p>
            <a:pPr indent="0" marL="0">
              <a:buNone/>
            </a:pPr>
            <a:r>
              <a:rPr lang="en-US" sz="1200" b="1" spc="50" kern="0" dirty="0">
                <a:solidFill>
                  <a:srgbClr val="F44B00"/>
                </a:solidFill>
                <a:latin typeface="Aptos" pitchFamily="34" charset="0"/>
                <a:ea typeface="Aptos" pitchFamily="34" charset="-122"/>
                <a:cs typeface="Aptos" pitchFamily="34" charset="-120"/>
              </a:rPr>
              <a:t>CAN IT RUN?</a:t>
            </a:r>
            <a:endParaRPr lang="en-US" sz="1200" dirty="0"/>
          </a:p>
        </p:txBody>
      </p:sp>
      <p:sp>
        <p:nvSpPr>
          <p:cNvPr id="11" name="Text 9"/>
          <p:cNvSpPr/>
          <p:nvPr/>
        </p:nvSpPr>
        <p:spPr>
          <a:xfrm>
            <a:off x="795528" y="2715768"/>
            <a:ext cx="3182112" cy="512064"/>
          </a:xfrm>
          <a:prstGeom prst="rect">
            <a:avLst/>
          </a:prstGeom>
          <a:noFill/>
          <a:ln/>
        </p:spPr>
        <p:txBody>
          <a:bodyPr wrap="square" lIns="0" tIns="0" rIns="0" bIns="0" rtlCol="0" anchor="ctr">
            <a:normAutofit/>
          </a:bodyPr>
          <a:lstStyle/>
          <a:p>
            <a:pPr indent="0" marL="0">
              <a:buNone/>
            </a:pPr>
            <a:r>
              <a:rPr lang="en-US" sz="1690" b="1" dirty="0">
                <a:solidFill>
                  <a:srgbClr val="171716"/>
                </a:solidFill>
                <a:latin typeface="Aptos" pitchFamily="34" charset="0"/>
                <a:ea typeface="Aptos" pitchFamily="34" charset="-122"/>
                <a:cs typeface="Aptos" pitchFamily="34" charset="-120"/>
              </a:rPr>
              <a:t>Correct GPUs, topology, region and dates</a:t>
            </a:r>
            <a:endParaRPr lang="en-US" sz="1690" dirty="0"/>
          </a:p>
        </p:txBody>
      </p:sp>
      <p:sp>
        <p:nvSpPr>
          <p:cNvPr id="12" name="Shape 10"/>
          <p:cNvSpPr/>
          <p:nvPr/>
        </p:nvSpPr>
        <p:spPr>
          <a:xfrm>
            <a:off x="4416552" y="2112264"/>
            <a:ext cx="3575304" cy="1307592"/>
          </a:xfrm>
          <a:prstGeom prst="roundRect">
            <a:avLst>
              <a:gd name="adj" fmla="val 5594"/>
            </a:avLst>
          </a:prstGeom>
          <a:solidFill>
            <a:srgbClr val="FFFFFF"/>
          </a:solidFill>
          <a:ln w="10160">
            <a:solidFill>
              <a:srgbClr val="DCD7D1"/>
            </a:solidFill>
            <a:prstDash val="solid"/>
          </a:ln>
        </p:spPr>
      </p:sp>
      <p:sp>
        <p:nvSpPr>
          <p:cNvPr id="13" name="Text 11"/>
          <p:cNvSpPr/>
          <p:nvPr/>
        </p:nvSpPr>
        <p:spPr>
          <a:xfrm>
            <a:off x="4608576" y="2276856"/>
            <a:ext cx="3191256" cy="246888"/>
          </a:xfrm>
          <a:prstGeom prst="rect">
            <a:avLst/>
          </a:prstGeom>
          <a:noFill/>
          <a:ln/>
        </p:spPr>
        <p:txBody>
          <a:bodyPr wrap="square" lIns="0" tIns="0" rIns="0" bIns="0" rtlCol="0" anchor="ctr">
            <a:normAutofit/>
          </a:bodyPr>
          <a:lstStyle/>
          <a:p>
            <a:pPr indent="0" marL="0">
              <a:buNone/>
            </a:pPr>
            <a:r>
              <a:rPr lang="en-US" sz="1200" b="1" spc="50" kern="0" dirty="0">
                <a:solidFill>
                  <a:srgbClr val="F44B00"/>
                </a:solidFill>
                <a:latin typeface="Aptos" pitchFamily="34" charset="0"/>
                <a:ea typeface="Aptos" pitchFamily="34" charset="-122"/>
                <a:cs typeface="Aptos" pitchFamily="34" charset="-120"/>
              </a:rPr>
              <a:t>NEW SPEND</a:t>
            </a:r>
            <a:endParaRPr lang="en-US" sz="1200" dirty="0"/>
          </a:p>
        </p:txBody>
      </p:sp>
      <p:sp>
        <p:nvSpPr>
          <p:cNvPr id="14" name="Text 12"/>
          <p:cNvSpPr/>
          <p:nvPr/>
        </p:nvSpPr>
        <p:spPr>
          <a:xfrm>
            <a:off x="4608576" y="2715768"/>
            <a:ext cx="3182112" cy="512064"/>
          </a:xfrm>
          <a:prstGeom prst="rect">
            <a:avLst/>
          </a:prstGeom>
          <a:noFill/>
          <a:ln/>
        </p:spPr>
        <p:txBody>
          <a:bodyPr wrap="square" lIns="0" tIns="0" rIns="0" bIns="0" rtlCol="0" anchor="ctr">
            <a:normAutofit/>
          </a:bodyPr>
          <a:lstStyle/>
          <a:p>
            <a:pPr indent="0" marL="0">
              <a:buNone/>
            </a:pPr>
            <a:r>
              <a:rPr lang="en-US" sz="1690" b="1" dirty="0">
                <a:solidFill>
                  <a:srgbClr val="171716"/>
                </a:solidFill>
                <a:latin typeface="Aptos" pitchFamily="34" charset="0"/>
                <a:ea typeface="Aptos" pitchFamily="34" charset="-122"/>
                <a:cs typeface="Aptos" pitchFamily="34" charset="-120"/>
              </a:rPr>
              <a:t>Cash we must pay to serve this deal</a:t>
            </a:r>
            <a:endParaRPr lang="en-US" sz="1690" dirty="0"/>
          </a:p>
        </p:txBody>
      </p:sp>
      <p:sp>
        <p:nvSpPr>
          <p:cNvPr id="15" name="Shape 13"/>
          <p:cNvSpPr/>
          <p:nvPr/>
        </p:nvSpPr>
        <p:spPr>
          <a:xfrm>
            <a:off x="8229600" y="2112264"/>
            <a:ext cx="3575304" cy="1307592"/>
          </a:xfrm>
          <a:prstGeom prst="roundRect">
            <a:avLst>
              <a:gd name="adj" fmla="val 5594"/>
            </a:avLst>
          </a:prstGeom>
          <a:solidFill>
            <a:srgbClr val="FFFFFF"/>
          </a:solidFill>
          <a:ln w="10160">
            <a:solidFill>
              <a:srgbClr val="DCD7D1"/>
            </a:solidFill>
            <a:prstDash val="solid"/>
          </a:ln>
        </p:spPr>
      </p:sp>
      <p:sp>
        <p:nvSpPr>
          <p:cNvPr id="16" name="Text 14"/>
          <p:cNvSpPr/>
          <p:nvPr/>
        </p:nvSpPr>
        <p:spPr>
          <a:xfrm>
            <a:off x="8421624" y="2276856"/>
            <a:ext cx="3191256" cy="246888"/>
          </a:xfrm>
          <a:prstGeom prst="rect">
            <a:avLst/>
          </a:prstGeom>
          <a:noFill/>
          <a:ln/>
        </p:spPr>
        <p:txBody>
          <a:bodyPr wrap="square" lIns="0" tIns="0" rIns="0" bIns="0" rtlCol="0" anchor="ctr">
            <a:normAutofit/>
          </a:bodyPr>
          <a:lstStyle/>
          <a:p>
            <a:pPr indent="0" marL="0">
              <a:buNone/>
            </a:pPr>
            <a:r>
              <a:rPr lang="en-US" sz="1200" b="1" spc="50" kern="0" dirty="0">
                <a:solidFill>
                  <a:srgbClr val="F44B00"/>
                </a:solidFill>
                <a:latin typeface="Aptos" pitchFamily="34" charset="0"/>
                <a:ea typeface="Aptos" pitchFamily="34" charset="-122"/>
                <a:cs typeface="Aptos" pitchFamily="34" charset="-120"/>
              </a:rPr>
              <a:t>ALLOCATED COST</a:t>
            </a:r>
            <a:endParaRPr lang="en-US" sz="1200" dirty="0"/>
          </a:p>
        </p:txBody>
      </p:sp>
      <p:sp>
        <p:nvSpPr>
          <p:cNvPr id="17" name="Text 15"/>
          <p:cNvSpPr/>
          <p:nvPr/>
        </p:nvSpPr>
        <p:spPr>
          <a:xfrm>
            <a:off x="8421624" y="2715768"/>
            <a:ext cx="3182112" cy="512064"/>
          </a:xfrm>
          <a:prstGeom prst="rect">
            <a:avLst/>
          </a:prstGeom>
          <a:noFill/>
          <a:ln/>
        </p:spPr>
        <p:txBody>
          <a:bodyPr wrap="square" lIns="0" tIns="0" rIns="0" bIns="0" rtlCol="0" anchor="ctr">
            <a:normAutofit/>
          </a:bodyPr>
          <a:lstStyle/>
          <a:p>
            <a:pPr indent="0" marL="0">
              <a:buNone/>
            </a:pPr>
            <a:r>
              <a:rPr lang="en-US" sz="1690" b="1" dirty="0">
                <a:solidFill>
                  <a:srgbClr val="171716"/>
                </a:solidFill>
                <a:latin typeface="Aptos" pitchFamily="34" charset="0"/>
                <a:ea typeface="Aptos" pitchFamily="34" charset="-122"/>
                <a:cs typeface="Aptos" pitchFamily="34" charset="-120"/>
              </a:rPr>
              <a:t>Share of prepaid capacity for reported COGS</a:t>
            </a:r>
            <a:endParaRPr lang="en-US" sz="1690" dirty="0"/>
          </a:p>
        </p:txBody>
      </p:sp>
      <p:sp>
        <p:nvSpPr>
          <p:cNvPr id="18" name="Shape 16"/>
          <p:cNvSpPr/>
          <p:nvPr/>
        </p:nvSpPr>
        <p:spPr>
          <a:xfrm>
            <a:off x="603504" y="3593592"/>
            <a:ext cx="3575304" cy="1307592"/>
          </a:xfrm>
          <a:prstGeom prst="roundRect">
            <a:avLst>
              <a:gd name="adj" fmla="val 5594"/>
            </a:avLst>
          </a:prstGeom>
          <a:solidFill>
            <a:srgbClr val="FFFFFF"/>
          </a:solidFill>
          <a:ln w="10160">
            <a:solidFill>
              <a:srgbClr val="DCD7D1"/>
            </a:solidFill>
            <a:prstDash val="solid"/>
          </a:ln>
        </p:spPr>
      </p:sp>
      <p:sp>
        <p:nvSpPr>
          <p:cNvPr id="19" name="Text 17"/>
          <p:cNvSpPr/>
          <p:nvPr/>
        </p:nvSpPr>
        <p:spPr>
          <a:xfrm>
            <a:off x="795528" y="3758184"/>
            <a:ext cx="3191256" cy="246888"/>
          </a:xfrm>
          <a:prstGeom prst="rect">
            <a:avLst/>
          </a:prstGeom>
          <a:noFill/>
          <a:ln/>
        </p:spPr>
        <p:txBody>
          <a:bodyPr wrap="square" lIns="0" tIns="0" rIns="0" bIns="0" rtlCol="0" anchor="ctr">
            <a:normAutofit/>
          </a:bodyPr>
          <a:lstStyle/>
          <a:p>
            <a:pPr indent="0" marL="0">
              <a:buNone/>
            </a:pPr>
            <a:r>
              <a:rPr lang="en-US" sz="1200" b="1" spc="50" kern="0" dirty="0">
                <a:solidFill>
                  <a:srgbClr val="F44B00"/>
                </a:solidFill>
                <a:latin typeface="Aptos" pitchFamily="34" charset="0"/>
                <a:ea typeface="Aptos" pitchFamily="34" charset="-122"/>
                <a:cs typeface="Aptos" pitchFamily="34" charset="-120"/>
              </a:rPr>
              <a:t>BETTER ALTERNATIVE?</a:t>
            </a:r>
            <a:endParaRPr lang="en-US" sz="1200" dirty="0"/>
          </a:p>
        </p:txBody>
      </p:sp>
      <p:sp>
        <p:nvSpPr>
          <p:cNvPr id="20" name="Text 18"/>
          <p:cNvSpPr/>
          <p:nvPr/>
        </p:nvSpPr>
        <p:spPr>
          <a:xfrm>
            <a:off x="795528" y="4197096"/>
            <a:ext cx="3182112" cy="512064"/>
          </a:xfrm>
          <a:prstGeom prst="rect">
            <a:avLst/>
          </a:prstGeom>
          <a:noFill/>
          <a:ln/>
        </p:spPr>
        <p:txBody>
          <a:bodyPr wrap="square" lIns="0" tIns="0" rIns="0" bIns="0" rtlCol="0" anchor="ctr">
            <a:normAutofit/>
          </a:bodyPr>
          <a:lstStyle/>
          <a:p>
            <a:pPr indent="0" marL="0">
              <a:buNone/>
            </a:pPr>
            <a:r>
              <a:rPr lang="en-US" sz="1690" b="1" dirty="0">
                <a:solidFill>
                  <a:srgbClr val="171716"/>
                </a:solidFill>
                <a:latin typeface="Aptos" pitchFamily="34" charset="0"/>
                <a:ea typeface="Aptos" pitchFamily="34" charset="-122"/>
                <a:cs typeface="Aptos" pitchFamily="34" charset="-120"/>
              </a:rPr>
              <a:t>Contribution forgone by taking these GPUs</a:t>
            </a:r>
            <a:endParaRPr lang="en-US" sz="1690" dirty="0"/>
          </a:p>
        </p:txBody>
      </p:sp>
      <p:sp>
        <p:nvSpPr>
          <p:cNvPr id="21" name="Shape 19"/>
          <p:cNvSpPr/>
          <p:nvPr/>
        </p:nvSpPr>
        <p:spPr>
          <a:xfrm>
            <a:off x="4416552" y="3593592"/>
            <a:ext cx="3575304" cy="1307592"/>
          </a:xfrm>
          <a:prstGeom prst="roundRect">
            <a:avLst>
              <a:gd name="adj" fmla="val 5594"/>
            </a:avLst>
          </a:prstGeom>
          <a:solidFill>
            <a:srgbClr val="FFFFFF"/>
          </a:solidFill>
          <a:ln w="10160">
            <a:solidFill>
              <a:srgbClr val="DCD7D1"/>
            </a:solidFill>
            <a:prstDash val="solid"/>
          </a:ln>
        </p:spPr>
      </p:sp>
      <p:sp>
        <p:nvSpPr>
          <p:cNvPr id="22" name="Text 20"/>
          <p:cNvSpPr/>
          <p:nvPr/>
        </p:nvSpPr>
        <p:spPr>
          <a:xfrm>
            <a:off x="4608576" y="3758184"/>
            <a:ext cx="3191256" cy="246888"/>
          </a:xfrm>
          <a:prstGeom prst="rect">
            <a:avLst/>
          </a:prstGeom>
          <a:noFill/>
          <a:ln/>
        </p:spPr>
        <p:txBody>
          <a:bodyPr wrap="square" lIns="0" tIns="0" rIns="0" bIns="0" rtlCol="0" anchor="ctr">
            <a:normAutofit/>
          </a:bodyPr>
          <a:lstStyle/>
          <a:p>
            <a:pPr indent="0" marL="0">
              <a:buNone/>
            </a:pPr>
            <a:r>
              <a:rPr lang="en-US" sz="1200" b="1" spc="50" kern="0" dirty="0">
                <a:solidFill>
                  <a:srgbClr val="F44B00"/>
                </a:solidFill>
                <a:latin typeface="Aptos" pitchFamily="34" charset="0"/>
                <a:ea typeface="Aptos" pitchFamily="34" charset="-122"/>
                <a:cs typeface="Aptos" pitchFamily="34" charset="-120"/>
              </a:rPr>
              <a:t>LEFTOVER HOURS</a:t>
            </a:r>
            <a:endParaRPr lang="en-US" sz="1200" dirty="0"/>
          </a:p>
        </p:txBody>
      </p:sp>
      <p:sp>
        <p:nvSpPr>
          <p:cNvPr id="23" name="Text 21"/>
          <p:cNvSpPr/>
          <p:nvPr/>
        </p:nvSpPr>
        <p:spPr>
          <a:xfrm>
            <a:off x="4608576" y="4197096"/>
            <a:ext cx="3182112" cy="512064"/>
          </a:xfrm>
          <a:prstGeom prst="rect">
            <a:avLst/>
          </a:prstGeom>
          <a:noFill/>
          <a:ln/>
        </p:spPr>
        <p:txBody>
          <a:bodyPr wrap="square" lIns="0" tIns="0" rIns="0" bIns="0" rtlCol="0" anchor="ctr">
            <a:normAutofit/>
          </a:bodyPr>
          <a:lstStyle/>
          <a:p>
            <a:pPr indent="0" marL="0">
              <a:buNone/>
            </a:pPr>
            <a:r>
              <a:rPr lang="en-US" sz="1690" b="1" dirty="0">
                <a:solidFill>
                  <a:srgbClr val="171716"/>
                </a:solidFill>
                <a:latin typeface="Aptos" pitchFamily="34" charset="0"/>
                <a:ea typeface="Aptos" pitchFamily="34" charset="-122"/>
                <a:cs typeface="Aptos" pitchFamily="34" charset="-120"/>
              </a:rPr>
              <a:t>Noncancelable capacity after the job</a:t>
            </a:r>
            <a:endParaRPr lang="en-US" sz="1690" dirty="0"/>
          </a:p>
        </p:txBody>
      </p:sp>
      <p:sp>
        <p:nvSpPr>
          <p:cNvPr id="24" name="Shape 22"/>
          <p:cNvSpPr/>
          <p:nvPr/>
        </p:nvSpPr>
        <p:spPr>
          <a:xfrm>
            <a:off x="8229600" y="3593592"/>
            <a:ext cx="3575304" cy="1307592"/>
          </a:xfrm>
          <a:prstGeom prst="roundRect">
            <a:avLst>
              <a:gd name="adj" fmla="val 5594"/>
            </a:avLst>
          </a:prstGeom>
          <a:solidFill>
            <a:srgbClr val="FFFFFF"/>
          </a:solidFill>
          <a:ln w="10160">
            <a:solidFill>
              <a:srgbClr val="DCD7D1"/>
            </a:solidFill>
            <a:prstDash val="solid"/>
          </a:ln>
        </p:spPr>
      </p:sp>
      <p:sp>
        <p:nvSpPr>
          <p:cNvPr id="25" name="Text 23"/>
          <p:cNvSpPr/>
          <p:nvPr/>
        </p:nvSpPr>
        <p:spPr>
          <a:xfrm>
            <a:off x="8421624" y="3758184"/>
            <a:ext cx="3191256" cy="246888"/>
          </a:xfrm>
          <a:prstGeom prst="rect">
            <a:avLst/>
          </a:prstGeom>
          <a:noFill/>
          <a:ln/>
        </p:spPr>
        <p:txBody>
          <a:bodyPr wrap="square" lIns="0" tIns="0" rIns="0" bIns="0" rtlCol="0" anchor="ctr">
            <a:normAutofit/>
          </a:bodyPr>
          <a:lstStyle/>
          <a:p>
            <a:pPr indent="0" marL="0">
              <a:buNone/>
            </a:pPr>
            <a:r>
              <a:rPr lang="en-US" sz="1200" b="1" spc="50" kern="0" dirty="0">
                <a:solidFill>
                  <a:srgbClr val="F44B00"/>
                </a:solidFill>
                <a:latin typeface="Aptos" pitchFamily="34" charset="0"/>
                <a:ea typeface="Aptos" pitchFamily="34" charset="-122"/>
                <a:cs typeface="Aptos" pitchFamily="34" charset="-120"/>
              </a:rPr>
              <a:t>DELIVERY RISK</a:t>
            </a:r>
            <a:endParaRPr lang="en-US" sz="1200" dirty="0"/>
          </a:p>
        </p:txBody>
      </p:sp>
      <p:sp>
        <p:nvSpPr>
          <p:cNvPr id="26" name="Text 24"/>
          <p:cNvSpPr/>
          <p:nvPr/>
        </p:nvSpPr>
        <p:spPr>
          <a:xfrm>
            <a:off x="8421624" y="4197096"/>
            <a:ext cx="3182112" cy="512064"/>
          </a:xfrm>
          <a:prstGeom prst="rect">
            <a:avLst/>
          </a:prstGeom>
          <a:noFill/>
          <a:ln/>
        </p:spPr>
        <p:txBody>
          <a:bodyPr wrap="square" lIns="0" tIns="0" rIns="0" bIns="0" rtlCol="0" anchor="ctr">
            <a:normAutofit/>
          </a:bodyPr>
          <a:lstStyle/>
          <a:p>
            <a:pPr indent="0" marL="0">
              <a:buNone/>
            </a:pPr>
            <a:r>
              <a:rPr lang="en-US" sz="1690" b="1" dirty="0">
                <a:solidFill>
                  <a:srgbClr val="171716"/>
                </a:solidFill>
                <a:latin typeface="Aptos" pitchFamily="34" charset="0"/>
                <a:ea typeface="Aptos" pitchFamily="34" charset="-122"/>
                <a:cs typeface="Aptos" pitchFamily="34" charset="-120"/>
              </a:rPr>
              <a:t>Shortage, interruption, SLA or delays</a:t>
            </a:r>
            <a:endParaRPr lang="en-US" sz="1690" dirty="0"/>
          </a:p>
        </p:txBody>
      </p:sp>
      <p:sp>
        <p:nvSpPr>
          <p:cNvPr id="27" name="Shape 25"/>
          <p:cNvSpPr/>
          <p:nvPr/>
        </p:nvSpPr>
        <p:spPr>
          <a:xfrm>
            <a:off x="612648" y="5385816"/>
            <a:ext cx="10991088" cy="777240"/>
          </a:xfrm>
          <a:prstGeom prst="rect">
            <a:avLst/>
          </a:prstGeom>
          <a:solidFill>
            <a:srgbClr val="171716"/>
          </a:solidFill>
          <a:ln w="7620">
            <a:solidFill>
              <a:srgbClr val="171716">
                <a:alpha val="0"/>
              </a:srgbClr>
            </a:solidFill>
            <a:prstDash val="solid"/>
          </a:ln>
        </p:spPr>
      </p:sp>
      <p:sp>
        <p:nvSpPr>
          <p:cNvPr id="28" name="Text 26"/>
          <p:cNvSpPr/>
          <p:nvPr/>
        </p:nvSpPr>
        <p:spPr>
          <a:xfrm>
            <a:off x="768096" y="5559552"/>
            <a:ext cx="10625328" cy="402336"/>
          </a:xfrm>
          <a:prstGeom prst="rect">
            <a:avLst/>
          </a:prstGeom>
          <a:noFill/>
          <a:ln/>
        </p:spPr>
        <p:txBody>
          <a:bodyPr wrap="square" lIns="0" tIns="0" rIns="0" bIns="0" rtlCol="0" anchor="ctr">
            <a:normAutofit/>
          </a:bodyPr>
          <a:lstStyle/>
          <a:p>
            <a:pPr algn="ctr" indent="0" marL="0">
              <a:buNone/>
            </a:pPr>
            <a:r>
              <a:rPr lang="en-US" sz="1510" b="1" dirty="0">
                <a:solidFill>
                  <a:srgbClr val="FFFFFF"/>
                </a:solidFill>
                <a:latin typeface="Aptos" pitchFamily="34" charset="0"/>
                <a:ea typeface="Aptos" pitchFamily="34" charset="-122"/>
                <a:cs typeface="Aptos" pitchFamily="34" charset="-120"/>
              </a:rPr>
              <a:t>Decision view ≠ accounting view: opportunity cost informs placement, but is not booked again as COGS.</a:t>
            </a:r>
            <a:endParaRPr lang="en-US" sz="15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F44B00"/>
          </a:solidFill>
          <a:ln w="7620">
            <a:solidFill>
              <a:srgbClr val="F44B00">
                <a:alpha val="0"/>
              </a:srgbClr>
            </a:solidFill>
            <a:prstDash val="solid"/>
          </a:ln>
        </p:spPr>
      </p:sp>
      <p:sp>
        <p:nvSpPr>
          <p:cNvPr id="3" name="Text 1"/>
          <p:cNvSpPr/>
          <p:nvPr/>
        </p:nvSpPr>
        <p:spPr>
          <a:xfrm>
            <a:off x="548640" y="338328"/>
            <a:ext cx="3383280" cy="283464"/>
          </a:xfrm>
          <a:prstGeom prst="rect">
            <a:avLst/>
          </a:prstGeom>
          <a:noFill/>
          <a:ln/>
        </p:spPr>
        <p:txBody>
          <a:bodyPr wrap="square" lIns="0" tIns="0" rIns="0" bIns="0" rtlCol="0" anchor="ctr">
            <a:normAutofit/>
          </a:bodyPr>
          <a:lstStyle/>
          <a:p>
            <a:pPr indent="0" marL="0">
              <a:buNone/>
            </a:pPr>
            <a:r>
              <a:rPr lang="en-US" sz="1200" b="1" spc="160" kern="0" dirty="0">
                <a:solidFill>
                  <a:srgbClr val="171716"/>
                </a:solidFill>
                <a:latin typeface="Aptos" pitchFamily="34" charset="0"/>
                <a:ea typeface="Aptos" pitchFamily="34" charset="-122"/>
                <a:cs typeface="Aptos" pitchFamily="34" charset="-120"/>
              </a:rPr>
              <a:t>APPLIED COMPUTE</a:t>
            </a:r>
            <a:endParaRPr lang="en-US" sz="1200" dirty="0"/>
          </a:p>
        </p:txBody>
      </p:sp>
      <p:sp>
        <p:nvSpPr>
          <p:cNvPr id="4" name="Text 2"/>
          <p:cNvSpPr/>
          <p:nvPr/>
        </p:nvSpPr>
        <p:spPr>
          <a:xfrm>
            <a:off x="8503920" y="365760"/>
            <a:ext cx="3063240" cy="210312"/>
          </a:xfrm>
          <a:prstGeom prst="rect">
            <a:avLst/>
          </a:prstGeom>
          <a:noFill/>
          <a:ln/>
        </p:spPr>
        <p:txBody>
          <a:bodyPr wrap="square" lIns="0" tIns="0" rIns="0" bIns="0" rtlCol="0" anchor="ctr">
            <a:normAutofit/>
          </a:bodyPr>
          <a:lstStyle/>
          <a:p>
            <a:pPr algn="r" indent="0" marL="0">
              <a:buNone/>
            </a:pPr>
            <a:r>
              <a:rPr lang="en-US" sz="1000" b="1" spc="100" kern="0" dirty="0">
                <a:solidFill>
                  <a:srgbClr val="857F78"/>
                </a:solidFill>
                <a:latin typeface="Aptos" pitchFamily="34" charset="0"/>
                <a:ea typeface="Aptos" pitchFamily="34" charset="-122"/>
                <a:cs typeface="Aptos" pitchFamily="34" charset="-120"/>
              </a:rPr>
              <a:t>02 / COST BUILD</a:t>
            </a:r>
            <a:endParaRPr lang="en-US" sz="1000" dirty="0"/>
          </a:p>
        </p:txBody>
      </p:sp>
      <p:sp>
        <p:nvSpPr>
          <p:cNvPr id="5" name="Text 3"/>
          <p:cNvSpPr/>
          <p:nvPr/>
        </p:nvSpPr>
        <p:spPr>
          <a:xfrm>
            <a:off x="557784" y="932688"/>
            <a:ext cx="11036808" cy="1024128"/>
          </a:xfrm>
          <a:prstGeom prst="rect">
            <a:avLst/>
          </a:prstGeom>
          <a:noFill/>
          <a:ln/>
        </p:spPr>
        <p:txBody>
          <a:bodyPr wrap="square" lIns="0" tIns="0" rIns="0" bIns="0" rtlCol="0" anchor="ctr">
            <a:normAutofit/>
          </a:bodyPr>
          <a:lstStyle/>
          <a:p>
            <a:pPr indent="0" marL="0">
              <a:buNone/>
            </a:pPr>
            <a:r>
              <a:rPr lang="en-US" sz="3100" b="1" dirty="0">
                <a:solidFill>
                  <a:srgbClr val="171716"/>
                </a:solidFill>
                <a:latin typeface="Aptos" pitchFamily="34" charset="0"/>
                <a:ea typeface="Aptos" pitchFamily="34" charset="-122"/>
                <a:cs typeface="Aptos" pitchFamily="34" charset="-120"/>
              </a:rPr>
              <a:t>Connect workload demand to dollar COGS</a:t>
            </a:r>
            <a:endParaRPr lang="en-US" sz="3100" dirty="0"/>
          </a:p>
        </p:txBody>
      </p:sp>
      <p:sp>
        <p:nvSpPr>
          <p:cNvPr id="6" name="Shape 4"/>
          <p:cNvSpPr/>
          <p:nvPr/>
        </p:nvSpPr>
        <p:spPr>
          <a:xfrm>
            <a:off x="557784" y="6483096"/>
            <a:ext cx="11055096" cy="0"/>
          </a:xfrm>
          <a:prstGeom prst="line">
            <a:avLst/>
          </a:prstGeom>
          <a:noFill/>
          <a:ln w="9525">
            <a:solidFill>
              <a:srgbClr val="DCD7D1"/>
            </a:solidFill>
            <a:prstDash val="solid"/>
          </a:ln>
        </p:spPr>
      </p:sp>
      <p:sp>
        <p:nvSpPr>
          <p:cNvPr id="7" name="Text 5"/>
          <p:cNvSpPr/>
          <p:nvPr/>
        </p:nvSpPr>
        <p:spPr>
          <a:xfrm>
            <a:off x="557784" y="6565392"/>
            <a:ext cx="8412480" cy="128016"/>
          </a:xfrm>
          <a:prstGeom prst="rect">
            <a:avLst/>
          </a:prstGeom>
          <a:noFill/>
          <a:ln/>
        </p:spPr>
        <p:txBody>
          <a:bodyPr wrap="square" lIns="0" tIns="0" rIns="0" bIns="0" rtlCol="0" anchor="ctr">
            <a:normAutofit/>
          </a:bodyPr>
          <a:lstStyle/>
          <a:p>
            <a:pPr indent="0" marL="0">
              <a:buNone/>
            </a:pPr>
            <a:r>
              <a:rPr lang="en-US" sz="820" b="1" dirty="0">
                <a:solidFill>
                  <a:srgbClr val="857F78"/>
                </a:solidFill>
                <a:latin typeface="Aptos" pitchFamily="34" charset="0"/>
                <a:ea typeface="Aptos" pitchFamily="34" charset="-122"/>
                <a:cs typeface="Aptos" pitchFamily="34" charset="-120"/>
              </a:rPr>
              <a:t>ENTERPRISE DEAL ECONOMICS  /  ILLUSTRATIVE FRAMEWORK</a:t>
            </a:r>
            <a:endParaRPr lang="en-US" sz="820" dirty="0"/>
          </a:p>
        </p:txBody>
      </p:sp>
      <p:sp>
        <p:nvSpPr>
          <p:cNvPr id="8" name="Text 6"/>
          <p:cNvSpPr/>
          <p:nvPr/>
        </p:nvSpPr>
        <p:spPr>
          <a:xfrm>
            <a:off x="11173968" y="6547104"/>
            <a:ext cx="411480" cy="146304"/>
          </a:xfrm>
          <a:prstGeom prst="rect">
            <a:avLst/>
          </a:prstGeom>
          <a:noFill/>
          <a:ln/>
        </p:spPr>
        <p:txBody>
          <a:bodyPr wrap="square" lIns="0" tIns="0" rIns="0" bIns="0" rtlCol="0" anchor="ctr">
            <a:normAutofit/>
          </a:bodyPr>
          <a:lstStyle/>
          <a:p>
            <a:pPr algn="r" indent="0" marL="0">
              <a:buNone/>
            </a:pPr>
            <a:r>
              <a:rPr lang="en-US" sz="900" b="1" dirty="0">
                <a:solidFill>
                  <a:srgbClr val="5F5B57"/>
                </a:solidFill>
                <a:latin typeface="Aptos" pitchFamily="34" charset="0"/>
                <a:ea typeface="Aptos" pitchFamily="34" charset="-122"/>
                <a:cs typeface="Aptos" pitchFamily="34" charset="-120"/>
              </a:rPr>
              <a:t>07</a:t>
            </a:r>
            <a:endParaRPr lang="en-US" sz="900" dirty="0"/>
          </a:p>
        </p:txBody>
      </p:sp>
      <p:sp>
        <p:nvSpPr>
          <p:cNvPr id="9" name="Shape 7"/>
          <p:cNvSpPr/>
          <p:nvPr/>
        </p:nvSpPr>
        <p:spPr>
          <a:xfrm>
            <a:off x="594360" y="2157984"/>
            <a:ext cx="2724912" cy="3474720"/>
          </a:xfrm>
          <a:prstGeom prst="roundRect">
            <a:avLst>
              <a:gd name="adj" fmla="val 2685"/>
            </a:avLst>
          </a:prstGeom>
          <a:solidFill>
            <a:srgbClr val="FFFFFF"/>
          </a:solidFill>
          <a:ln w="10160">
            <a:solidFill>
              <a:srgbClr val="DCD7D1"/>
            </a:solidFill>
            <a:prstDash val="solid"/>
          </a:ln>
        </p:spPr>
      </p:sp>
      <p:sp>
        <p:nvSpPr>
          <p:cNvPr id="10" name="Text 8"/>
          <p:cNvSpPr/>
          <p:nvPr/>
        </p:nvSpPr>
        <p:spPr>
          <a:xfrm>
            <a:off x="758952" y="2423160"/>
            <a:ext cx="2414016" cy="265176"/>
          </a:xfrm>
          <a:prstGeom prst="rect">
            <a:avLst/>
          </a:prstGeom>
          <a:noFill/>
          <a:ln/>
        </p:spPr>
        <p:txBody>
          <a:bodyPr wrap="square" lIns="0" tIns="0" rIns="0" bIns="0" rtlCol="0" anchor="ctr">
            <a:normAutofit/>
          </a:bodyPr>
          <a:lstStyle/>
          <a:p>
            <a:pPr indent="0" marL="0">
              <a:buNone/>
            </a:pPr>
            <a:r>
              <a:rPr lang="en-US" sz="1200" b="1" dirty="0">
                <a:solidFill>
                  <a:srgbClr val="F44B00"/>
                </a:solidFill>
                <a:latin typeface="Aptos" pitchFamily="34" charset="0"/>
                <a:ea typeface="Aptos" pitchFamily="34" charset="-122"/>
                <a:cs typeface="Aptos" pitchFamily="34" charset="-120"/>
              </a:rPr>
              <a:t>01  CUSTOMER WORK</a:t>
            </a:r>
            <a:endParaRPr lang="en-US" sz="1200" dirty="0"/>
          </a:p>
        </p:txBody>
      </p:sp>
      <p:sp>
        <p:nvSpPr>
          <p:cNvPr id="11" name="Text 9"/>
          <p:cNvSpPr/>
          <p:nvPr/>
        </p:nvSpPr>
        <p:spPr>
          <a:xfrm>
            <a:off x="758952" y="2907792"/>
            <a:ext cx="2423160" cy="941832"/>
          </a:xfrm>
          <a:prstGeom prst="rect">
            <a:avLst/>
          </a:prstGeom>
          <a:noFill/>
          <a:ln/>
        </p:spPr>
        <p:txBody>
          <a:bodyPr wrap="square" lIns="0" tIns="0" rIns="0" bIns="0" rtlCol="0" anchor="ctr">
            <a:normAutofit/>
          </a:bodyPr>
          <a:lstStyle/>
          <a:p>
            <a:pPr indent="0" marL="0">
              <a:buNone/>
            </a:pPr>
            <a:r>
              <a:rPr lang="en-US" sz="1820" b="1" dirty="0">
                <a:solidFill>
                  <a:srgbClr val="171716"/>
                </a:solidFill>
                <a:latin typeface="Aptos" pitchFamily="34" charset="0"/>
                <a:ea typeface="Aptos" pitchFamily="34" charset="-122"/>
                <a:cs typeface="Aptos" pitchFamily="34" charset="-120"/>
              </a:rPr>
              <a:t>Training tokens, RL rollout tasks, evaluation cases</a:t>
            </a:r>
            <a:endParaRPr lang="en-US" sz="1820" dirty="0"/>
          </a:p>
        </p:txBody>
      </p:sp>
      <p:sp>
        <p:nvSpPr>
          <p:cNvPr id="12" name="Shape 10"/>
          <p:cNvSpPr/>
          <p:nvPr/>
        </p:nvSpPr>
        <p:spPr>
          <a:xfrm>
            <a:off x="758952" y="4005072"/>
            <a:ext cx="2395728" cy="0"/>
          </a:xfrm>
          <a:prstGeom prst="line">
            <a:avLst/>
          </a:prstGeom>
          <a:noFill/>
          <a:ln w="9525">
            <a:solidFill>
              <a:srgbClr val="DCD7D1"/>
            </a:solidFill>
            <a:prstDash val="solid"/>
          </a:ln>
        </p:spPr>
      </p:sp>
      <p:sp>
        <p:nvSpPr>
          <p:cNvPr id="13" name="Text 11"/>
          <p:cNvSpPr/>
          <p:nvPr/>
        </p:nvSpPr>
        <p:spPr>
          <a:xfrm>
            <a:off x="758952" y="4270248"/>
            <a:ext cx="2395728" cy="813816"/>
          </a:xfrm>
          <a:prstGeom prst="rect">
            <a:avLst/>
          </a:prstGeom>
          <a:noFill/>
          <a:ln/>
        </p:spPr>
        <p:txBody>
          <a:bodyPr wrap="square" lIns="0" tIns="0" rIns="0" bIns="0" rtlCol="0" anchor="ctr">
            <a:normAutofit/>
          </a:bodyPr>
          <a:lstStyle/>
          <a:p>
            <a:pPr indent="0" marL="0">
              <a:buNone/>
            </a:pPr>
            <a:r>
              <a:rPr lang="en-US" sz="1400" dirty="0">
                <a:solidFill>
                  <a:srgbClr val="5F5B57"/>
                </a:solidFill>
                <a:latin typeface="Aptos" pitchFamily="34" charset="0"/>
                <a:ea typeface="Aptos" pitchFamily="34" charset="-122"/>
                <a:cs typeface="Aptos" pitchFamily="34" charset="-120"/>
              </a:rPr>
              <a:t>Demand by model, context and iteration</a:t>
            </a:r>
            <a:endParaRPr lang="en-US" sz="1400" dirty="0"/>
          </a:p>
        </p:txBody>
      </p:sp>
      <p:sp>
        <p:nvSpPr>
          <p:cNvPr id="14" name="Text 12"/>
          <p:cNvSpPr/>
          <p:nvPr/>
        </p:nvSpPr>
        <p:spPr>
          <a:xfrm>
            <a:off x="3227832" y="3456432"/>
            <a:ext cx="292608" cy="420624"/>
          </a:xfrm>
          <a:prstGeom prst="rect">
            <a:avLst/>
          </a:prstGeom>
          <a:noFill/>
          <a:ln/>
        </p:spPr>
        <p:txBody>
          <a:bodyPr wrap="square" lIns="0" tIns="0" rIns="0" bIns="0" rtlCol="0" anchor="ctr">
            <a:normAutofit/>
          </a:bodyPr>
          <a:lstStyle/>
          <a:p>
            <a:pPr algn="ctr" indent="0" marL="0">
              <a:buNone/>
            </a:pPr>
            <a:r>
              <a:rPr lang="en-US" sz="2500" b="1" dirty="0">
                <a:solidFill>
                  <a:srgbClr val="F44B00"/>
                </a:solidFill>
                <a:latin typeface="Aptos" pitchFamily="34" charset="0"/>
                <a:ea typeface="Aptos" pitchFamily="34" charset="-122"/>
                <a:cs typeface="Aptos" pitchFamily="34" charset="-120"/>
              </a:rPr>
              <a:t>›</a:t>
            </a:r>
            <a:endParaRPr lang="en-US" sz="2500" dirty="0"/>
          </a:p>
        </p:txBody>
      </p:sp>
      <p:sp>
        <p:nvSpPr>
          <p:cNvPr id="15" name="Shape 13"/>
          <p:cNvSpPr/>
          <p:nvPr/>
        </p:nvSpPr>
        <p:spPr>
          <a:xfrm>
            <a:off x="3493008" y="2157984"/>
            <a:ext cx="2724912" cy="3474720"/>
          </a:xfrm>
          <a:prstGeom prst="roundRect">
            <a:avLst>
              <a:gd name="adj" fmla="val 2685"/>
            </a:avLst>
          </a:prstGeom>
          <a:solidFill>
            <a:srgbClr val="FFFFFF"/>
          </a:solidFill>
          <a:ln w="10160">
            <a:solidFill>
              <a:srgbClr val="DCD7D1"/>
            </a:solidFill>
            <a:prstDash val="solid"/>
          </a:ln>
        </p:spPr>
      </p:sp>
      <p:sp>
        <p:nvSpPr>
          <p:cNvPr id="16" name="Text 14"/>
          <p:cNvSpPr/>
          <p:nvPr/>
        </p:nvSpPr>
        <p:spPr>
          <a:xfrm>
            <a:off x="3657600" y="2423160"/>
            <a:ext cx="2414016" cy="265176"/>
          </a:xfrm>
          <a:prstGeom prst="rect">
            <a:avLst/>
          </a:prstGeom>
          <a:noFill/>
          <a:ln/>
        </p:spPr>
        <p:txBody>
          <a:bodyPr wrap="square" lIns="0" tIns="0" rIns="0" bIns="0" rtlCol="0" anchor="ctr">
            <a:normAutofit/>
          </a:bodyPr>
          <a:lstStyle/>
          <a:p>
            <a:pPr indent="0" marL="0">
              <a:buNone/>
            </a:pPr>
            <a:r>
              <a:rPr lang="en-US" sz="1200" b="1" dirty="0">
                <a:solidFill>
                  <a:srgbClr val="F44B00"/>
                </a:solidFill>
                <a:latin typeface="Aptos" pitchFamily="34" charset="0"/>
                <a:ea typeface="Aptos" pitchFamily="34" charset="-122"/>
                <a:cs typeface="Aptos" pitchFamily="34" charset="-120"/>
              </a:rPr>
              <a:t>02  ENGINE SPEED</a:t>
            </a:r>
            <a:endParaRPr lang="en-US" sz="1200" dirty="0"/>
          </a:p>
        </p:txBody>
      </p:sp>
      <p:sp>
        <p:nvSpPr>
          <p:cNvPr id="17" name="Text 15"/>
          <p:cNvSpPr/>
          <p:nvPr/>
        </p:nvSpPr>
        <p:spPr>
          <a:xfrm>
            <a:off x="3657600" y="2907792"/>
            <a:ext cx="2423160" cy="941832"/>
          </a:xfrm>
          <a:prstGeom prst="rect">
            <a:avLst/>
          </a:prstGeom>
          <a:noFill/>
          <a:ln/>
        </p:spPr>
        <p:txBody>
          <a:bodyPr wrap="square" lIns="0" tIns="0" rIns="0" bIns="0" rtlCol="0" anchor="ctr">
            <a:normAutofit/>
          </a:bodyPr>
          <a:lstStyle/>
          <a:p>
            <a:pPr indent="0" marL="0">
              <a:buNone/>
            </a:pPr>
            <a:r>
              <a:rPr lang="en-US" sz="1820" b="1" dirty="0">
                <a:solidFill>
                  <a:srgbClr val="171716"/>
                </a:solidFill>
                <a:latin typeface="Aptos" pitchFamily="34" charset="0"/>
                <a:ea typeface="Aptos" pitchFamily="34" charset="-122"/>
                <a:cs typeface="Aptos" pitchFamily="34" charset="-120"/>
              </a:rPr>
              <a:t>Measured task / token throughput per GPU-hour</a:t>
            </a:r>
            <a:endParaRPr lang="en-US" sz="1820" dirty="0"/>
          </a:p>
        </p:txBody>
      </p:sp>
      <p:sp>
        <p:nvSpPr>
          <p:cNvPr id="18" name="Shape 16"/>
          <p:cNvSpPr/>
          <p:nvPr/>
        </p:nvSpPr>
        <p:spPr>
          <a:xfrm>
            <a:off x="3657600" y="4005072"/>
            <a:ext cx="2395728" cy="0"/>
          </a:xfrm>
          <a:prstGeom prst="line">
            <a:avLst/>
          </a:prstGeom>
          <a:noFill/>
          <a:ln w="9525">
            <a:solidFill>
              <a:srgbClr val="DCD7D1"/>
            </a:solidFill>
            <a:prstDash val="solid"/>
          </a:ln>
        </p:spPr>
      </p:sp>
      <p:sp>
        <p:nvSpPr>
          <p:cNvPr id="19" name="Text 17"/>
          <p:cNvSpPr/>
          <p:nvPr/>
        </p:nvSpPr>
        <p:spPr>
          <a:xfrm>
            <a:off x="3657600" y="4270248"/>
            <a:ext cx="2395728" cy="813816"/>
          </a:xfrm>
          <a:prstGeom prst="rect">
            <a:avLst/>
          </a:prstGeom>
          <a:noFill/>
          <a:ln/>
        </p:spPr>
        <p:txBody>
          <a:bodyPr wrap="square" lIns="0" tIns="0" rIns="0" bIns="0" rtlCol="0" anchor="ctr">
            <a:normAutofit/>
          </a:bodyPr>
          <a:lstStyle/>
          <a:p>
            <a:pPr indent="0" marL="0">
              <a:buNone/>
            </a:pPr>
            <a:r>
              <a:rPr lang="en-US" sz="1400" dirty="0">
                <a:solidFill>
                  <a:srgbClr val="5F5B57"/>
                </a:solidFill>
                <a:latin typeface="Aptos" pitchFamily="34" charset="0"/>
                <a:ea typeface="Aptos" pitchFamily="34" charset="-122"/>
                <a:cs typeface="Aptos" pitchFamily="34" charset="-120"/>
              </a:rPr>
              <a:t>Different benchmark for each workload</a:t>
            </a:r>
            <a:endParaRPr lang="en-US" sz="1400" dirty="0"/>
          </a:p>
        </p:txBody>
      </p:sp>
      <p:sp>
        <p:nvSpPr>
          <p:cNvPr id="20" name="Text 18"/>
          <p:cNvSpPr/>
          <p:nvPr/>
        </p:nvSpPr>
        <p:spPr>
          <a:xfrm>
            <a:off x="6126480" y="3456432"/>
            <a:ext cx="292608" cy="420624"/>
          </a:xfrm>
          <a:prstGeom prst="rect">
            <a:avLst/>
          </a:prstGeom>
          <a:noFill/>
          <a:ln/>
        </p:spPr>
        <p:txBody>
          <a:bodyPr wrap="square" lIns="0" tIns="0" rIns="0" bIns="0" rtlCol="0" anchor="ctr">
            <a:normAutofit/>
          </a:bodyPr>
          <a:lstStyle/>
          <a:p>
            <a:pPr algn="ctr" indent="0" marL="0">
              <a:buNone/>
            </a:pPr>
            <a:r>
              <a:rPr lang="en-US" sz="2500" b="1" dirty="0">
                <a:solidFill>
                  <a:srgbClr val="F44B00"/>
                </a:solidFill>
                <a:latin typeface="Aptos" pitchFamily="34" charset="0"/>
                <a:ea typeface="Aptos" pitchFamily="34" charset="-122"/>
                <a:cs typeface="Aptos" pitchFamily="34" charset="-120"/>
              </a:rPr>
              <a:t>›</a:t>
            </a:r>
            <a:endParaRPr lang="en-US" sz="2500" dirty="0"/>
          </a:p>
        </p:txBody>
      </p:sp>
      <p:sp>
        <p:nvSpPr>
          <p:cNvPr id="21" name="Shape 19"/>
          <p:cNvSpPr/>
          <p:nvPr/>
        </p:nvSpPr>
        <p:spPr>
          <a:xfrm>
            <a:off x="6391656" y="2157984"/>
            <a:ext cx="2724912" cy="3474720"/>
          </a:xfrm>
          <a:prstGeom prst="roundRect">
            <a:avLst>
              <a:gd name="adj" fmla="val 2685"/>
            </a:avLst>
          </a:prstGeom>
          <a:solidFill>
            <a:srgbClr val="FFFFFF"/>
          </a:solidFill>
          <a:ln w="10160">
            <a:solidFill>
              <a:srgbClr val="DCD7D1"/>
            </a:solidFill>
            <a:prstDash val="solid"/>
          </a:ln>
        </p:spPr>
      </p:sp>
      <p:sp>
        <p:nvSpPr>
          <p:cNvPr id="22" name="Text 20"/>
          <p:cNvSpPr/>
          <p:nvPr/>
        </p:nvSpPr>
        <p:spPr>
          <a:xfrm>
            <a:off x="6556248" y="2423160"/>
            <a:ext cx="2414016" cy="265176"/>
          </a:xfrm>
          <a:prstGeom prst="rect">
            <a:avLst/>
          </a:prstGeom>
          <a:noFill/>
          <a:ln/>
        </p:spPr>
        <p:txBody>
          <a:bodyPr wrap="square" lIns="0" tIns="0" rIns="0" bIns="0" rtlCol="0" anchor="ctr">
            <a:normAutofit/>
          </a:bodyPr>
          <a:lstStyle/>
          <a:p>
            <a:pPr indent="0" marL="0">
              <a:buNone/>
            </a:pPr>
            <a:r>
              <a:rPr lang="en-US" sz="1200" b="1" dirty="0">
                <a:solidFill>
                  <a:srgbClr val="F44B00"/>
                </a:solidFill>
                <a:latin typeface="Aptos" pitchFamily="34" charset="0"/>
                <a:ea typeface="Aptos" pitchFamily="34" charset="-122"/>
                <a:cs typeface="Aptos" pitchFamily="34" charset="-120"/>
              </a:rPr>
              <a:t>03  GPU REQUIREMENT</a:t>
            </a:r>
            <a:endParaRPr lang="en-US" sz="1200" dirty="0"/>
          </a:p>
        </p:txBody>
      </p:sp>
      <p:sp>
        <p:nvSpPr>
          <p:cNvPr id="23" name="Text 21"/>
          <p:cNvSpPr/>
          <p:nvPr/>
        </p:nvSpPr>
        <p:spPr>
          <a:xfrm>
            <a:off x="6556248" y="2907792"/>
            <a:ext cx="2423160" cy="941832"/>
          </a:xfrm>
          <a:prstGeom prst="rect">
            <a:avLst/>
          </a:prstGeom>
          <a:noFill/>
          <a:ln/>
        </p:spPr>
        <p:txBody>
          <a:bodyPr wrap="square" lIns="0" tIns="0" rIns="0" bIns="0" rtlCol="0" anchor="ctr">
            <a:normAutofit/>
          </a:bodyPr>
          <a:lstStyle/>
          <a:p>
            <a:pPr indent="0" marL="0">
              <a:buNone/>
            </a:pPr>
            <a:r>
              <a:rPr lang="en-US" sz="1820" b="1" dirty="0">
                <a:solidFill>
                  <a:srgbClr val="171716"/>
                </a:solidFill>
                <a:latin typeface="Aptos" pitchFamily="34" charset="0"/>
                <a:ea typeface="Aptos" pitchFamily="34" charset="-122"/>
                <a:cs typeface="Aptos" pitchFamily="34" charset="-120"/>
              </a:rPr>
              <a:t>Demand ÷ measured throughput = GPU-hours</a:t>
            </a:r>
            <a:endParaRPr lang="en-US" sz="1820" dirty="0"/>
          </a:p>
        </p:txBody>
      </p:sp>
      <p:sp>
        <p:nvSpPr>
          <p:cNvPr id="24" name="Shape 22"/>
          <p:cNvSpPr/>
          <p:nvPr/>
        </p:nvSpPr>
        <p:spPr>
          <a:xfrm>
            <a:off x="6556248" y="4005072"/>
            <a:ext cx="2395728" cy="0"/>
          </a:xfrm>
          <a:prstGeom prst="line">
            <a:avLst/>
          </a:prstGeom>
          <a:noFill/>
          <a:ln w="9525">
            <a:solidFill>
              <a:srgbClr val="DCD7D1"/>
            </a:solidFill>
            <a:prstDash val="solid"/>
          </a:ln>
        </p:spPr>
      </p:sp>
      <p:sp>
        <p:nvSpPr>
          <p:cNvPr id="25" name="Text 23"/>
          <p:cNvSpPr/>
          <p:nvPr/>
        </p:nvSpPr>
        <p:spPr>
          <a:xfrm>
            <a:off x="6556248" y="4270248"/>
            <a:ext cx="2395728" cy="813816"/>
          </a:xfrm>
          <a:prstGeom prst="rect">
            <a:avLst/>
          </a:prstGeom>
          <a:noFill/>
          <a:ln/>
        </p:spPr>
        <p:txBody>
          <a:bodyPr wrap="square" lIns="0" tIns="0" rIns="0" bIns="0" rtlCol="0" anchor="ctr">
            <a:normAutofit/>
          </a:bodyPr>
          <a:lstStyle/>
          <a:p>
            <a:pPr indent="0" marL="0">
              <a:buNone/>
            </a:pPr>
            <a:r>
              <a:rPr lang="en-US" sz="1400" dirty="0">
                <a:solidFill>
                  <a:srgbClr val="5F5B57"/>
                </a:solidFill>
                <a:latin typeface="Aptos" pitchFamily="34" charset="0"/>
                <a:ea typeface="Aptos" pitchFamily="34" charset="-122"/>
                <a:cs typeface="Aptos" pitchFamily="34" charset="-120"/>
              </a:rPr>
              <a:t>Apply warm-capacity / scheduling floors</a:t>
            </a:r>
            <a:endParaRPr lang="en-US" sz="1400" dirty="0"/>
          </a:p>
        </p:txBody>
      </p:sp>
      <p:sp>
        <p:nvSpPr>
          <p:cNvPr id="26" name="Text 24"/>
          <p:cNvSpPr/>
          <p:nvPr/>
        </p:nvSpPr>
        <p:spPr>
          <a:xfrm>
            <a:off x="9025128" y="3456432"/>
            <a:ext cx="292608" cy="420624"/>
          </a:xfrm>
          <a:prstGeom prst="rect">
            <a:avLst/>
          </a:prstGeom>
          <a:noFill/>
          <a:ln/>
        </p:spPr>
        <p:txBody>
          <a:bodyPr wrap="square" lIns="0" tIns="0" rIns="0" bIns="0" rtlCol="0" anchor="ctr">
            <a:normAutofit/>
          </a:bodyPr>
          <a:lstStyle/>
          <a:p>
            <a:pPr algn="ctr" indent="0" marL="0">
              <a:buNone/>
            </a:pPr>
            <a:r>
              <a:rPr lang="en-US" sz="2500" b="1" dirty="0">
                <a:solidFill>
                  <a:srgbClr val="F44B00"/>
                </a:solidFill>
                <a:latin typeface="Aptos" pitchFamily="34" charset="0"/>
                <a:ea typeface="Aptos" pitchFamily="34" charset="-122"/>
                <a:cs typeface="Aptos" pitchFamily="34" charset="-120"/>
              </a:rPr>
              <a:t>›</a:t>
            </a:r>
            <a:endParaRPr lang="en-US" sz="2500" dirty="0"/>
          </a:p>
        </p:txBody>
      </p:sp>
      <p:sp>
        <p:nvSpPr>
          <p:cNvPr id="27" name="Shape 25"/>
          <p:cNvSpPr/>
          <p:nvPr/>
        </p:nvSpPr>
        <p:spPr>
          <a:xfrm>
            <a:off x="9290304" y="2157984"/>
            <a:ext cx="2724912" cy="3474720"/>
          </a:xfrm>
          <a:prstGeom prst="roundRect">
            <a:avLst>
              <a:gd name="adj" fmla="val 2685"/>
            </a:avLst>
          </a:prstGeom>
          <a:solidFill>
            <a:srgbClr val="FFFFFF"/>
          </a:solidFill>
          <a:ln w="10160">
            <a:solidFill>
              <a:srgbClr val="DCD7D1"/>
            </a:solidFill>
            <a:prstDash val="solid"/>
          </a:ln>
        </p:spPr>
      </p:sp>
      <p:sp>
        <p:nvSpPr>
          <p:cNvPr id="28" name="Text 26"/>
          <p:cNvSpPr/>
          <p:nvPr/>
        </p:nvSpPr>
        <p:spPr>
          <a:xfrm>
            <a:off x="9454896" y="2423160"/>
            <a:ext cx="2414016" cy="265176"/>
          </a:xfrm>
          <a:prstGeom prst="rect">
            <a:avLst/>
          </a:prstGeom>
          <a:noFill/>
          <a:ln/>
        </p:spPr>
        <p:txBody>
          <a:bodyPr wrap="square" lIns="0" tIns="0" rIns="0" bIns="0" rtlCol="0" anchor="ctr">
            <a:normAutofit/>
          </a:bodyPr>
          <a:lstStyle/>
          <a:p>
            <a:pPr indent="0" marL="0">
              <a:buNone/>
            </a:pPr>
            <a:r>
              <a:rPr lang="en-US" sz="1200" b="1" dirty="0">
                <a:solidFill>
                  <a:srgbClr val="F44B00"/>
                </a:solidFill>
                <a:latin typeface="Aptos" pitchFamily="34" charset="0"/>
                <a:ea typeface="Aptos" pitchFamily="34" charset="-122"/>
                <a:cs typeface="Aptos" pitchFamily="34" charset="-120"/>
              </a:rPr>
              <a:t>04  DOLLAR COST</a:t>
            </a:r>
            <a:endParaRPr lang="en-US" sz="1200" dirty="0"/>
          </a:p>
        </p:txBody>
      </p:sp>
      <p:sp>
        <p:nvSpPr>
          <p:cNvPr id="29" name="Text 27"/>
          <p:cNvSpPr/>
          <p:nvPr/>
        </p:nvSpPr>
        <p:spPr>
          <a:xfrm>
            <a:off x="9454896" y="2907792"/>
            <a:ext cx="2423160" cy="941832"/>
          </a:xfrm>
          <a:prstGeom prst="rect">
            <a:avLst/>
          </a:prstGeom>
          <a:noFill/>
          <a:ln/>
        </p:spPr>
        <p:txBody>
          <a:bodyPr wrap="square" lIns="0" tIns="0" rIns="0" bIns="0" rtlCol="0" anchor="ctr">
            <a:normAutofit/>
          </a:bodyPr>
          <a:lstStyle/>
          <a:p>
            <a:pPr indent="0" marL="0">
              <a:buNone/>
            </a:pPr>
            <a:r>
              <a:rPr lang="en-US" sz="1820" b="1" dirty="0">
                <a:solidFill>
                  <a:srgbClr val="171716"/>
                </a:solidFill>
                <a:latin typeface="Aptos" pitchFamily="34" charset="0"/>
                <a:ea typeface="Aptos" pitchFamily="34" charset="-122"/>
                <a:cs typeface="Aptos" pitchFamily="34" charset="-120"/>
              </a:rPr>
              <a:t>Paid GPU-hours × supplier rate + delivery costs</a:t>
            </a:r>
            <a:endParaRPr lang="en-US" sz="1820" dirty="0"/>
          </a:p>
        </p:txBody>
      </p:sp>
      <p:sp>
        <p:nvSpPr>
          <p:cNvPr id="30" name="Shape 28"/>
          <p:cNvSpPr/>
          <p:nvPr/>
        </p:nvSpPr>
        <p:spPr>
          <a:xfrm>
            <a:off x="9454896" y="4005072"/>
            <a:ext cx="2395728" cy="0"/>
          </a:xfrm>
          <a:prstGeom prst="line">
            <a:avLst/>
          </a:prstGeom>
          <a:noFill/>
          <a:ln w="9525">
            <a:solidFill>
              <a:srgbClr val="DCD7D1"/>
            </a:solidFill>
            <a:prstDash val="solid"/>
          </a:ln>
        </p:spPr>
      </p:sp>
      <p:sp>
        <p:nvSpPr>
          <p:cNvPr id="31" name="Text 29"/>
          <p:cNvSpPr/>
          <p:nvPr/>
        </p:nvSpPr>
        <p:spPr>
          <a:xfrm>
            <a:off x="9454896" y="4270248"/>
            <a:ext cx="2395728" cy="813816"/>
          </a:xfrm>
          <a:prstGeom prst="rect">
            <a:avLst/>
          </a:prstGeom>
          <a:noFill/>
          <a:ln/>
        </p:spPr>
        <p:txBody>
          <a:bodyPr wrap="square" lIns="0" tIns="0" rIns="0" bIns="0" rtlCol="0" anchor="ctr">
            <a:normAutofit/>
          </a:bodyPr>
          <a:lstStyle/>
          <a:p>
            <a:pPr indent="0" marL="0">
              <a:buNone/>
            </a:pPr>
            <a:r>
              <a:rPr lang="en-US" sz="1400" dirty="0">
                <a:solidFill>
                  <a:srgbClr val="5F5B57"/>
                </a:solidFill>
                <a:latin typeface="Aptos" pitchFamily="34" charset="0"/>
                <a:ea typeface="Aptos" pitchFamily="34" charset="-122"/>
                <a:cs typeface="Aptos" pitchFamily="34" charset="-120"/>
              </a:rPr>
              <a:t>Add labor, judges, storage and rework</a:t>
            </a:r>
            <a:endParaRPr lang="en-US" sz="1400" dirty="0"/>
          </a:p>
        </p:txBody>
      </p:sp>
      <p:sp>
        <p:nvSpPr>
          <p:cNvPr id="32" name="Shape 30"/>
          <p:cNvSpPr/>
          <p:nvPr/>
        </p:nvSpPr>
        <p:spPr>
          <a:xfrm>
            <a:off x="612648" y="5788152"/>
            <a:ext cx="10991088" cy="448056"/>
          </a:xfrm>
          <a:prstGeom prst="rect">
            <a:avLst/>
          </a:prstGeom>
          <a:solidFill>
            <a:srgbClr val="171716"/>
          </a:solidFill>
          <a:ln w="7620">
            <a:solidFill>
              <a:srgbClr val="171716">
                <a:alpha val="0"/>
              </a:srgbClr>
            </a:solidFill>
            <a:prstDash val="solid"/>
          </a:ln>
        </p:spPr>
      </p:sp>
      <p:sp>
        <p:nvSpPr>
          <p:cNvPr id="33" name="Text 31"/>
          <p:cNvSpPr/>
          <p:nvPr/>
        </p:nvSpPr>
        <p:spPr>
          <a:xfrm>
            <a:off x="749808" y="5870448"/>
            <a:ext cx="10716768" cy="274320"/>
          </a:xfrm>
          <a:prstGeom prst="rect">
            <a:avLst/>
          </a:prstGeom>
          <a:noFill/>
          <a:ln/>
        </p:spPr>
        <p:txBody>
          <a:bodyPr wrap="square" lIns="0" tIns="0" rIns="0" bIns="0" rtlCol="0" anchor="ctr">
            <a:normAutofit/>
          </a:bodyPr>
          <a:lstStyle/>
          <a:p>
            <a:pPr algn="ctr" indent="0" marL="0">
              <a:buNone/>
            </a:pPr>
            <a:r>
              <a:rPr lang="en-US" sz="1280" b="1" dirty="0">
                <a:solidFill>
                  <a:srgbClr val="FFFFFF"/>
                </a:solidFill>
                <a:latin typeface="Aptos" pitchFamily="34" charset="0"/>
                <a:ea typeface="Aptos" pitchFamily="34" charset="-122"/>
                <a:cs typeface="Aptos" pitchFamily="34" charset="-120"/>
              </a:rPr>
              <a:t>Policy updates, rollouts and evaluations need separate measured rates. Tokens size demand; capacity contracts determine dollars.</a:t>
            </a:r>
            <a:endParaRPr lang="en-US" sz="12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F44B00"/>
          </a:solidFill>
          <a:ln w="7620">
            <a:solidFill>
              <a:srgbClr val="F44B00">
                <a:alpha val="0"/>
              </a:srgbClr>
            </a:solidFill>
            <a:prstDash val="solid"/>
          </a:ln>
        </p:spPr>
      </p:sp>
      <p:sp>
        <p:nvSpPr>
          <p:cNvPr id="3" name="Text 1"/>
          <p:cNvSpPr/>
          <p:nvPr/>
        </p:nvSpPr>
        <p:spPr>
          <a:xfrm>
            <a:off x="548640" y="338328"/>
            <a:ext cx="3383280" cy="283464"/>
          </a:xfrm>
          <a:prstGeom prst="rect">
            <a:avLst/>
          </a:prstGeom>
          <a:noFill/>
          <a:ln/>
        </p:spPr>
        <p:txBody>
          <a:bodyPr wrap="square" lIns="0" tIns="0" rIns="0" bIns="0" rtlCol="0" anchor="ctr">
            <a:normAutofit/>
          </a:bodyPr>
          <a:lstStyle/>
          <a:p>
            <a:pPr indent="0" marL="0">
              <a:buNone/>
            </a:pPr>
            <a:r>
              <a:rPr lang="en-US" sz="1200" b="1" spc="160" kern="0" dirty="0">
                <a:solidFill>
                  <a:srgbClr val="171716"/>
                </a:solidFill>
                <a:latin typeface="Aptos" pitchFamily="34" charset="0"/>
                <a:ea typeface="Aptos" pitchFamily="34" charset="-122"/>
                <a:cs typeface="Aptos" pitchFamily="34" charset="-120"/>
              </a:rPr>
              <a:t>APPLIED COMPUTE</a:t>
            </a:r>
            <a:endParaRPr lang="en-US" sz="1200" dirty="0"/>
          </a:p>
        </p:txBody>
      </p:sp>
      <p:sp>
        <p:nvSpPr>
          <p:cNvPr id="4" name="Text 2"/>
          <p:cNvSpPr/>
          <p:nvPr/>
        </p:nvSpPr>
        <p:spPr>
          <a:xfrm>
            <a:off x="8503920" y="365760"/>
            <a:ext cx="3063240" cy="210312"/>
          </a:xfrm>
          <a:prstGeom prst="rect">
            <a:avLst/>
          </a:prstGeom>
          <a:noFill/>
          <a:ln/>
        </p:spPr>
        <p:txBody>
          <a:bodyPr wrap="square" lIns="0" tIns="0" rIns="0" bIns="0" rtlCol="0" anchor="ctr">
            <a:normAutofit/>
          </a:bodyPr>
          <a:lstStyle/>
          <a:p>
            <a:pPr algn="r" indent="0" marL="0">
              <a:buNone/>
            </a:pPr>
            <a:r>
              <a:rPr lang="en-US" sz="1000" b="1" spc="100" kern="0" dirty="0">
                <a:solidFill>
                  <a:srgbClr val="857F78"/>
                </a:solidFill>
                <a:latin typeface="Aptos" pitchFamily="34" charset="0"/>
                <a:ea typeface="Aptos" pitchFamily="34" charset="-122"/>
                <a:cs typeface="Aptos" pitchFamily="34" charset="-120"/>
              </a:rPr>
              <a:t>03 / CUSTOMER QUOTE</a:t>
            </a:r>
            <a:endParaRPr lang="en-US" sz="1000" dirty="0"/>
          </a:p>
        </p:txBody>
      </p:sp>
      <p:sp>
        <p:nvSpPr>
          <p:cNvPr id="5" name="Text 3"/>
          <p:cNvSpPr/>
          <p:nvPr/>
        </p:nvSpPr>
        <p:spPr>
          <a:xfrm>
            <a:off x="557784" y="932688"/>
            <a:ext cx="11036808" cy="1024128"/>
          </a:xfrm>
          <a:prstGeom prst="rect">
            <a:avLst/>
          </a:prstGeom>
          <a:noFill/>
          <a:ln/>
        </p:spPr>
        <p:txBody>
          <a:bodyPr wrap="square" lIns="0" tIns="0" rIns="0" bIns="0" rtlCol="0" anchor="ctr">
            <a:normAutofit/>
          </a:bodyPr>
          <a:lstStyle/>
          <a:p>
            <a:pPr indent="0" marL="0">
              <a:buNone/>
            </a:pPr>
            <a:r>
              <a:rPr lang="en-US" sz="3100" b="1" dirty="0">
                <a:solidFill>
                  <a:srgbClr val="171716"/>
                </a:solidFill>
                <a:latin typeface="Aptos" pitchFamily="34" charset="0"/>
                <a:ea typeface="Aptos" pitchFamily="34" charset="-122"/>
                <a:cs typeface="Aptos" pitchFamily="34" charset="-120"/>
              </a:rPr>
              <a:t>The buyer sees four priced services, not a value pitch</a:t>
            </a:r>
            <a:endParaRPr lang="en-US" sz="3100" dirty="0"/>
          </a:p>
        </p:txBody>
      </p:sp>
      <p:sp>
        <p:nvSpPr>
          <p:cNvPr id="6" name="Shape 4"/>
          <p:cNvSpPr/>
          <p:nvPr/>
        </p:nvSpPr>
        <p:spPr>
          <a:xfrm>
            <a:off x="557784" y="6483096"/>
            <a:ext cx="11055096" cy="0"/>
          </a:xfrm>
          <a:prstGeom prst="line">
            <a:avLst/>
          </a:prstGeom>
          <a:noFill/>
          <a:ln w="9525">
            <a:solidFill>
              <a:srgbClr val="DCD7D1"/>
            </a:solidFill>
            <a:prstDash val="solid"/>
          </a:ln>
        </p:spPr>
      </p:sp>
      <p:sp>
        <p:nvSpPr>
          <p:cNvPr id="7" name="Text 5"/>
          <p:cNvSpPr/>
          <p:nvPr/>
        </p:nvSpPr>
        <p:spPr>
          <a:xfrm>
            <a:off x="557784" y="6565392"/>
            <a:ext cx="8412480" cy="128016"/>
          </a:xfrm>
          <a:prstGeom prst="rect">
            <a:avLst/>
          </a:prstGeom>
          <a:noFill/>
          <a:ln/>
        </p:spPr>
        <p:txBody>
          <a:bodyPr wrap="square" lIns="0" tIns="0" rIns="0" bIns="0" rtlCol="0" anchor="ctr">
            <a:normAutofit/>
          </a:bodyPr>
          <a:lstStyle/>
          <a:p>
            <a:pPr indent="0" marL="0">
              <a:buNone/>
            </a:pPr>
            <a:r>
              <a:rPr lang="en-US" sz="820" b="1" dirty="0">
                <a:solidFill>
                  <a:srgbClr val="857F78"/>
                </a:solidFill>
                <a:latin typeface="Aptos" pitchFamily="34" charset="0"/>
                <a:ea typeface="Aptos" pitchFamily="34" charset="-122"/>
                <a:cs typeface="Aptos" pitchFamily="34" charset="-120"/>
              </a:rPr>
              <a:t>ENTERPRISE DEAL ECONOMICS  /  ILLUSTRATIVE FRAMEWORK</a:t>
            </a:r>
            <a:endParaRPr lang="en-US" sz="820" dirty="0"/>
          </a:p>
        </p:txBody>
      </p:sp>
      <p:sp>
        <p:nvSpPr>
          <p:cNvPr id="8" name="Text 6"/>
          <p:cNvSpPr/>
          <p:nvPr/>
        </p:nvSpPr>
        <p:spPr>
          <a:xfrm>
            <a:off x="11173968" y="6547104"/>
            <a:ext cx="411480" cy="146304"/>
          </a:xfrm>
          <a:prstGeom prst="rect">
            <a:avLst/>
          </a:prstGeom>
          <a:noFill/>
          <a:ln/>
        </p:spPr>
        <p:txBody>
          <a:bodyPr wrap="square" lIns="0" tIns="0" rIns="0" bIns="0" rtlCol="0" anchor="ctr">
            <a:normAutofit/>
          </a:bodyPr>
          <a:lstStyle/>
          <a:p>
            <a:pPr algn="r" indent="0" marL="0">
              <a:buNone/>
            </a:pPr>
            <a:r>
              <a:rPr lang="en-US" sz="900" b="1" dirty="0">
                <a:solidFill>
                  <a:srgbClr val="5F5B57"/>
                </a:solidFill>
                <a:latin typeface="Aptos" pitchFamily="34" charset="0"/>
                <a:ea typeface="Aptos" pitchFamily="34" charset="-122"/>
                <a:cs typeface="Aptos" pitchFamily="34" charset="-120"/>
              </a:rPr>
              <a:t>08</a:t>
            </a:r>
            <a:endParaRPr lang="en-US" sz="900" dirty="0"/>
          </a:p>
        </p:txBody>
      </p:sp>
      <p:sp>
        <p:nvSpPr>
          <p:cNvPr id="9" name="Shape 7"/>
          <p:cNvSpPr/>
          <p:nvPr/>
        </p:nvSpPr>
        <p:spPr>
          <a:xfrm>
            <a:off x="594360" y="2066544"/>
            <a:ext cx="11009376" cy="512064"/>
          </a:xfrm>
          <a:prstGeom prst="rect">
            <a:avLst/>
          </a:prstGeom>
          <a:solidFill>
            <a:srgbClr val="171716"/>
          </a:solidFill>
          <a:ln w="7620">
            <a:solidFill>
              <a:srgbClr val="171716">
                <a:alpha val="0"/>
              </a:srgbClr>
            </a:solidFill>
            <a:prstDash val="solid"/>
          </a:ln>
        </p:spPr>
      </p:sp>
      <p:sp>
        <p:nvSpPr>
          <p:cNvPr id="10" name="Text 8"/>
          <p:cNvSpPr/>
          <p:nvPr/>
        </p:nvSpPr>
        <p:spPr>
          <a:xfrm>
            <a:off x="786384" y="2212848"/>
            <a:ext cx="2560320" cy="173736"/>
          </a:xfrm>
          <a:prstGeom prst="rect">
            <a:avLst/>
          </a:prstGeom>
          <a:noFill/>
          <a:ln/>
        </p:spPr>
        <p:txBody>
          <a:bodyPr wrap="square" lIns="0" tIns="0" rIns="0" bIns="0" rtlCol="0" anchor="ctr">
            <a:normAutofit/>
          </a:bodyPr>
          <a:lstStyle/>
          <a:p>
            <a:pPr indent="0" marL="0">
              <a:buNone/>
            </a:pPr>
            <a:r>
              <a:rPr lang="en-US" sz="1180" b="1" dirty="0">
                <a:solidFill>
                  <a:srgbClr val="FFFFFF"/>
                </a:solidFill>
                <a:latin typeface="Aptos" pitchFamily="34" charset="0"/>
                <a:ea typeface="Aptos" pitchFamily="34" charset="-122"/>
                <a:cs typeface="Aptos" pitchFamily="34" charset="-120"/>
              </a:rPr>
              <a:t>SCOPE</a:t>
            </a:r>
            <a:endParaRPr lang="en-US" sz="1180" dirty="0"/>
          </a:p>
        </p:txBody>
      </p:sp>
      <p:sp>
        <p:nvSpPr>
          <p:cNvPr id="11" name="Text 9"/>
          <p:cNvSpPr/>
          <p:nvPr/>
        </p:nvSpPr>
        <p:spPr>
          <a:xfrm>
            <a:off x="3465576" y="2212848"/>
            <a:ext cx="2121408" cy="173736"/>
          </a:xfrm>
          <a:prstGeom prst="rect">
            <a:avLst/>
          </a:prstGeom>
          <a:noFill/>
          <a:ln/>
        </p:spPr>
        <p:txBody>
          <a:bodyPr wrap="square" lIns="0" tIns="0" rIns="0" bIns="0" rtlCol="0" anchor="ctr">
            <a:normAutofit/>
          </a:bodyPr>
          <a:lstStyle/>
          <a:p>
            <a:pPr indent="0" marL="0">
              <a:buNone/>
            </a:pPr>
            <a:r>
              <a:rPr lang="en-US" sz="1180" b="1" dirty="0">
                <a:solidFill>
                  <a:srgbClr val="FFFFFF"/>
                </a:solidFill>
                <a:latin typeface="Aptos" pitchFamily="34" charset="0"/>
                <a:ea typeface="Aptos" pitchFamily="34" charset="-122"/>
                <a:cs typeface="Aptos" pitchFamily="34" charset="-120"/>
              </a:rPr>
              <a:t>BILLABLE UNIT</a:t>
            </a:r>
            <a:endParaRPr lang="en-US" sz="1180" dirty="0"/>
          </a:p>
        </p:txBody>
      </p:sp>
      <p:sp>
        <p:nvSpPr>
          <p:cNvPr id="12" name="Text 10"/>
          <p:cNvSpPr/>
          <p:nvPr/>
        </p:nvSpPr>
        <p:spPr>
          <a:xfrm>
            <a:off x="5724144" y="2212848"/>
            <a:ext cx="1847088" cy="173736"/>
          </a:xfrm>
          <a:prstGeom prst="rect">
            <a:avLst/>
          </a:prstGeom>
          <a:noFill/>
          <a:ln/>
        </p:spPr>
        <p:txBody>
          <a:bodyPr wrap="square" lIns="0" tIns="0" rIns="0" bIns="0" rtlCol="0" anchor="ctr">
            <a:normAutofit/>
          </a:bodyPr>
          <a:lstStyle/>
          <a:p>
            <a:pPr indent="0" marL="0">
              <a:buNone/>
            </a:pPr>
            <a:r>
              <a:rPr lang="en-US" sz="1180" b="1" dirty="0">
                <a:solidFill>
                  <a:srgbClr val="FFFFFF"/>
                </a:solidFill>
                <a:latin typeface="Aptos" pitchFamily="34" charset="0"/>
                <a:ea typeface="Aptos" pitchFamily="34" charset="-122"/>
                <a:cs typeface="Aptos" pitchFamily="34" charset="-120"/>
              </a:rPr>
              <a:t>TOTAL</a:t>
            </a:r>
            <a:endParaRPr lang="en-US" sz="1180" dirty="0"/>
          </a:p>
        </p:txBody>
      </p:sp>
      <p:sp>
        <p:nvSpPr>
          <p:cNvPr id="13" name="Text 11"/>
          <p:cNvSpPr/>
          <p:nvPr/>
        </p:nvSpPr>
        <p:spPr>
          <a:xfrm>
            <a:off x="7726680" y="2212848"/>
            <a:ext cx="3401568" cy="173736"/>
          </a:xfrm>
          <a:prstGeom prst="rect">
            <a:avLst/>
          </a:prstGeom>
          <a:noFill/>
          <a:ln/>
        </p:spPr>
        <p:txBody>
          <a:bodyPr wrap="square" lIns="0" tIns="0" rIns="0" bIns="0" rtlCol="0" anchor="ctr">
            <a:normAutofit/>
          </a:bodyPr>
          <a:lstStyle/>
          <a:p>
            <a:pPr indent="0" marL="0">
              <a:buNone/>
            </a:pPr>
            <a:r>
              <a:rPr lang="en-US" sz="1180" b="1" dirty="0">
                <a:solidFill>
                  <a:srgbClr val="FFFFFF"/>
                </a:solidFill>
                <a:latin typeface="Aptos" pitchFamily="34" charset="0"/>
                <a:ea typeface="Aptos" pitchFamily="34" charset="-122"/>
                <a:cs typeface="Aptos" pitchFamily="34" charset="-120"/>
              </a:rPr>
              <a:t>CUSTOMER DELIVERABLE</a:t>
            </a:r>
            <a:endParaRPr lang="en-US" sz="1180" dirty="0"/>
          </a:p>
        </p:txBody>
      </p:sp>
      <p:sp>
        <p:nvSpPr>
          <p:cNvPr id="14" name="Shape 12"/>
          <p:cNvSpPr/>
          <p:nvPr/>
        </p:nvSpPr>
        <p:spPr>
          <a:xfrm>
            <a:off x="594360" y="2587752"/>
            <a:ext cx="11009376" cy="594360"/>
          </a:xfrm>
          <a:prstGeom prst="rect">
            <a:avLst/>
          </a:prstGeom>
          <a:solidFill>
            <a:srgbClr val="FFFFFF"/>
          </a:solidFill>
          <a:ln w="7620">
            <a:solidFill>
              <a:srgbClr val="FFFFFF">
                <a:alpha val="0"/>
              </a:srgbClr>
            </a:solidFill>
            <a:prstDash val="solid"/>
          </a:ln>
        </p:spPr>
      </p:sp>
      <p:sp>
        <p:nvSpPr>
          <p:cNvPr id="15" name="Text 13"/>
          <p:cNvSpPr/>
          <p:nvPr/>
        </p:nvSpPr>
        <p:spPr>
          <a:xfrm>
            <a:off x="786384" y="2743200"/>
            <a:ext cx="2542032" cy="265176"/>
          </a:xfrm>
          <a:prstGeom prst="rect">
            <a:avLst/>
          </a:prstGeom>
          <a:noFill/>
          <a:ln/>
        </p:spPr>
        <p:txBody>
          <a:bodyPr wrap="square" lIns="0" tIns="0" rIns="0" bIns="0" rtlCol="0" anchor="ctr">
            <a:normAutofit/>
          </a:bodyPr>
          <a:lstStyle/>
          <a:p>
            <a:pPr indent="0" marL="0">
              <a:buNone/>
            </a:pPr>
            <a:r>
              <a:rPr lang="en-US" sz="1350" b="1" dirty="0">
                <a:solidFill>
                  <a:srgbClr val="D83E00"/>
                </a:solidFill>
                <a:latin typeface="Aptos" pitchFamily="34" charset="0"/>
                <a:ea typeface="Aptos" pitchFamily="34" charset="-122"/>
                <a:cs typeface="Aptos" pitchFamily="34" charset="-120"/>
              </a:rPr>
              <a:t>READINESS</a:t>
            </a:r>
            <a:endParaRPr lang="en-US" sz="1350" dirty="0"/>
          </a:p>
        </p:txBody>
      </p:sp>
      <p:sp>
        <p:nvSpPr>
          <p:cNvPr id="16" name="Text 14"/>
          <p:cNvSpPr/>
          <p:nvPr/>
        </p:nvSpPr>
        <p:spPr>
          <a:xfrm>
            <a:off x="3465576" y="2734056"/>
            <a:ext cx="2112264" cy="274320"/>
          </a:xfrm>
          <a:prstGeom prst="rect">
            <a:avLst/>
          </a:prstGeom>
          <a:noFill/>
          <a:ln/>
        </p:spPr>
        <p:txBody>
          <a:bodyPr wrap="square" lIns="0" tIns="0" rIns="0" bIns="0" rtlCol="0" anchor="ctr">
            <a:normAutofit/>
          </a:bodyPr>
          <a:lstStyle/>
          <a:p>
            <a:pPr indent="0" marL="0">
              <a:buNone/>
            </a:pPr>
            <a:r>
              <a:rPr lang="en-US" sz="1400" dirty="0">
                <a:solidFill>
                  <a:srgbClr val="171716"/>
                </a:solidFill>
                <a:latin typeface="Aptos" pitchFamily="34" charset="0"/>
                <a:ea typeface="Aptos" pitchFamily="34" charset="-122"/>
                <a:cs typeface="Aptos" pitchFamily="34" charset="-120"/>
              </a:rPr>
              <a:t>1 phase</a:t>
            </a:r>
            <a:endParaRPr lang="en-US" sz="1400" dirty="0"/>
          </a:p>
        </p:txBody>
      </p:sp>
      <p:sp>
        <p:nvSpPr>
          <p:cNvPr id="17" name="Text 15"/>
          <p:cNvSpPr/>
          <p:nvPr/>
        </p:nvSpPr>
        <p:spPr>
          <a:xfrm>
            <a:off x="5715000" y="2706624"/>
            <a:ext cx="1792224" cy="292608"/>
          </a:xfrm>
          <a:prstGeom prst="rect">
            <a:avLst/>
          </a:prstGeom>
          <a:noFill/>
          <a:ln/>
        </p:spPr>
        <p:txBody>
          <a:bodyPr wrap="square" lIns="0" tIns="0" rIns="0" bIns="0" rtlCol="0" anchor="ctr">
            <a:normAutofit/>
          </a:bodyPr>
          <a:lstStyle/>
          <a:p>
            <a:pPr indent="0" marL="0">
              <a:buNone/>
            </a:pPr>
            <a:r>
              <a:rPr lang="en-US" sz="1800" b="1" dirty="0">
                <a:solidFill>
                  <a:srgbClr val="171716"/>
                </a:solidFill>
                <a:latin typeface="Aptos" pitchFamily="34" charset="0"/>
                <a:ea typeface="Aptos" pitchFamily="34" charset="-122"/>
                <a:cs typeface="Aptos" pitchFamily="34" charset="-120"/>
              </a:rPr>
              <a:t>$30K</a:t>
            </a:r>
            <a:endParaRPr lang="en-US" sz="1800" dirty="0"/>
          </a:p>
        </p:txBody>
      </p:sp>
      <p:sp>
        <p:nvSpPr>
          <p:cNvPr id="18" name="Text 16"/>
          <p:cNvSpPr/>
          <p:nvPr/>
        </p:nvSpPr>
        <p:spPr>
          <a:xfrm>
            <a:off x="7717536" y="2697480"/>
            <a:ext cx="3602736" cy="365760"/>
          </a:xfrm>
          <a:prstGeom prst="rect">
            <a:avLst/>
          </a:prstGeom>
          <a:noFill/>
          <a:ln/>
        </p:spPr>
        <p:txBody>
          <a:bodyPr wrap="square" lIns="0" tIns="0" rIns="0" bIns="0" rtlCol="0" anchor="ctr">
            <a:normAutofit/>
          </a:bodyPr>
          <a:lstStyle/>
          <a:p>
            <a:pPr indent="0" marL="0">
              <a:buNone/>
            </a:pPr>
            <a:r>
              <a:rPr lang="en-US" sz="1360" dirty="0">
                <a:solidFill>
                  <a:srgbClr val="171716"/>
                </a:solidFill>
                <a:latin typeface="Aptos" pitchFamily="34" charset="0"/>
                <a:ea typeface="Aptos" pitchFamily="34" charset="-122"/>
                <a:cs typeface="Aptos" pitchFamily="34" charset="-120"/>
              </a:rPr>
              <a:t>Approved baseline and grader</a:t>
            </a:r>
            <a:endParaRPr lang="en-US" sz="1360" dirty="0"/>
          </a:p>
        </p:txBody>
      </p:sp>
      <p:sp>
        <p:nvSpPr>
          <p:cNvPr id="19" name="Shape 17"/>
          <p:cNvSpPr/>
          <p:nvPr/>
        </p:nvSpPr>
        <p:spPr>
          <a:xfrm>
            <a:off x="594360" y="3200400"/>
            <a:ext cx="11009376" cy="594360"/>
          </a:xfrm>
          <a:prstGeom prst="rect">
            <a:avLst/>
          </a:prstGeom>
          <a:solidFill>
            <a:srgbClr val="F3F0EC"/>
          </a:solidFill>
          <a:ln w="7620">
            <a:solidFill>
              <a:srgbClr val="F3F0EC">
                <a:alpha val="0"/>
              </a:srgbClr>
            </a:solidFill>
            <a:prstDash val="solid"/>
          </a:ln>
        </p:spPr>
      </p:sp>
      <p:sp>
        <p:nvSpPr>
          <p:cNvPr id="20" name="Text 18"/>
          <p:cNvSpPr/>
          <p:nvPr/>
        </p:nvSpPr>
        <p:spPr>
          <a:xfrm>
            <a:off x="786384" y="3355848"/>
            <a:ext cx="2542032" cy="265176"/>
          </a:xfrm>
          <a:prstGeom prst="rect">
            <a:avLst/>
          </a:prstGeom>
          <a:noFill/>
          <a:ln/>
        </p:spPr>
        <p:txBody>
          <a:bodyPr wrap="square" lIns="0" tIns="0" rIns="0" bIns="0" rtlCol="0" anchor="ctr">
            <a:normAutofit/>
          </a:bodyPr>
          <a:lstStyle/>
          <a:p>
            <a:pPr indent="0" marL="0">
              <a:buNone/>
            </a:pPr>
            <a:r>
              <a:rPr lang="en-US" sz="1350" b="1" dirty="0">
                <a:solidFill>
                  <a:srgbClr val="D83E00"/>
                </a:solidFill>
                <a:latin typeface="Aptos" pitchFamily="34" charset="0"/>
                <a:ea typeface="Aptos" pitchFamily="34" charset="-122"/>
                <a:cs typeface="Aptos" pitchFamily="34" charset="-120"/>
              </a:rPr>
              <a:t>ENGINEERING</a:t>
            </a:r>
            <a:endParaRPr lang="en-US" sz="1350" dirty="0"/>
          </a:p>
        </p:txBody>
      </p:sp>
      <p:sp>
        <p:nvSpPr>
          <p:cNvPr id="21" name="Text 19"/>
          <p:cNvSpPr/>
          <p:nvPr/>
        </p:nvSpPr>
        <p:spPr>
          <a:xfrm>
            <a:off x="3465576" y="3346704"/>
            <a:ext cx="2112264" cy="274320"/>
          </a:xfrm>
          <a:prstGeom prst="rect">
            <a:avLst/>
          </a:prstGeom>
          <a:noFill/>
          <a:ln/>
        </p:spPr>
        <p:txBody>
          <a:bodyPr wrap="square" lIns="0" tIns="0" rIns="0" bIns="0" rtlCol="0" anchor="ctr">
            <a:normAutofit/>
          </a:bodyPr>
          <a:lstStyle/>
          <a:p>
            <a:pPr indent="0" marL="0">
              <a:buNone/>
            </a:pPr>
            <a:r>
              <a:rPr lang="en-US" sz="1400" dirty="0">
                <a:solidFill>
                  <a:srgbClr val="171716"/>
                </a:solidFill>
                <a:latin typeface="Aptos" pitchFamily="34" charset="0"/>
                <a:ea typeface="Aptos" pitchFamily="34" charset="-122"/>
                <a:cs typeface="Aptos" pitchFamily="34" charset="-120"/>
              </a:rPr>
              <a:t>300 hours</a:t>
            </a:r>
            <a:endParaRPr lang="en-US" sz="1400" dirty="0"/>
          </a:p>
        </p:txBody>
      </p:sp>
      <p:sp>
        <p:nvSpPr>
          <p:cNvPr id="22" name="Text 20"/>
          <p:cNvSpPr/>
          <p:nvPr/>
        </p:nvSpPr>
        <p:spPr>
          <a:xfrm>
            <a:off x="5715000" y="3319272"/>
            <a:ext cx="1792224" cy="292608"/>
          </a:xfrm>
          <a:prstGeom prst="rect">
            <a:avLst/>
          </a:prstGeom>
          <a:noFill/>
          <a:ln/>
        </p:spPr>
        <p:txBody>
          <a:bodyPr wrap="square" lIns="0" tIns="0" rIns="0" bIns="0" rtlCol="0" anchor="ctr">
            <a:normAutofit/>
          </a:bodyPr>
          <a:lstStyle/>
          <a:p>
            <a:pPr indent="0" marL="0">
              <a:buNone/>
            </a:pPr>
            <a:r>
              <a:rPr lang="en-US" sz="1800" b="1" dirty="0">
                <a:solidFill>
                  <a:srgbClr val="171716"/>
                </a:solidFill>
                <a:latin typeface="Aptos" pitchFamily="34" charset="0"/>
                <a:ea typeface="Aptos" pitchFamily="34" charset="-122"/>
                <a:cs typeface="Aptos" pitchFamily="34" charset="-120"/>
              </a:rPr>
              <a:t>$78K</a:t>
            </a:r>
            <a:endParaRPr lang="en-US" sz="1800" dirty="0"/>
          </a:p>
        </p:txBody>
      </p:sp>
      <p:sp>
        <p:nvSpPr>
          <p:cNvPr id="23" name="Text 21"/>
          <p:cNvSpPr/>
          <p:nvPr/>
        </p:nvSpPr>
        <p:spPr>
          <a:xfrm>
            <a:off x="7717536" y="3310128"/>
            <a:ext cx="3602736" cy="365760"/>
          </a:xfrm>
          <a:prstGeom prst="rect">
            <a:avLst/>
          </a:prstGeom>
          <a:noFill/>
          <a:ln/>
        </p:spPr>
        <p:txBody>
          <a:bodyPr wrap="square" lIns="0" tIns="0" rIns="0" bIns="0" rtlCol="0" anchor="ctr">
            <a:normAutofit/>
          </a:bodyPr>
          <a:lstStyle/>
          <a:p>
            <a:pPr indent="0" marL="0">
              <a:buNone/>
            </a:pPr>
            <a:r>
              <a:rPr lang="en-US" sz="1360" dirty="0">
                <a:solidFill>
                  <a:srgbClr val="171716"/>
                </a:solidFill>
                <a:latin typeface="Aptos" pitchFamily="34" charset="0"/>
                <a:ea typeface="Aptos" pitchFamily="34" charset="-122"/>
                <a:cs typeface="Aptos" pitchFamily="34" charset="-120"/>
              </a:rPr>
              <a:t>Harness, tools, research integration</a:t>
            </a:r>
            <a:endParaRPr lang="en-US" sz="1360" dirty="0"/>
          </a:p>
        </p:txBody>
      </p:sp>
      <p:sp>
        <p:nvSpPr>
          <p:cNvPr id="24" name="Shape 22"/>
          <p:cNvSpPr/>
          <p:nvPr/>
        </p:nvSpPr>
        <p:spPr>
          <a:xfrm>
            <a:off x="594360" y="3813048"/>
            <a:ext cx="11009376" cy="594360"/>
          </a:xfrm>
          <a:prstGeom prst="rect">
            <a:avLst/>
          </a:prstGeom>
          <a:solidFill>
            <a:srgbClr val="FFFFFF"/>
          </a:solidFill>
          <a:ln w="7620">
            <a:solidFill>
              <a:srgbClr val="FFFFFF">
                <a:alpha val="0"/>
              </a:srgbClr>
            </a:solidFill>
            <a:prstDash val="solid"/>
          </a:ln>
        </p:spPr>
      </p:sp>
      <p:sp>
        <p:nvSpPr>
          <p:cNvPr id="25" name="Text 23"/>
          <p:cNvSpPr/>
          <p:nvPr/>
        </p:nvSpPr>
        <p:spPr>
          <a:xfrm>
            <a:off x="786384" y="3968496"/>
            <a:ext cx="2542032" cy="265176"/>
          </a:xfrm>
          <a:prstGeom prst="rect">
            <a:avLst/>
          </a:prstGeom>
          <a:noFill/>
          <a:ln/>
        </p:spPr>
        <p:txBody>
          <a:bodyPr wrap="square" lIns="0" tIns="0" rIns="0" bIns="0" rtlCol="0" anchor="ctr">
            <a:normAutofit/>
          </a:bodyPr>
          <a:lstStyle/>
          <a:p>
            <a:pPr indent="0" marL="0">
              <a:buNone/>
            </a:pPr>
            <a:r>
              <a:rPr lang="en-US" sz="1350" b="1" dirty="0">
                <a:solidFill>
                  <a:srgbClr val="D83E00"/>
                </a:solidFill>
                <a:latin typeface="Aptos" pitchFamily="34" charset="0"/>
                <a:ea typeface="Aptos" pitchFamily="34" charset="-122"/>
                <a:cs typeface="Aptos" pitchFamily="34" charset="-120"/>
              </a:rPr>
              <a:t>RL CYCLES</a:t>
            </a:r>
            <a:endParaRPr lang="en-US" sz="1350" dirty="0"/>
          </a:p>
        </p:txBody>
      </p:sp>
      <p:sp>
        <p:nvSpPr>
          <p:cNvPr id="26" name="Text 24"/>
          <p:cNvSpPr/>
          <p:nvPr/>
        </p:nvSpPr>
        <p:spPr>
          <a:xfrm>
            <a:off x="3465576" y="3959352"/>
            <a:ext cx="2112264" cy="274320"/>
          </a:xfrm>
          <a:prstGeom prst="rect">
            <a:avLst/>
          </a:prstGeom>
          <a:noFill/>
          <a:ln/>
        </p:spPr>
        <p:txBody>
          <a:bodyPr wrap="square" lIns="0" tIns="0" rIns="0" bIns="0" rtlCol="0" anchor="ctr">
            <a:normAutofit/>
          </a:bodyPr>
          <a:lstStyle/>
          <a:p>
            <a:pPr indent="0" marL="0">
              <a:buNone/>
            </a:pPr>
            <a:r>
              <a:rPr lang="en-US" sz="1400" dirty="0">
                <a:solidFill>
                  <a:srgbClr val="171716"/>
                </a:solidFill>
                <a:latin typeface="Aptos" pitchFamily="34" charset="0"/>
                <a:ea typeface="Aptos" pitchFamily="34" charset="-122"/>
                <a:cs typeface="Aptos" pitchFamily="34" charset="-120"/>
              </a:rPr>
              <a:t>3 weekly × $24K</a:t>
            </a:r>
            <a:endParaRPr lang="en-US" sz="1400" dirty="0"/>
          </a:p>
        </p:txBody>
      </p:sp>
      <p:sp>
        <p:nvSpPr>
          <p:cNvPr id="27" name="Text 25"/>
          <p:cNvSpPr/>
          <p:nvPr/>
        </p:nvSpPr>
        <p:spPr>
          <a:xfrm>
            <a:off x="5715000" y="3931920"/>
            <a:ext cx="1792224" cy="292608"/>
          </a:xfrm>
          <a:prstGeom prst="rect">
            <a:avLst/>
          </a:prstGeom>
          <a:noFill/>
          <a:ln/>
        </p:spPr>
        <p:txBody>
          <a:bodyPr wrap="square" lIns="0" tIns="0" rIns="0" bIns="0" rtlCol="0" anchor="ctr">
            <a:normAutofit/>
          </a:bodyPr>
          <a:lstStyle/>
          <a:p>
            <a:pPr indent="0" marL="0">
              <a:buNone/>
            </a:pPr>
            <a:r>
              <a:rPr lang="en-US" sz="1800" b="1" dirty="0">
                <a:solidFill>
                  <a:srgbClr val="171716"/>
                </a:solidFill>
                <a:latin typeface="Aptos" pitchFamily="34" charset="0"/>
                <a:ea typeface="Aptos" pitchFamily="34" charset="-122"/>
                <a:cs typeface="Aptos" pitchFamily="34" charset="-120"/>
              </a:rPr>
              <a:t>$72K</a:t>
            </a:r>
            <a:endParaRPr lang="en-US" sz="1800" dirty="0"/>
          </a:p>
        </p:txBody>
      </p:sp>
      <p:sp>
        <p:nvSpPr>
          <p:cNvPr id="28" name="Text 26"/>
          <p:cNvSpPr/>
          <p:nvPr/>
        </p:nvSpPr>
        <p:spPr>
          <a:xfrm>
            <a:off x="7717536" y="3922776"/>
            <a:ext cx="3602736" cy="365760"/>
          </a:xfrm>
          <a:prstGeom prst="rect">
            <a:avLst/>
          </a:prstGeom>
          <a:noFill/>
          <a:ln/>
        </p:spPr>
        <p:txBody>
          <a:bodyPr wrap="square" lIns="0" tIns="0" rIns="0" bIns="0" rtlCol="0" anchor="ctr">
            <a:normAutofit/>
          </a:bodyPr>
          <a:lstStyle/>
          <a:p>
            <a:pPr indent="0" marL="0">
              <a:buNone/>
            </a:pPr>
            <a:r>
              <a:rPr lang="en-US" sz="1360" dirty="0">
                <a:solidFill>
                  <a:srgbClr val="171716"/>
                </a:solidFill>
                <a:latin typeface="Aptos" pitchFamily="34" charset="0"/>
                <a:ea typeface="Aptos" pitchFamily="34" charset="-122"/>
                <a:cs typeface="Aptos" pitchFamily="34" charset="-120"/>
              </a:rPr>
              <a:t>One run + eval + decision per cycle</a:t>
            </a:r>
            <a:endParaRPr lang="en-US" sz="1360" dirty="0"/>
          </a:p>
        </p:txBody>
      </p:sp>
      <p:sp>
        <p:nvSpPr>
          <p:cNvPr id="29" name="Shape 27"/>
          <p:cNvSpPr/>
          <p:nvPr/>
        </p:nvSpPr>
        <p:spPr>
          <a:xfrm>
            <a:off x="594360" y="4425696"/>
            <a:ext cx="11009376" cy="594360"/>
          </a:xfrm>
          <a:prstGeom prst="rect">
            <a:avLst/>
          </a:prstGeom>
          <a:solidFill>
            <a:srgbClr val="F3F0EC"/>
          </a:solidFill>
          <a:ln w="7620">
            <a:solidFill>
              <a:srgbClr val="F3F0EC">
                <a:alpha val="0"/>
              </a:srgbClr>
            </a:solidFill>
            <a:prstDash val="solid"/>
          </a:ln>
        </p:spPr>
      </p:sp>
      <p:sp>
        <p:nvSpPr>
          <p:cNvPr id="30" name="Text 28"/>
          <p:cNvSpPr/>
          <p:nvPr/>
        </p:nvSpPr>
        <p:spPr>
          <a:xfrm>
            <a:off x="786384" y="4581144"/>
            <a:ext cx="2542032" cy="265176"/>
          </a:xfrm>
          <a:prstGeom prst="rect">
            <a:avLst/>
          </a:prstGeom>
          <a:noFill/>
          <a:ln/>
        </p:spPr>
        <p:txBody>
          <a:bodyPr wrap="square" lIns="0" tIns="0" rIns="0" bIns="0" rtlCol="0" anchor="ctr">
            <a:normAutofit/>
          </a:bodyPr>
          <a:lstStyle/>
          <a:p>
            <a:pPr indent="0" marL="0">
              <a:buNone/>
            </a:pPr>
            <a:r>
              <a:rPr lang="en-US" sz="1350" b="1" dirty="0">
                <a:solidFill>
                  <a:srgbClr val="D83E00"/>
                </a:solidFill>
                <a:latin typeface="Aptos" pitchFamily="34" charset="0"/>
                <a:ea typeface="Aptos" pitchFamily="34" charset="-122"/>
                <a:cs typeface="Aptos" pitchFamily="34" charset="-120"/>
              </a:rPr>
              <a:t>HANDOFF</a:t>
            </a:r>
            <a:endParaRPr lang="en-US" sz="1350" dirty="0"/>
          </a:p>
        </p:txBody>
      </p:sp>
      <p:sp>
        <p:nvSpPr>
          <p:cNvPr id="31" name="Text 29"/>
          <p:cNvSpPr/>
          <p:nvPr/>
        </p:nvSpPr>
        <p:spPr>
          <a:xfrm>
            <a:off x="3465576" y="4572000"/>
            <a:ext cx="2112264" cy="274320"/>
          </a:xfrm>
          <a:prstGeom prst="rect">
            <a:avLst/>
          </a:prstGeom>
          <a:noFill/>
          <a:ln/>
        </p:spPr>
        <p:txBody>
          <a:bodyPr wrap="square" lIns="0" tIns="0" rIns="0" bIns="0" rtlCol="0" anchor="ctr">
            <a:normAutofit/>
          </a:bodyPr>
          <a:lstStyle/>
          <a:p>
            <a:pPr indent="0" marL="0">
              <a:buNone/>
            </a:pPr>
            <a:r>
              <a:rPr lang="en-US" sz="1400" dirty="0">
                <a:solidFill>
                  <a:srgbClr val="171716"/>
                </a:solidFill>
                <a:latin typeface="Aptos" pitchFamily="34" charset="0"/>
                <a:ea typeface="Aptos" pitchFamily="34" charset="-122"/>
                <a:cs typeface="Aptos" pitchFamily="34" charset="-120"/>
              </a:rPr>
              <a:t>1 phase</a:t>
            </a:r>
            <a:endParaRPr lang="en-US" sz="1400" dirty="0"/>
          </a:p>
        </p:txBody>
      </p:sp>
      <p:sp>
        <p:nvSpPr>
          <p:cNvPr id="32" name="Text 30"/>
          <p:cNvSpPr/>
          <p:nvPr/>
        </p:nvSpPr>
        <p:spPr>
          <a:xfrm>
            <a:off x="5715000" y="4544568"/>
            <a:ext cx="1792224" cy="292608"/>
          </a:xfrm>
          <a:prstGeom prst="rect">
            <a:avLst/>
          </a:prstGeom>
          <a:noFill/>
          <a:ln/>
        </p:spPr>
        <p:txBody>
          <a:bodyPr wrap="square" lIns="0" tIns="0" rIns="0" bIns="0" rtlCol="0" anchor="ctr">
            <a:normAutofit/>
          </a:bodyPr>
          <a:lstStyle/>
          <a:p>
            <a:pPr indent="0" marL="0">
              <a:buNone/>
            </a:pPr>
            <a:r>
              <a:rPr lang="en-US" sz="1800" b="1" dirty="0">
                <a:solidFill>
                  <a:srgbClr val="171716"/>
                </a:solidFill>
                <a:latin typeface="Aptos" pitchFamily="34" charset="0"/>
                <a:ea typeface="Aptos" pitchFamily="34" charset="-122"/>
                <a:cs typeface="Aptos" pitchFamily="34" charset="-120"/>
              </a:rPr>
              <a:t>$30K</a:t>
            </a:r>
            <a:endParaRPr lang="en-US" sz="1800" dirty="0"/>
          </a:p>
        </p:txBody>
      </p:sp>
      <p:sp>
        <p:nvSpPr>
          <p:cNvPr id="33" name="Text 31"/>
          <p:cNvSpPr/>
          <p:nvPr/>
        </p:nvSpPr>
        <p:spPr>
          <a:xfrm>
            <a:off x="7717536" y="4535424"/>
            <a:ext cx="3602736" cy="365760"/>
          </a:xfrm>
          <a:prstGeom prst="rect">
            <a:avLst/>
          </a:prstGeom>
          <a:noFill/>
          <a:ln/>
        </p:spPr>
        <p:txBody>
          <a:bodyPr wrap="square" lIns="0" tIns="0" rIns="0" bIns="0" rtlCol="0" anchor="ctr">
            <a:normAutofit/>
          </a:bodyPr>
          <a:lstStyle/>
          <a:p>
            <a:pPr indent="0" marL="0">
              <a:buNone/>
            </a:pPr>
            <a:r>
              <a:rPr lang="en-US" sz="1360" dirty="0">
                <a:solidFill>
                  <a:srgbClr val="171716"/>
                </a:solidFill>
                <a:latin typeface="Aptos" pitchFamily="34" charset="0"/>
                <a:ea typeface="Aptos" pitchFamily="34" charset="-122"/>
                <a:cs typeface="Aptos" pitchFamily="34" charset="-120"/>
              </a:rPr>
              <a:t>Final held-out evaluation + checkpoints</a:t>
            </a:r>
            <a:endParaRPr lang="en-US" sz="1360" dirty="0"/>
          </a:p>
        </p:txBody>
      </p:sp>
      <p:sp>
        <p:nvSpPr>
          <p:cNvPr id="34" name="Shape 32"/>
          <p:cNvSpPr/>
          <p:nvPr/>
        </p:nvSpPr>
        <p:spPr>
          <a:xfrm>
            <a:off x="594360" y="5230368"/>
            <a:ext cx="11009376" cy="704088"/>
          </a:xfrm>
          <a:prstGeom prst="rect">
            <a:avLst/>
          </a:prstGeom>
          <a:solidFill>
            <a:srgbClr val="FFF0E7"/>
          </a:solidFill>
          <a:ln w="7620">
            <a:solidFill>
              <a:srgbClr val="FFF0E7">
                <a:alpha val="0"/>
              </a:srgbClr>
            </a:solidFill>
            <a:prstDash val="solid"/>
          </a:ln>
        </p:spPr>
      </p:sp>
      <p:sp>
        <p:nvSpPr>
          <p:cNvPr id="35" name="Text 33"/>
          <p:cNvSpPr/>
          <p:nvPr/>
        </p:nvSpPr>
        <p:spPr>
          <a:xfrm>
            <a:off x="795528" y="5431536"/>
            <a:ext cx="3044952" cy="265176"/>
          </a:xfrm>
          <a:prstGeom prst="rect">
            <a:avLst/>
          </a:prstGeom>
          <a:noFill/>
          <a:ln/>
        </p:spPr>
        <p:txBody>
          <a:bodyPr wrap="square" lIns="0" tIns="0" rIns="0" bIns="0" rtlCol="0" anchor="ctr">
            <a:normAutofit/>
          </a:bodyPr>
          <a:lstStyle/>
          <a:p>
            <a:pPr indent="0" marL="0">
              <a:buNone/>
            </a:pPr>
            <a:r>
              <a:rPr lang="en-US" sz="1500" b="1" dirty="0">
                <a:solidFill>
                  <a:srgbClr val="171716"/>
                </a:solidFill>
                <a:latin typeface="Aptos" pitchFamily="34" charset="0"/>
                <a:ea typeface="Aptos" pitchFamily="34" charset="-122"/>
                <a:cs typeface="Aptos" pitchFamily="34" charset="-120"/>
              </a:rPr>
              <a:t>BASE ENGAGEMENT</a:t>
            </a:r>
            <a:endParaRPr lang="en-US" sz="1500" dirty="0"/>
          </a:p>
        </p:txBody>
      </p:sp>
      <p:sp>
        <p:nvSpPr>
          <p:cNvPr id="36" name="Text 34"/>
          <p:cNvSpPr/>
          <p:nvPr/>
        </p:nvSpPr>
        <p:spPr>
          <a:xfrm>
            <a:off x="3822192" y="5358384"/>
            <a:ext cx="2103120" cy="429768"/>
          </a:xfrm>
          <a:prstGeom prst="rect">
            <a:avLst/>
          </a:prstGeom>
          <a:noFill/>
          <a:ln/>
        </p:spPr>
        <p:txBody>
          <a:bodyPr wrap="square" lIns="0" tIns="0" rIns="0" bIns="0" rtlCol="0" anchor="ctr">
            <a:normAutofit/>
          </a:bodyPr>
          <a:lstStyle/>
          <a:p>
            <a:pPr indent="0" marL="0">
              <a:buNone/>
            </a:pPr>
            <a:r>
              <a:rPr lang="en-US" sz="2500" b="1" dirty="0">
                <a:solidFill>
                  <a:srgbClr val="D83E00"/>
                </a:solidFill>
                <a:latin typeface="Aptos" pitchFamily="34" charset="0"/>
                <a:ea typeface="Aptos" pitchFamily="34" charset="-122"/>
                <a:cs typeface="Aptos" pitchFamily="34" charset="-120"/>
              </a:rPr>
              <a:t>$210,000</a:t>
            </a:r>
            <a:endParaRPr lang="en-US" sz="2500" dirty="0"/>
          </a:p>
        </p:txBody>
      </p:sp>
      <p:sp>
        <p:nvSpPr>
          <p:cNvPr id="37" name="Text 35"/>
          <p:cNvSpPr/>
          <p:nvPr/>
        </p:nvSpPr>
        <p:spPr>
          <a:xfrm>
            <a:off x="6080760" y="5468112"/>
            <a:ext cx="5166360" cy="237744"/>
          </a:xfrm>
          <a:prstGeom prst="rect">
            <a:avLst/>
          </a:prstGeom>
          <a:noFill/>
          <a:ln/>
        </p:spPr>
        <p:txBody>
          <a:bodyPr wrap="square" lIns="0" tIns="0" rIns="0" bIns="0" rtlCol="0" anchor="ctr">
            <a:normAutofit/>
          </a:bodyPr>
          <a:lstStyle/>
          <a:p>
            <a:pPr indent="0" marL="0">
              <a:buNone/>
            </a:pPr>
            <a:r>
              <a:rPr lang="en-US" sz="1280" dirty="0">
                <a:solidFill>
                  <a:srgbClr val="171716"/>
                </a:solidFill>
                <a:latin typeface="Aptos" pitchFamily="34" charset="0"/>
                <a:ea typeface="Aptos" pitchFamily="34" charset="-122"/>
                <a:cs typeface="Aptos" pitchFamily="34" charset="-120"/>
              </a:rPr>
              <a:t>One model  •  3,360 included GPU-hours  •  approvals between cycles</a:t>
            </a:r>
            <a:endParaRPr lang="en-US" sz="1280" dirty="0"/>
          </a:p>
        </p:txBody>
      </p:sp>
      <p:sp>
        <p:nvSpPr>
          <p:cNvPr id="38" name="Text 36"/>
          <p:cNvSpPr/>
          <p:nvPr/>
        </p:nvSpPr>
        <p:spPr>
          <a:xfrm>
            <a:off x="630936" y="6016752"/>
            <a:ext cx="10972800" cy="246888"/>
          </a:xfrm>
          <a:prstGeom prst="rect">
            <a:avLst/>
          </a:prstGeom>
          <a:noFill/>
          <a:ln/>
        </p:spPr>
        <p:txBody>
          <a:bodyPr wrap="square" lIns="0" tIns="0" rIns="0" bIns="0" rtlCol="0" anchor="ctr">
            <a:normAutofit/>
          </a:bodyPr>
          <a:lstStyle/>
          <a:p>
            <a:pPr indent="0" marL="0">
              <a:buNone/>
            </a:pPr>
            <a:r>
              <a:rPr lang="en-US" sz="1280" dirty="0">
                <a:solidFill>
                  <a:srgbClr val="5F5B57"/>
                </a:solidFill>
                <a:latin typeface="Aptos" pitchFamily="34" charset="0"/>
                <a:ea typeface="Aptos" pitchFamily="34" charset="-122"/>
                <a:cs typeface="Aptos" pitchFamily="34" charset="-120"/>
              </a:rPr>
              <a:t>The detailed customer quote defines model-size alternatives, extra-cycle rates, engineering rates, and inference options.</a:t>
            </a:r>
            <a:endParaRPr lang="en-US" sz="12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F44B00"/>
          </a:solidFill>
          <a:ln w="7620">
            <a:solidFill>
              <a:srgbClr val="F44B00">
                <a:alpha val="0"/>
              </a:srgbClr>
            </a:solidFill>
            <a:prstDash val="solid"/>
          </a:ln>
        </p:spPr>
      </p:sp>
      <p:sp>
        <p:nvSpPr>
          <p:cNvPr id="3" name="Text 1"/>
          <p:cNvSpPr/>
          <p:nvPr/>
        </p:nvSpPr>
        <p:spPr>
          <a:xfrm>
            <a:off x="548640" y="338328"/>
            <a:ext cx="3383280" cy="283464"/>
          </a:xfrm>
          <a:prstGeom prst="rect">
            <a:avLst/>
          </a:prstGeom>
          <a:noFill/>
          <a:ln/>
        </p:spPr>
        <p:txBody>
          <a:bodyPr wrap="square" lIns="0" tIns="0" rIns="0" bIns="0" rtlCol="0" anchor="ctr">
            <a:normAutofit/>
          </a:bodyPr>
          <a:lstStyle/>
          <a:p>
            <a:pPr indent="0" marL="0">
              <a:buNone/>
            </a:pPr>
            <a:r>
              <a:rPr lang="en-US" sz="1200" b="1" spc="160" kern="0" dirty="0">
                <a:solidFill>
                  <a:srgbClr val="171716"/>
                </a:solidFill>
                <a:latin typeface="Aptos" pitchFamily="34" charset="0"/>
                <a:ea typeface="Aptos" pitchFamily="34" charset="-122"/>
                <a:cs typeface="Aptos" pitchFamily="34" charset="-120"/>
              </a:rPr>
              <a:t>APPLIED COMPUTE</a:t>
            </a:r>
            <a:endParaRPr lang="en-US" sz="1200" dirty="0"/>
          </a:p>
        </p:txBody>
      </p:sp>
      <p:sp>
        <p:nvSpPr>
          <p:cNvPr id="4" name="Text 2"/>
          <p:cNvSpPr/>
          <p:nvPr/>
        </p:nvSpPr>
        <p:spPr>
          <a:xfrm>
            <a:off x="8503920" y="365760"/>
            <a:ext cx="3063240" cy="210312"/>
          </a:xfrm>
          <a:prstGeom prst="rect">
            <a:avLst/>
          </a:prstGeom>
          <a:noFill/>
          <a:ln/>
        </p:spPr>
        <p:txBody>
          <a:bodyPr wrap="square" lIns="0" tIns="0" rIns="0" bIns="0" rtlCol="0" anchor="ctr">
            <a:normAutofit/>
          </a:bodyPr>
          <a:lstStyle/>
          <a:p>
            <a:pPr algn="r" indent="0" marL="0">
              <a:buNone/>
            </a:pPr>
            <a:r>
              <a:rPr lang="en-US" sz="1000" b="1" spc="100" kern="0" dirty="0">
                <a:solidFill>
                  <a:srgbClr val="857F78"/>
                </a:solidFill>
                <a:latin typeface="Aptos" pitchFamily="34" charset="0"/>
                <a:ea typeface="Aptos" pitchFamily="34" charset="-122"/>
                <a:cs typeface="Aptos" pitchFamily="34" charset="-120"/>
              </a:rPr>
              <a:t>03 / OPTIONS AND MARGINS</a:t>
            </a:r>
            <a:endParaRPr lang="en-US" sz="1000" dirty="0"/>
          </a:p>
        </p:txBody>
      </p:sp>
      <p:sp>
        <p:nvSpPr>
          <p:cNvPr id="5" name="Text 3"/>
          <p:cNvSpPr/>
          <p:nvPr/>
        </p:nvSpPr>
        <p:spPr>
          <a:xfrm>
            <a:off x="557784" y="932688"/>
            <a:ext cx="11036808" cy="1024128"/>
          </a:xfrm>
          <a:prstGeom prst="rect">
            <a:avLst/>
          </a:prstGeom>
          <a:noFill/>
          <a:ln/>
        </p:spPr>
        <p:txBody>
          <a:bodyPr wrap="square" lIns="0" tIns="0" rIns="0" bIns="0" rtlCol="0" anchor="ctr">
            <a:normAutofit/>
          </a:bodyPr>
          <a:lstStyle/>
          <a:p>
            <a:pPr indent="0" marL="0">
              <a:buNone/>
            </a:pPr>
            <a:r>
              <a:rPr lang="en-US" sz="3100" b="1" dirty="0">
                <a:solidFill>
                  <a:srgbClr val="171716"/>
                </a:solidFill>
                <a:latin typeface="Aptos" pitchFamily="34" charset="0"/>
                <a:ea typeface="Aptos" pitchFamily="34" charset="-122"/>
                <a:cs typeface="Aptos" pitchFamily="34" charset="-120"/>
              </a:rPr>
              <a:t>Price by model size, effort, and production service</a:t>
            </a:r>
            <a:endParaRPr lang="en-US" sz="3100" dirty="0"/>
          </a:p>
        </p:txBody>
      </p:sp>
      <p:sp>
        <p:nvSpPr>
          <p:cNvPr id="6" name="Shape 4"/>
          <p:cNvSpPr/>
          <p:nvPr/>
        </p:nvSpPr>
        <p:spPr>
          <a:xfrm>
            <a:off x="557784" y="6483096"/>
            <a:ext cx="11055096" cy="0"/>
          </a:xfrm>
          <a:prstGeom prst="line">
            <a:avLst/>
          </a:prstGeom>
          <a:noFill/>
          <a:ln w="9525">
            <a:solidFill>
              <a:srgbClr val="DCD7D1"/>
            </a:solidFill>
            <a:prstDash val="solid"/>
          </a:ln>
        </p:spPr>
      </p:sp>
      <p:sp>
        <p:nvSpPr>
          <p:cNvPr id="7" name="Text 5"/>
          <p:cNvSpPr/>
          <p:nvPr/>
        </p:nvSpPr>
        <p:spPr>
          <a:xfrm>
            <a:off x="557784" y="6565392"/>
            <a:ext cx="8412480" cy="128016"/>
          </a:xfrm>
          <a:prstGeom prst="rect">
            <a:avLst/>
          </a:prstGeom>
          <a:noFill/>
          <a:ln/>
        </p:spPr>
        <p:txBody>
          <a:bodyPr wrap="square" lIns="0" tIns="0" rIns="0" bIns="0" rtlCol="0" anchor="ctr">
            <a:normAutofit/>
          </a:bodyPr>
          <a:lstStyle/>
          <a:p>
            <a:pPr indent="0" marL="0">
              <a:buNone/>
            </a:pPr>
            <a:r>
              <a:rPr lang="en-US" sz="820" b="1" dirty="0">
                <a:solidFill>
                  <a:srgbClr val="857F78"/>
                </a:solidFill>
                <a:latin typeface="Aptos" pitchFamily="34" charset="0"/>
                <a:ea typeface="Aptos" pitchFamily="34" charset="-122"/>
                <a:cs typeface="Aptos" pitchFamily="34" charset="-120"/>
              </a:rPr>
              <a:t>ENTERPRISE DEAL ECONOMICS  /  ILLUSTRATIVE FRAMEWORK</a:t>
            </a:r>
            <a:endParaRPr lang="en-US" sz="820" dirty="0"/>
          </a:p>
        </p:txBody>
      </p:sp>
      <p:sp>
        <p:nvSpPr>
          <p:cNvPr id="8" name="Text 6"/>
          <p:cNvSpPr/>
          <p:nvPr/>
        </p:nvSpPr>
        <p:spPr>
          <a:xfrm>
            <a:off x="11173968" y="6547104"/>
            <a:ext cx="411480" cy="146304"/>
          </a:xfrm>
          <a:prstGeom prst="rect">
            <a:avLst/>
          </a:prstGeom>
          <a:noFill/>
          <a:ln/>
        </p:spPr>
        <p:txBody>
          <a:bodyPr wrap="square" lIns="0" tIns="0" rIns="0" bIns="0" rtlCol="0" anchor="ctr">
            <a:normAutofit/>
          </a:bodyPr>
          <a:lstStyle/>
          <a:p>
            <a:pPr algn="r" indent="0" marL="0">
              <a:buNone/>
            </a:pPr>
            <a:r>
              <a:rPr lang="en-US" sz="900" b="1" dirty="0">
                <a:solidFill>
                  <a:srgbClr val="5F5B57"/>
                </a:solidFill>
                <a:latin typeface="Aptos" pitchFamily="34" charset="0"/>
                <a:ea typeface="Aptos" pitchFamily="34" charset="-122"/>
                <a:cs typeface="Aptos" pitchFamily="34" charset="-120"/>
              </a:rPr>
              <a:t>09</a:t>
            </a:r>
            <a:endParaRPr lang="en-US" sz="900" dirty="0"/>
          </a:p>
        </p:txBody>
      </p:sp>
      <p:sp>
        <p:nvSpPr>
          <p:cNvPr id="9" name="Shape 7"/>
          <p:cNvSpPr/>
          <p:nvPr/>
        </p:nvSpPr>
        <p:spPr>
          <a:xfrm>
            <a:off x="594360" y="2093976"/>
            <a:ext cx="3557016" cy="2002536"/>
          </a:xfrm>
          <a:prstGeom prst="roundRect">
            <a:avLst>
              <a:gd name="adj" fmla="val 3653"/>
            </a:avLst>
          </a:prstGeom>
          <a:solidFill>
            <a:srgbClr val="FFFFFF"/>
          </a:solidFill>
          <a:ln w="10160">
            <a:solidFill>
              <a:srgbClr val="DCD7D1"/>
            </a:solidFill>
            <a:prstDash val="solid"/>
          </a:ln>
        </p:spPr>
      </p:sp>
      <p:sp>
        <p:nvSpPr>
          <p:cNvPr id="10" name="Text 8"/>
          <p:cNvSpPr/>
          <p:nvPr/>
        </p:nvSpPr>
        <p:spPr>
          <a:xfrm>
            <a:off x="758952" y="2295144"/>
            <a:ext cx="3200400" cy="256032"/>
          </a:xfrm>
          <a:prstGeom prst="rect">
            <a:avLst/>
          </a:prstGeom>
          <a:noFill/>
          <a:ln/>
        </p:spPr>
        <p:txBody>
          <a:bodyPr wrap="square" lIns="0" tIns="0" rIns="0" bIns="0" rtlCol="0" anchor="ctr">
            <a:normAutofit/>
          </a:bodyPr>
          <a:lstStyle/>
          <a:p>
            <a:pPr indent="0" marL="0">
              <a:buNone/>
            </a:pPr>
            <a:r>
              <a:rPr lang="en-US" sz="1180" b="1" dirty="0">
                <a:solidFill>
                  <a:srgbClr val="F44B00"/>
                </a:solidFill>
                <a:latin typeface="Aptos" pitchFamily="34" charset="0"/>
                <a:ea typeface="Aptos" pitchFamily="34" charset="-122"/>
                <a:cs typeface="Aptos" pitchFamily="34" charset="-120"/>
              </a:rPr>
              <a:t>SMALL MODEL</a:t>
            </a:r>
            <a:endParaRPr lang="en-US" sz="1180" dirty="0"/>
          </a:p>
        </p:txBody>
      </p:sp>
      <p:sp>
        <p:nvSpPr>
          <p:cNvPr id="11" name="Text 9"/>
          <p:cNvSpPr/>
          <p:nvPr/>
        </p:nvSpPr>
        <p:spPr>
          <a:xfrm>
            <a:off x="758952" y="2651760"/>
            <a:ext cx="3191256" cy="347472"/>
          </a:xfrm>
          <a:prstGeom prst="rect">
            <a:avLst/>
          </a:prstGeom>
          <a:noFill/>
          <a:ln/>
        </p:spPr>
        <p:txBody>
          <a:bodyPr wrap="square" lIns="0" tIns="0" rIns="0" bIns="0" rtlCol="0" anchor="ctr">
            <a:normAutofit/>
          </a:bodyPr>
          <a:lstStyle/>
          <a:p>
            <a:pPr indent="0" marL="0">
              <a:buNone/>
            </a:pPr>
            <a:r>
              <a:rPr lang="en-US" sz="1750" b="1" dirty="0">
                <a:solidFill>
                  <a:srgbClr val="171716"/>
                </a:solidFill>
                <a:latin typeface="Aptos" pitchFamily="34" charset="0"/>
                <a:ea typeface="Aptos" pitchFamily="34" charset="-122"/>
                <a:cs typeface="Aptos" pitchFamily="34" charset="-120"/>
              </a:rPr>
              <a:t>4–8B dense</a:t>
            </a:r>
            <a:endParaRPr lang="en-US" sz="1750" dirty="0"/>
          </a:p>
        </p:txBody>
      </p:sp>
      <p:sp>
        <p:nvSpPr>
          <p:cNvPr id="12" name="Text 10"/>
          <p:cNvSpPr/>
          <p:nvPr/>
        </p:nvSpPr>
        <p:spPr>
          <a:xfrm>
            <a:off x="758952" y="3081528"/>
            <a:ext cx="3218688" cy="347472"/>
          </a:xfrm>
          <a:prstGeom prst="rect">
            <a:avLst/>
          </a:prstGeom>
          <a:noFill/>
          <a:ln/>
        </p:spPr>
        <p:txBody>
          <a:bodyPr wrap="square" lIns="0" tIns="0" rIns="0" bIns="0" rtlCol="0" anchor="ctr">
            <a:normAutofit/>
          </a:bodyPr>
          <a:lstStyle/>
          <a:p>
            <a:pPr indent="0" marL="0">
              <a:buNone/>
            </a:pPr>
            <a:r>
              <a:rPr lang="en-US" sz="1840" b="1" dirty="0">
                <a:solidFill>
                  <a:srgbClr val="171716"/>
                </a:solidFill>
                <a:latin typeface="Aptos" pitchFamily="34" charset="0"/>
                <a:ea typeface="Aptos" pitchFamily="34" charset="-122"/>
                <a:cs typeface="Aptos" pitchFamily="34" charset="-120"/>
              </a:rPr>
              <a:t>$12K / RL cycle</a:t>
            </a:r>
            <a:endParaRPr lang="en-US" sz="1840" dirty="0"/>
          </a:p>
        </p:txBody>
      </p:sp>
      <p:sp>
        <p:nvSpPr>
          <p:cNvPr id="13" name="Text 11"/>
          <p:cNvSpPr/>
          <p:nvPr/>
        </p:nvSpPr>
        <p:spPr>
          <a:xfrm>
            <a:off x="758952" y="3657600"/>
            <a:ext cx="3163824" cy="274320"/>
          </a:xfrm>
          <a:prstGeom prst="rect">
            <a:avLst/>
          </a:prstGeom>
          <a:noFill/>
          <a:ln/>
        </p:spPr>
        <p:txBody>
          <a:bodyPr wrap="square" lIns="0" tIns="0" rIns="0" bIns="0" rtlCol="0" anchor="ctr">
            <a:normAutofit/>
          </a:bodyPr>
          <a:lstStyle/>
          <a:p>
            <a:pPr indent="0" marL="0">
              <a:buNone/>
            </a:pPr>
            <a:r>
              <a:rPr lang="en-US" sz="1220" dirty="0">
                <a:solidFill>
                  <a:srgbClr val="5F5B57"/>
                </a:solidFill>
                <a:latin typeface="Aptos" pitchFamily="34" charset="0"/>
                <a:ea typeface="Aptos" pitchFamily="34" charset="-122"/>
                <a:cs typeface="Aptos" pitchFamily="34" charset="-120"/>
              </a:rPr>
              <a:t>up to 560 GPU-h</a:t>
            </a:r>
            <a:endParaRPr lang="en-US" sz="1220" dirty="0"/>
          </a:p>
        </p:txBody>
      </p:sp>
      <p:sp>
        <p:nvSpPr>
          <p:cNvPr id="14" name="Shape 12"/>
          <p:cNvSpPr/>
          <p:nvPr/>
        </p:nvSpPr>
        <p:spPr>
          <a:xfrm>
            <a:off x="4416552" y="2093976"/>
            <a:ext cx="3557016" cy="2002536"/>
          </a:xfrm>
          <a:prstGeom prst="roundRect">
            <a:avLst>
              <a:gd name="adj" fmla="val 3653"/>
            </a:avLst>
          </a:prstGeom>
          <a:solidFill>
            <a:srgbClr val="FFFFFF"/>
          </a:solidFill>
          <a:ln w="10160">
            <a:solidFill>
              <a:srgbClr val="DCD7D1"/>
            </a:solidFill>
            <a:prstDash val="solid"/>
          </a:ln>
        </p:spPr>
      </p:sp>
      <p:sp>
        <p:nvSpPr>
          <p:cNvPr id="15" name="Text 13"/>
          <p:cNvSpPr/>
          <p:nvPr/>
        </p:nvSpPr>
        <p:spPr>
          <a:xfrm>
            <a:off x="4581144" y="2295144"/>
            <a:ext cx="3200400" cy="256032"/>
          </a:xfrm>
          <a:prstGeom prst="rect">
            <a:avLst/>
          </a:prstGeom>
          <a:noFill/>
          <a:ln/>
        </p:spPr>
        <p:txBody>
          <a:bodyPr wrap="square" lIns="0" tIns="0" rIns="0" bIns="0" rtlCol="0" anchor="ctr">
            <a:normAutofit/>
          </a:bodyPr>
          <a:lstStyle/>
          <a:p>
            <a:pPr indent="0" marL="0">
              <a:buNone/>
            </a:pPr>
            <a:r>
              <a:rPr lang="en-US" sz="1180" b="1" dirty="0">
                <a:solidFill>
                  <a:srgbClr val="F44B00"/>
                </a:solidFill>
                <a:latin typeface="Aptos" pitchFamily="34" charset="0"/>
                <a:ea typeface="Aptos" pitchFamily="34" charset="-122"/>
                <a:cs typeface="Aptos" pitchFamily="34" charset="-120"/>
              </a:rPr>
              <a:t>STANDARD MODEL</a:t>
            </a:r>
            <a:endParaRPr lang="en-US" sz="1180" dirty="0"/>
          </a:p>
        </p:txBody>
      </p:sp>
      <p:sp>
        <p:nvSpPr>
          <p:cNvPr id="16" name="Text 14"/>
          <p:cNvSpPr/>
          <p:nvPr/>
        </p:nvSpPr>
        <p:spPr>
          <a:xfrm>
            <a:off x="4581144" y="2651760"/>
            <a:ext cx="3191256" cy="347472"/>
          </a:xfrm>
          <a:prstGeom prst="rect">
            <a:avLst/>
          </a:prstGeom>
          <a:noFill/>
          <a:ln/>
        </p:spPr>
        <p:txBody>
          <a:bodyPr wrap="square" lIns="0" tIns="0" rIns="0" bIns="0" rtlCol="0" anchor="ctr">
            <a:normAutofit/>
          </a:bodyPr>
          <a:lstStyle/>
          <a:p>
            <a:pPr indent="0" marL="0">
              <a:buNone/>
            </a:pPr>
            <a:r>
              <a:rPr lang="en-US" sz="1750" b="1" dirty="0">
                <a:solidFill>
                  <a:srgbClr val="171716"/>
                </a:solidFill>
                <a:latin typeface="Aptos" pitchFamily="34" charset="0"/>
                <a:ea typeface="Aptos" pitchFamily="34" charset="-122"/>
                <a:cs typeface="Aptos" pitchFamily="34" charset="-120"/>
              </a:rPr>
              <a:t>~20–40B active</a:t>
            </a:r>
            <a:endParaRPr lang="en-US" sz="1750" dirty="0"/>
          </a:p>
        </p:txBody>
      </p:sp>
      <p:sp>
        <p:nvSpPr>
          <p:cNvPr id="17" name="Text 15"/>
          <p:cNvSpPr/>
          <p:nvPr/>
        </p:nvSpPr>
        <p:spPr>
          <a:xfrm>
            <a:off x="4581144" y="3081528"/>
            <a:ext cx="3218688" cy="347472"/>
          </a:xfrm>
          <a:prstGeom prst="rect">
            <a:avLst/>
          </a:prstGeom>
          <a:noFill/>
          <a:ln/>
        </p:spPr>
        <p:txBody>
          <a:bodyPr wrap="square" lIns="0" tIns="0" rIns="0" bIns="0" rtlCol="0" anchor="ctr">
            <a:normAutofit/>
          </a:bodyPr>
          <a:lstStyle/>
          <a:p>
            <a:pPr indent="0" marL="0">
              <a:buNone/>
            </a:pPr>
            <a:r>
              <a:rPr lang="en-US" sz="1840" b="1" dirty="0">
                <a:solidFill>
                  <a:srgbClr val="171716"/>
                </a:solidFill>
                <a:latin typeface="Aptos" pitchFamily="34" charset="0"/>
                <a:ea typeface="Aptos" pitchFamily="34" charset="-122"/>
                <a:cs typeface="Aptos" pitchFamily="34" charset="-120"/>
              </a:rPr>
              <a:t>$24K / RL cycle</a:t>
            </a:r>
            <a:endParaRPr lang="en-US" sz="1840" dirty="0"/>
          </a:p>
        </p:txBody>
      </p:sp>
      <p:sp>
        <p:nvSpPr>
          <p:cNvPr id="18" name="Text 16"/>
          <p:cNvSpPr/>
          <p:nvPr/>
        </p:nvSpPr>
        <p:spPr>
          <a:xfrm>
            <a:off x="4581144" y="3657600"/>
            <a:ext cx="3163824" cy="274320"/>
          </a:xfrm>
          <a:prstGeom prst="rect">
            <a:avLst/>
          </a:prstGeom>
          <a:noFill/>
          <a:ln/>
        </p:spPr>
        <p:txBody>
          <a:bodyPr wrap="square" lIns="0" tIns="0" rIns="0" bIns="0" rtlCol="0" anchor="ctr">
            <a:normAutofit/>
          </a:bodyPr>
          <a:lstStyle/>
          <a:p>
            <a:pPr indent="0" marL="0">
              <a:buNone/>
            </a:pPr>
            <a:r>
              <a:rPr lang="en-US" sz="1220" dirty="0">
                <a:solidFill>
                  <a:srgbClr val="5F5B57"/>
                </a:solidFill>
                <a:latin typeface="Aptos" pitchFamily="34" charset="0"/>
                <a:ea typeface="Aptos" pitchFamily="34" charset="-122"/>
                <a:cs typeface="Aptos" pitchFamily="34" charset="-120"/>
              </a:rPr>
              <a:t>up to 1,120 GPU-h</a:t>
            </a:r>
            <a:endParaRPr lang="en-US" sz="1220" dirty="0"/>
          </a:p>
        </p:txBody>
      </p:sp>
      <p:sp>
        <p:nvSpPr>
          <p:cNvPr id="19" name="Shape 17"/>
          <p:cNvSpPr/>
          <p:nvPr/>
        </p:nvSpPr>
        <p:spPr>
          <a:xfrm>
            <a:off x="8238744" y="2093976"/>
            <a:ext cx="3557016" cy="2002536"/>
          </a:xfrm>
          <a:prstGeom prst="roundRect">
            <a:avLst>
              <a:gd name="adj" fmla="val 3653"/>
            </a:avLst>
          </a:prstGeom>
          <a:solidFill>
            <a:srgbClr val="FFFFFF"/>
          </a:solidFill>
          <a:ln w="10160">
            <a:solidFill>
              <a:srgbClr val="DCD7D1"/>
            </a:solidFill>
            <a:prstDash val="solid"/>
          </a:ln>
        </p:spPr>
      </p:sp>
      <p:sp>
        <p:nvSpPr>
          <p:cNvPr id="20" name="Text 18"/>
          <p:cNvSpPr/>
          <p:nvPr/>
        </p:nvSpPr>
        <p:spPr>
          <a:xfrm>
            <a:off x="8403336" y="2295144"/>
            <a:ext cx="3200400" cy="256032"/>
          </a:xfrm>
          <a:prstGeom prst="rect">
            <a:avLst/>
          </a:prstGeom>
          <a:noFill/>
          <a:ln/>
        </p:spPr>
        <p:txBody>
          <a:bodyPr wrap="square" lIns="0" tIns="0" rIns="0" bIns="0" rtlCol="0" anchor="ctr">
            <a:normAutofit/>
          </a:bodyPr>
          <a:lstStyle/>
          <a:p>
            <a:pPr indent="0" marL="0">
              <a:buNone/>
            </a:pPr>
            <a:r>
              <a:rPr lang="en-US" sz="1180" b="1" dirty="0">
                <a:solidFill>
                  <a:srgbClr val="F44B00"/>
                </a:solidFill>
                <a:latin typeface="Aptos" pitchFamily="34" charset="0"/>
                <a:ea typeface="Aptos" pitchFamily="34" charset="-122"/>
                <a:cs typeface="Aptos" pitchFamily="34" charset="-120"/>
              </a:rPr>
              <a:t>LARGE / MoE</a:t>
            </a:r>
            <a:endParaRPr lang="en-US" sz="1180" dirty="0"/>
          </a:p>
        </p:txBody>
      </p:sp>
      <p:sp>
        <p:nvSpPr>
          <p:cNvPr id="21" name="Text 19"/>
          <p:cNvSpPr/>
          <p:nvPr/>
        </p:nvSpPr>
        <p:spPr>
          <a:xfrm>
            <a:off x="8403336" y="2651760"/>
            <a:ext cx="3191256" cy="347472"/>
          </a:xfrm>
          <a:prstGeom prst="rect">
            <a:avLst/>
          </a:prstGeom>
          <a:noFill/>
          <a:ln/>
        </p:spPr>
        <p:txBody>
          <a:bodyPr wrap="square" lIns="0" tIns="0" rIns="0" bIns="0" rtlCol="0" anchor="ctr">
            <a:normAutofit/>
          </a:bodyPr>
          <a:lstStyle/>
          <a:p>
            <a:pPr indent="0" marL="0">
              <a:buNone/>
            </a:pPr>
            <a:r>
              <a:rPr lang="en-US" sz="1750" b="1" dirty="0">
                <a:solidFill>
                  <a:srgbClr val="171716"/>
                </a:solidFill>
                <a:latin typeface="Aptos" pitchFamily="34" charset="0"/>
                <a:ea typeface="Aptos" pitchFamily="34" charset="-122"/>
                <a:cs typeface="Aptos" pitchFamily="34" charset="-120"/>
              </a:rPr>
              <a:t>Multi-node train</a:t>
            </a:r>
            <a:endParaRPr lang="en-US" sz="1750" dirty="0"/>
          </a:p>
        </p:txBody>
      </p:sp>
      <p:sp>
        <p:nvSpPr>
          <p:cNvPr id="22" name="Text 20"/>
          <p:cNvSpPr/>
          <p:nvPr/>
        </p:nvSpPr>
        <p:spPr>
          <a:xfrm>
            <a:off x="8403336" y="3081528"/>
            <a:ext cx="3218688" cy="347472"/>
          </a:xfrm>
          <a:prstGeom prst="rect">
            <a:avLst/>
          </a:prstGeom>
          <a:noFill/>
          <a:ln/>
        </p:spPr>
        <p:txBody>
          <a:bodyPr wrap="square" lIns="0" tIns="0" rIns="0" bIns="0" rtlCol="0" anchor="ctr">
            <a:normAutofit/>
          </a:bodyPr>
          <a:lstStyle/>
          <a:p>
            <a:pPr indent="0" marL="0">
              <a:buNone/>
            </a:pPr>
            <a:r>
              <a:rPr lang="en-US" sz="1840" b="1" dirty="0">
                <a:solidFill>
                  <a:srgbClr val="171716"/>
                </a:solidFill>
                <a:latin typeface="Aptos" pitchFamily="34" charset="0"/>
                <a:ea typeface="Aptos" pitchFamily="34" charset="-122"/>
                <a:cs typeface="Aptos" pitchFamily="34" charset="-120"/>
              </a:rPr>
              <a:t>$60K / RL cycle</a:t>
            </a:r>
            <a:endParaRPr lang="en-US" sz="1840" dirty="0"/>
          </a:p>
        </p:txBody>
      </p:sp>
      <p:sp>
        <p:nvSpPr>
          <p:cNvPr id="23" name="Text 21"/>
          <p:cNvSpPr/>
          <p:nvPr/>
        </p:nvSpPr>
        <p:spPr>
          <a:xfrm>
            <a:off x="8403336" y="3657600"/>
            <a:ext cx="3163824" cy="274320"/>
          </a:xfrm>
          <a:prstGeom prst="rect">
            <a:avLst/>
          </a:prstGeom>
          <a:noFill/>
          <a:ln/>
        </p:spPr>
        <p:txBody>
          <a:bodyPr wrap="square" lIns="0" tIns="0" rIns="0" bIns="0" rtlCol="0" anchor="ctr">
            <a:normAutofit/>
          </a:bodyPr>
          <a:lstStyle/>
          <a:p>
            <a:pPr indent="0" marL="0">
              <a:buNone/>
            </a:pPr>
            <a:r>
              <a:rPr lang="en-US" sz="1220" dirty="0">
                <a:solidFill>
                  <a:srgbClr val="5F5B57"/>
                </a:solidFill>
                <a:latin typeface="Aptos" pitchFamily="34" charset="0"/>
                <a:ea typeface="Aptos" pitchFamily="34" charset="-122"/>
                <a:cs typeface="Aptos" pitchFamily="34" charset="-120"/>
              </a:rPr>
              <a:t>up to 2,800 GPU-h</a:t>
            </a:r>
            <a:endParaRPr lang="en-US" sz="1220" dirty="0"/>
          </a:p>
        </p:txBody>
      </p:sp>
      <p:sp>
        <p:nvSpPr>
          <p:cNvPr id="24" name="Shape 22"/>
          <p:cNvSpPr/>
          <p:nvPr/>
        </p:nvSpPr>
        <p:spPr>
          <a:xfrm>
            <a:off x="612648" y="4306824"/>
            <a:ext cx="5367528" cy="1298448"/>
          </a:xfrm>
          <a:prstGeom prst="roundRect">
            <a:avLst>
              <a:gd name="adj" fmla="val 5634"/>
            </a:avLst>
          </a:prstGeom>
          <a:solidFill>
            <a:srgbClr val="FFFFFF"/>
          </a:solidFill>
          <a:ln w="10160">
            <a:solidFill>
              <a:srgbClr val="DCD7D1"/>
            </a:solidFill>
            <a:prstDash val="solid"/>
          </a:ln>
        </p:spPr>
      </p:sp>
      <p:sp>
        <p:nvSpPr>
          <p:cNvPr id="25" name="Text 23"/>
          <p:cNvSpPr/>
          <p:nvPr/>
        </p:nvSpPr>
        <p:spPr>
          <a:xfrm>
            <a:off x="804672" y="4498848"/>
            <a:ext cx="4937760" cy="228600"/>
          </a:xfrm>
          <a:prstGeom prst="rect">
            <a:avLst/>
          </a:prstGeom>
          <a:noFill/>
          <a:ln/>
        </p:spPr>
        <p:txBody>
          <a:bodyPr wrap="square" lIns="0" tIns="0" rIns="0" bIns="0" rtlCol="0" anchor="ctr">
            <a:normAutofit/>
          </a:bodyPr>
          <a:lstStyle/>
          <a:p>
            <a:pPr indent="0" marL="0">
              <a:buNone/>
            </a:pPr>
            <a:r>
              <a:rPr lang="en-US" sz="1190" b="1" dirty="0">
                <a:solidFill>
                  <a:srgbClr val="F44B00"/>
                </a:solidFill>
                <a:latin typeface="Aptos" pitchFamily="34" charset="0"/>
                <a:ea typeface="Aptos" pitchFamily="34" charset="-122"/>
                <a:cs typeface="Aptos" pitchFamily="34" charset="-120"/>
              </a:rPr>
              <a:t>MORE ENGINEERING</a:t>
            </a:r>
            <a:endParaRPr lang="en-US" sz="1190" dirty="0"/>
          </a:p>
        </p:txBody>
      </p:sp>
      <p:sp>
        <p:nvSpPr>
          <p:cNvPr id="26" name="Text 24"/>
          <p:cNvSpPr/>
          <p:nvPr/>
        </p:nvSpPr>
        <p:spPr>
          <a:xfrm>
            <a:off x="804672" y="4864608"/>
            <a:ext cx="4901184" cy="310896"/>
          </a:xfrm>
          <a:prstGeom prst="rect">
            <a:avLst/>
          </a:prstGeom>
          <a:noFill/>
          <a:ln/>
        </p:spPr>
        <p:txBody>
          <a:bodyPr wrap="square" lIns="0" tIns="0" rIns="0" bIns="0" rtlCol="0" anchor="ctr">
            <a:normAutofit/>
          </a:bodyPr>
          <a:lstStyle/>
          <a:p>
            <a:pPr indent="0" marL="0">
              <a:buNone/>
            </a:pPr>
            <a:r>
              <a:rPr lang="en-US" sz="1700" b="1" dirty="0">
                <a:solidFill>
                  <a:srgbClr val="171716"/>
                </a:solidFill>
                <a:latin typeface="Aptos" pitchFamily="34" charset="0"/>
                <a:ea typeface="Aptos" pitchFamily="34" charset="-122"/>
                <a:cs typeface="Aptos" pitchFamily="34" charset="-120"/>
              </a:rPr>
              <a:t>FDE $280/h  •  ML $320/h</a:t>
            </a:r>
            <a:endParaRPr lang="en-US" sz="1700" dirty="0"/>
          </a:p>
        </p:txBody>
      </p:sp>
      <p:sp>
        <p:nvSpPr>
          <p:cNvPr id="27" name="Shape 25"/>
          <p:cNvSpPr/>
          <p:nvPr/>
        </p:nvSpPr>
        <p:spPr>
          <a:xfrm>
            <a:off x="6126480" y="4306824"/>
            <a:ext cx="5458968" cy="1298448"/>
          </a:xfrm>
          <a:prstGeom prst="roundRect">
            <a:avLst>
              <a:gd name="adj" fmla="val 5634"/>
            </a:avLst>
          </a:prstGeom>
          <a:solidFill>
            <a:srgbClr val="FFFFFF"/>
          </a:solidFill>
          <a:ln w="10160">
            <a:solidFill>
              <a:srgbClr val="DCD7D1"/>
            </a:solidFill>
            <a:prstDash val="solid"/>
          </a:ln>
        </p:spPr>
      </p:sp>
      <p:sp>
        <p:nvSpPr>
          <p:cNvPr id="28" name="Text 26"/>
          <p:cNvSpPr/>
          <p:nvPr/>
        </p:nvSpPr>
        <p:spPr>
          <a:xfrm>
            <a:off x="6318504" y="4498848"/>
            <a:ext cx="5074920" cy="228600"/>
          </a:xfrm>
          <a:prstGeom prst="rect">
            <a:avLst/>
          </a:prstGeom>
          <a:noFill/>
          <a:ln/>
        </p:spPr>
        <p:txBody>
          <a:bodyPr wrap="square" lIns="0" tIns="0" rIns="0" bIns="0" rtlCol="0" anchor="ctr">
            <a:normAutofit/>
          </a:bodyPr>
          <a:lstStyle/>
          <a:p>
            <a:pPr indent="0" marL="0">
              <a:buNone/>
            </a:pPr>
            <a:r>
              <a:rPr lang="en-US" sz="1190" b="1" dirty="0">
                <a:solidFill>
                  <a:srgbClr val="F44B00"/>
                </a:solidFill>
                <a:latin typeface="Aptos" pitchFamily="34" charset="0"/>
                <a:ea typeface="Aptos" pitchFamily="34" charset="-122"/>
                <a:cs typeface="Aptos" pitchFamily="34" charset="-120"/>
              </a:rPr>
              <a:t>PRODUCTION (SEPARATE ORDER)</a:t>
            </a:r>
            <a:endParaRPr lang="en-US" sz="1190" dirty="0"/>
          </a:p>
        </p:txBody>
      </p:sp>
      <p:sp>
        <p:nvSpPr>
          <p:cNvPr id="29" name="Text 27"/>
          <p:cNvSpPr/>
          <p:nvPr/>
        </p:nvSpPr>
        <p:spPr>
          <a:xfrm>
            <a:off x="6318504" y="4855464"/>
            <a:ext cx="5093208" cy="448056"/>
          </a:xfrm>
          <a:prstGeom prst="rect">
            <a:avLst/>
          </a:prstGeom>
          <a:noFill/>
          <a:ln/>
        </p:spPr>
        <p:txBody>
          <a:bodyPr wrap="square" lIns="0" tIns="0" rIns="0" bIns="0" rtlCol="0" anchor="ctr">
            <a:normAutofit/>
          </a:bodyPr>
          <a:lstStyle/>
          <a:p>
            <a:pPr indent="0" marL="0">
              <a:buNone/>
            </a:pPr>
            <a:r>
              <a:rPr lang="en-US" sz="1680" b="1" dirty="0">
                <a:solidFill>
                  <a:srgbClr val="171716"/>
                </a:solidFill>
                <a:latin typeface="Aptos" pitchFamily="34" charset="0"/>
                <a:ea typeface="Aptos" pitchFamily="34" charset="-122"/>
                <a:cs typeface="Aptos" pitchFamily="34" charset="-120"/>
              </a:rPr>
              <a:t>Replica fee + $/1M input/output tokens</a:t>
            </a:r>
            <a:endParaRPr lang="en-US" sz="1680" dirty="0"/>
          </a:p>
        </p:txBody>
      </p:sp>
      <p:sp>
        <p:nvSpPr>
          <p:cNvPr id="30" name="Text 28"/>
          <p:cNvSpPr/>
          <p:nvPr/>
        </p:nvSpPr>
        <p:spPr>
          <a:xfrm>
            <a:off x="612648" y="5897880"/>
            <a:ext cx="10972800" cy="393192"/>
          </a:xfrm>
          <a:prstGeom prst="rect">
            <a:avLst/>
          </a:prstGeom>
          <a:noFill/>
          <a:ln/>
        </p:spPr>
        <p:txBody>
          <a:bodyPr wrap="square" lIns="0" tIns="0" rIns="0" bIns="0" rtlCol="0" anchor="ctr">
            <a:normAutofit/>
          </a:bodyPr>
          <a:lstStyle/>
          <a:p>
            <a:pPr indent="0" marL="0">
              <a:buNone/>
            </a:pPr>
            <a:r>
              <a:rPr lang="en-US" sz="1320" b="1" dirty="0">
                <a:solidFill>
                  <a:srgbClr val="D83E00"/>
                </a:solidFill>
                <a:latin typeface="Aptos" pitchFamily="34" charset="0"/>
                <a:ea typeface="Aptos" pitchFamily="34" charset="-122"/>
                <a:cs typeface="Aptos" pitchFamily="34" charset="-120"/>
              </a:rPr>
              <a:t>Internal approval: expected price ≥ cost ÷ (1 − target margin). Test 40–50% training GM; competitor offers must match scope.</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F44B00"/>
          </a:solidFill>
          <a:ln w="7620">
            <a:solidFill>
              <a:srgbClr val="F44B00">
                <a:alpha val="0"/>
              </a:srgbClr>
            </a:solidFill>
            <a:prstDash val="solid"/>
          </a:ln>
        </p:spPr>
      </p:sp>
      <p:sp>
        <p:nvSpPr>
          <p:cNvPr id="3" name="Text 1"/>
          <p:cNvSpPr/>
          <p:nvPr/>
        </p:nvSpPr>
        <p:spPr>
          <a:xfrm>
            <a:off x="548640" y="338328"/>
            <a:ext cx="3383280" cy="283464"/>
          </a:xfrm>
          <a:prstGeom prst="rect">
            <a:avLst/>
          </a:prstGeom>
          <a:noFill/>
          <a:ln/>
        </p:spPr>
        <p:txBody>
          <a:bodyPr wrap="square" lIns="0" tIns="0" rIns="0" bIns="0" rtlCol="0" anchor="ctr">
            <a:normAutofit/>
          </a:bodyPr>
          <a:lstStyle/>
          <a:p>
            <a:pPr indent="0" marL="0">
              <a:buNone/>
            </a:pPr>
            <a:r>
              <a:rPr lang="en-US" sz="1200" b="1" spc="160" kern="0" dirty="0">
                <a:solidFill>
                  <a:srgbClr val="171716"/>
                </a:solidFill>
                <a:latin typeface="Aptos" pitchFamily="34" charset="0"/>
                <a:ea typeface="Aptos" pitchFamily="34" charset="-122"/>
                <a:cs typeface="Aptos" pitchFamily="34" charset="-120"/>
              </a:rPr>
              <a:t>APPLIED COMPUTE</a:t>
            </a:r>
            <a:endParaRPr lang="en-US" sz="1200" dirty="0"/>
          </a:p>
        </p:txBody>
      </p:sp>
      <p:sp>
        <p:nvSpPr>
          <p:cNvPr id="4" name="Text 2"/>
          <p:cNvSpPr/>
          <p:nvPr/>
        </p:nvSpPr>
        <p:spPr>
          <a:xfrm>
            <a:off x="8503920" y="365760"/>
            <a:ext cx="3063240" cy="210312"/>
          </a:xfrm>
          <a:prstGeom prst="rect">
            <a:avLst/>
          </a:prstGeom>
          <a:noFill/>
          <a:ln/>
        </p:spPr>
        <p:txBody>
          <a:bodyPr wrap="square" lIns="0" tIns="0" rIns="0" bIns="0" rtlCol="0" anchor="ctr">
            <a:normAutofit/>
          </a:bodyPr>
          <a:lstStyle/>
          <a:p>
            <a:pPr algn="r" indent="0" marL="0">
              <a:buNone/>
            </a:pPr>
            <a:r>
              <a:rPr lang="en-US" sz="1000" b="1" spc="100" kern="0" dirty="0">
                <a:solidFill>
                  <a:srgbClr val="857F78"/>
                </a:solidFill>
                <a:latin typeface="Aptos" pitchFamily="34" charset="0"/>
                <a:ea typeface="Aptos" pitchFamily="34" charset="-122"/>
                <a:cs typeface="Aptos" pitchFamily="34" charset="-120"/>
              </a:rPr>
              <a:t>04 / SOW ACCEPTANCE</a:t>
            </a:r>
            <a:endParaRPr lang="en-US" sz="1000" dirty="0"/>
          </a:p>
        </p:txBody>
      </p:sp>
      <p:sp>
        <p:nvSpPr>
          <p:cNvPr id="5" name="Text 3"/>
          <p:cNvSpPr/>
          <p:nvPr/>
        </p:nvSpPr>
        <p:spPr>
          <a:xfrm>
            <a:off x="557784" y="932688"/>
            <a:ext cx="11036808" cy="1024128"/>
          </a:xfrm>
          <a:prstGeom prst="rect">
            <a:avLst/>
          </a:prstGeom>
          <a:noFill/>
          <a:ln/>
        </p:spPr>
        <p:txBody>
          <a:bodyPr wrap="square" lIns="0" tIns="0" rIns="0" bIns="0" rtlCol="0" anchor="ctr">
            <a:normAutofit/>
          </a:bodyPr>
          <a:lstStyle/>
          <a:p>
            <a:pPr indent="0" marL="0">
              <a:buNone/>
            </a:pPr>
            <a:r>
              <a:rPr lang="en-US" sz="3100" b="1" dirty="0">
                <a:solidFill>
                  <a:srgbClr val="171716"/>
                </a:solidFill>
                <a:latin typeface="Aptos" pitchFamily="34" charset="0"/>
                <a:ea typeface="Aptos" pitchFamily="34" charset="-122"/>
                <a:cs typeface="Aptos" pitchFamily="34" charset="-120"/>
              </a:rPr>
              <a:t>Completion is evidence at four explicit delivery gates</a:t>
            </a:r>
            <a:endParaRPr lang="en-US" sz="3100" dirty="0"/>
          </a:p>
        </p:txBody>
      </p:sp>
      <p:sp>
        <p:nvSpPr>
          <p:cNvPr id="6" name="Shape 4"/>
          <p:cNvSpPr/>
          <p:nvPr/>
        </p:nvSpPr>
        <p:spPr>
          <a:xfrm>
            <a:off x="557784" y="6483096"/>
            <a:ext cx="11055096" cy="0"/>
          </a:xfrm>
          <a:prstGeom prst="line">
            <a:avLst/>
          </a:prstGeom>
          <a:noFill/>
          <a:ln w="9525">
            <a:solidFill>
              <a:srgbClr val="DCD7D1"/>
            </a:solidFill>
            <a:prstDash val="solid"/>
          </a:ln>
        </p:spPr>
      </p:sp>
      <p:sp>
        <p:nvSpPr>
          <p:cNvPr id="7" name="Text 5"/>
          <p:cNvSpPr/>
          <p:nvPr/>
        </p:nvSpPr>
        <p:spPr>
          <a:xfrm>
            <a:off x="557784" y="6565392"/>
            <a:ext cx="8412480" cy="128016"/>
          </a:xfrm>
          <a:prstGeom prst="rect">
            <a:avLst/>
          </a:prstGeom>
          <a:noFill/>
          <a:ln/>
        </p:spPr>
        <p:txBody>
          <a:bodyPr wrap="square" lIns="0" tIns="0" rIns="0" bIns="0" rtlCol="0" anchor="ctr">
            <a:normAutofit/>
          </a:bodyPr>
          <a:lstStyle/>
          <a:p>
            <a:pPr indent="0" marL="0">
              <a:buNone/>
            </a:pPr>
            <a:r>
              <a:rPr lang="en-US" sz="820" b="1" dirty="0">
                <a:solidFill>
                  <a:srgbClr val="857F78"/>
                </a:solidFill>
                <a:latin typeface="Aptos" pitchFamily="34" charset="0"/>
                <a:ea typeface="Aptos" pitchFamily="34" charset="-122"/>
                <a:cs typeface="Aptos" pitchFamily="34" charset="-120"/>
              </a:rPr>
              <a:t>ENTERPRISE DEAL ECONOMICS  /  ILLUSTRATIVE FRAMEWORK</a:t>
            </a:r>
            <a:endParaRPr lang="en-US" sz="820" dirty="0"/>
          </a:p>
        </p:txBody>
      </p:sp>
      <p:sp>
        <p:nvSpPr>
          <p:cNvPr id="8" name="Text 6"/>
          <p:cNvSpPr/>
          <p:nvPr/>
        </p:nvSpPr>
        <p:spPr>
          <a:xfrm>
            <a:off x="11173968" y="6547104"/>
            <a:ext cx="411480" cy="146304"/>
          </a:xfrm>
          <a:prstGeom prst="rect">
            <a:avLst/>
          </a:prstGeom>
          <a:noFill/>
          <a:ln/>
        </p:spPr>
        <p:txBody>
          <a:bodyPr wrap="square" lIns="0" tIns="0" rIns="0" bIns="0" rtlCol="0" anchor="ctr">
            <a:normAutofit/>
          </a:bodyPr>
          <a:lstStyle/>
          <a:p>
            <a:pPr algn="r" indent="0" marL="0">
              <a:buNone/>
            </a:pPr>
            <a:r>
              <a:rPr lang="en-US" sz="900" b="1" dirty="0">
                <a:solidFill>
                  <a:srgbClr val="5F5B57"/>
                </a:solidFill>
                <a:latin typeface="Aptos" pitchFamily="34" charset="0"/>
                <a:ea typeface="Aptos" pitchFamily="34" charset="-122"/>
                <a:cs typeface="Aptos" pitchFamily="34" charset="-120"/>
              </a:rPr>
              <a:t>10</a:t>
            </a:r>
            <a:endParaRPr lang="en-US" sz="900" dirty="0"/>
          </a:p>
        </p:txBody>
      </p:sp>
      <p:sp>
        <p:nvSpPr>
          <p:cNvPr id="9" name="Shape 7"/>
          <p:cNvSpPr/>
          <p:nvPr/>
        </p:nvSpPr>
        <p:spPr>
          <a:xfrm>
            <a:off x="603504" y="2103120"/>
            <a:ext cx="10972800" cy="859536"/>
          </a:xfrm>
          <a:prstGeom prst="roundRect">
            <a:avLst>
              <a:gd name="adj" fmla="val 8511"/>
            </a:avLst>
          </a:prstGeom>
          <a:solidFill>
            <a:srgbClr val="FFFFFF"/>
          </a:solidFill>
          <a:ln w="10160">
            <a:solidFill>
              <a:srgbClr val="DCD7D1"/>
            </a:solidFill>
            <a:prstDash val="solid"/>
          </a:ln>
        </p:spPr>
      </p:sp>
      <p:sp>
        <p:nvSpPr>
          <p:cNvPr id="10" name="Text 8"/>
          <p:cNvSpPr/>
          <p:nvPr/>
        </p:nvSpPr>
        <p:spPr>
          <a:xfrm>
            <a:off x="804672" y="2240280"/>
            <a:ext cx="2048256" cy="246888"/>
          </a:xfrm>
          <a:prstGeom prst="rect">
            <a:avLst/>
          </a:prstGeom>
          <a:noFill/>
          <a:ln/>
        </p:spPr>
        <p:txBody>
          <a:bodyPr wrap="square" lIns="0" tIns="0" rIns="0" bIns="0" rtlCol="0" anchor="ctr">
            <a:normAutofit/>
          </a:bodyPr>
          <a:lstStyle/>
          <a:p>
            <a:pPr indent="0" marL="0">
              <a:buNone/>
            </a:pPr>
            <a:r>
              <a:rPr lang="en-US" sz="1200" b="1" dirty="0">
                <a:solidFill>
                  <a:srgbClr val="F44B00"/>
                </a:solidFill>
                <a:latin typeface="Aptos" pitchFamily="34" charset="0"/>
                <a:ea typeface="Aptos" pitchFamily="34" charset="-122"/>
                <a:cs typeface="Aptos" pitchFamily="34" charset="-120"/>
              </a:rPr>
              <a:t>0  BASELINE</a:t>
            </a:r>
            <a:endParaRPr lang="en-US" sz="1200" dirty="0"/>
          </a:p>
        </p:txBody>
      </p:sp>
      <p:sp>
        <p:nvSpPr>
          <p:cNvPr id="11" name="Text 9"/>
          <p:cNvSpPr/>
          <p:nvPr/>
        </p:nvSpPr>
        <p:spPr>
          <a:xfrm>
            <a:off x="2816352" y="2258568"/>
            <a:ext cx="1417320" cy="237744"/>
          </a:xfrm>
          <a:prstGeom prst="rect">
            <a:avLst/>
          </a:prstGeom>
          <a:noFill/>
          <a:ln/>
        </p:spPr>
        <p:txBody>
          <a:bodyPr wrap="square" lIns="0" tIns="0" rIns="0" bIns="0" rtlCol="0" anchor="ctr">
            <a:normAutofit/>
          </a:bodyPr>
          <a:lstStyle/>
          <a:p>
            <a:pPr indent="0" marL="0">
              <a:buNone/>
            </a:pPr>
            <a:r>
              <a:rPr lang="en-US" sz="1260" dirty="0">
                <a:solidFill>
                  <a:srgbClr val="5F5B57"/>
                </a:solidFill>
                <a:latin typeface="Aptos" pitchFamily="34" charset="0"/>
                <a:ea typeface="Aptos" pitchFamily="34" charset="-122"/>
                <a:cs typeface="Aptos" pitchFamily="34" charset="-120"/>
              </a:rPr>
              <a:t>Weeks 1–2</a:t>
            </a:r>
            <a:endParaRPr lang="en-US" sz="1260" dirty="0"/>
          </a:p>
        </p:txBody>
      </p:sp>
      <p:sp>
        <p:nvSpPr>
          <p:cNvPr id="12" name="Text 10"/>
          <p:cNvSpPr/>
          <p:nvPr/>
        </p:nvSpPr>
        <p:spPr>
          <a:xfrm>
            <a:off x="4288536" y="2221992"/>
            <a:ext cx="2807208" cy="438912"/>
          </a:xfrm>
          <a:prstGeom prst="rect">
            <a:avLst/>
          </a:prstGeom>
          <a:noFill/>
          <a:ln/>
        </p:spPr>
        <p:txBody>
          <a:bodyPr wrap="square" lIns="0" tIns="0" rIns="0" bIns="0" rtlCol="0" anchor="ctr">
            <a:normAutofit/>
          </a:bodyPr>
          <a:lstStyle/>
          <a:p>
            <a:pPr indent="0" marL="0">
              <a:buNone/>
            </a:pPr>
            <a:r>
              <a:rPr lang="en-US" sz="1600" b="1" dirty="0">
                <a:solidFill>
                  <a:srgbClr val="171716"/>
                </a:solidFill>
                <a:latin typeface="Aptos" pitchFamily="34" charset="0"/>
                <a:ea typeface="Aptos" pitchFamily="34" charset="-122"/>
                <a:cs typeface="Aptos" pitchFamily="34" charset="-120"/>
              </a:rPr>
              <a:t>Model + grader approved</a:t>
            </a:r>
            <a:endParaRPr lang="en-US" sz="1600" dirty="0"/>
          </a:p>
        </p:txBody>
      </p:sp>
      <p:sp>
        <p:nvSpPr>
          <p:cNvPr id="13" name="Text 11"/>
          <p:cNvSpPr/>
          <p:nvPr/>
        </p:nvSpPr>
        <p:spPr>
          <a:xfrm>
            <a:off x="7296912" y="2194560"/>
            <a:ext cx="4069080" cy="521208"/>
          </a:xfrm>
          <a:prstGeom prst="rect">
            <a:avLst/>
          </a:prstGeom>
          <a:noFill/>
          <a:ln/>
        </p:spPr>
        <p:txBody>
          <a:bodyPr wrap="square" lIns="0" tIns="0" rIns="0" bIns="0" rtlCol="0" anchor="ctr">
            <a:normAutofit/>
          </a:bodyPr>
          <a:lstStyle/>
          <a:p>
            <a:pPr indent="0" marL="0">
              <a:buNone/>
            </a:pPr>
            <a:r>
              <a:rPr lang="en-US" sz="1450" dirty="0">
                <a:solidFill>
                  <a:srgbClr val="171716"/>
                </a:solidFill>
                <a:latin typeface="Aptos" pitchFamily="34" charset="0"/>
                <a:ea typeface="Aptos" pitchFamily="34" charset="-122"/>
                <a:cs typeface="Aptos" pitchFamily="34" charset="-120"/>
              </a:rPr>
              <a:t>Versioned holdout + baseline result</a:t>
            </a:r>
            <a:endParaRPr lang="en-US" sz="1450" dirty="0"/>
          </a:p>
        </p:txBody>
      </p:sp>
      <p:sp>
        <p:nvSpPr>
          <p:cNvPr id="14" name="Shape 12"/>
          <p:cNvSpPr/>
          <p:nvPr/>
        </p:nvSpPr>
        <p:spPr>
          <a:xfrm>
            <a:off x="603504" y="3081528"/>
            <a:ext cx="10972800" cy="859536"/>
          </a:xfrm>
          <a:prstGeom prst="roundRect">
            <a:avLst>
              <a:gd name="adj" fmla="val 8511"/>
            </a:avLst>
          </a:prstGeom>
          <a:solidFill>
            <a:srgbClr val="FFFFFF"/>
          </a:solidFill>
          <a:ln w="10160">
            <a:solidFill>
              <a:srgbClr val="DCD7D1"/>
            </a:solidFill>
            <a:prstDash val="solid"/>
          </a:ln>
        </p:spPr>
      </p:sp>
      <p:sp>
        <p:nvSpPr>
          <p:cNvPr id="15" name="Text 13"/>
          <p:cNvSpPr/>
          <p:nvPr/>
        </p:nvSpPr>
        <p:spPr>
          <a:xfrm>
            <a:off x="804672" y="3218688"/>
            <a:ext cx="2048256" cy="246888"/>
          </a:xfrm>
          <a:prstGeom prst="rect">
            <a:avLst/>
          </a:prstGeom>
          <a:noFill/>
          <a:ln/>
        </p:spPr>
        <p:txBody>
          <a:bodyPr wrap="square" lIns="0" tIns="0" rIns="0" bIns="0" rtlCol="0" anchor="ctr">
            <a:normAutofit/>
          </a:bodyPr>
          <a:lstStyle/>
          <a:p>
            <a:pPr indent="0" marL="0">
              <a:buNone/>
            </a:pPr>
            <a:r>
              <a:rPr lang="en-US" sz="1200" b="1" dirty="0">
                <a:solidFill>
                  <a:srgbClr val="F44B00"/>
                </a:solidFill>
                <a:latin typeface="Aptos" pitchFamily="34" charset="0"/>
                <a:ea typeface="Aptos" pitchFamily="34" charset="-122"/>
                <a:cs typeface="Aptos" pitchFamily="34" charset="-120"/>
              </a:rPr>
              <a:t>1  SETUP</a:t>
            </a:r>
            <a:endParaRPr lang="en-US" sz="1200" dirty="0"/>
          </a:p>
        </p:txBody>
      </p:sp>
      <p:sp>
        <p:nvSpPr>
          <p:cNvPr id="16" name="Text 14"/>
          <p:cNvSpPr/>
          <p:nvPr/>
        </p:nvSpPr>
        <p:spPr>
          <a:xfrm>
            <a:off x="2816352" y="3236976"/>
            <a:ext cx="1417320" cy="237744"/>
          </a:xfrm>
          <a:prstGeom prst="rect">
            <a:avLst/>
          </a:prstGeom>
          <a:noFill/>
          <a:ln/>
        </p:spPr>
        <p:txBody>
          <a:bodyPr wrap="square" lIns="0" tIns="0" rIns="0" bIns="0" rtlCol="0" anchor="ctr">
            <a:normAutofit/>
          </a:bodyPr>
          <a:lstStyle/>
          <a:p>
            <a:pPr indent="0" marL="0">
              <a:buNone/>
            </a:pPr>
            <a:r>
              <a:rPr lang="en-US" sz="1260" dirty="0">
                <a:solidFill>
                  <a:srgbClr val="5F5B57"/>
                </a:solidFill>
                <a:latin typeface="Aptos" pitchFamily="34" charset="0"/>
                <a:ea typeface="Aptos" pitchFamily="34" charset="-122"/>
                <a:cs typeface="Aptos" pitchFamily="34" charset="-120"/>
              </a:rPr>
              <a:t>Week 2</a:t>
            </a:r>
            <a:endParaRPr lang="en-US" sz="1260" dirty="0"/>
          </a:p>
        </p:txBody>
      </p:sp>
      <p:sp>
        <p:nvSpPr>
          <p:cNvPr id="17" name="Text 15"/>
          <p:cNvSpPr/>
          <p:nvPr/>
        </p:nvSpPr>
        <p:spPr>
          <a:xfrm>
            <a:off x="4288536" y="3200400"/>
            <a:ext cx="2807208" cy="438912"/>
          </a:xfrm>
          <a:prstGeom prst="rect">
            <a:avLst/>
          </a:prstGeom>
          <a:noFill/>
          <a:ln/>
        </p:spPr>
        <p:txBody>
          <a:bodyPr wrap="square" lIns="0" tIns="0" rIns="0" bIns="0" rtlCol="0" anchor="ctr">
            <a:normAutofit/>
          </a:bodyPr>
          <a:lstStyle/>
          <a:p>
            <a:pPr indent="0" marL="0">
              <a:buNone/>
            </a:pPr>
            <a:r>
              <a:rPr lang="en-US" sz="1600" b="1" dirty="0">
                <a:solidFill>
                  <a:srgbClr val="171716"/>
                </a:solidFill>
                <a:latin typeface="Aptos" pitchFamily="34" charset="0"/>
                <a:ea typeface="Aptos" pitchFamily="34" charset="-122"/>
                <a:cs typeface="Aptos" pitchFamily="34" charset="-120"/>
              </a:rPr>
              <a:t>Harness and run ready</a:t>
            </a:r>
            <a:endParaRPr lang="en-US" sz="1600" dirty="0"/>
          </a:p>
        </p:txBody>
      </p:sp>
      <p:sp>
        <p:nvSpPr>
          <p:cNvPr id="18" name="Text 16"/>
          <p:cNvSpPr/>
          <p:nvPr/>
        </p:nvSpPr>
        <p:spPr>
          <a:xfrm>
            <a:off x="7296912" y="3172968"/>
            <a:ext cx="4069080" cy="521208"/>
          </a:xfrm>
          <a:prstGeom prst="rect">
            <a:avLst/>
          </a:prstGeom>
          <a:noFill/>
          <a:ln/>
        </p:spPr>
        <p:txBody>
          <a:bodyPr wrap="square" lIns="0" tIns="0" rIns="0" bIns="0" rtlCol="0" anchor="ctr">
            <a:normAutofit/>
          </a:bodyPr>
          <a:lstStyle/>
          <a:p>
            <a:pPr indent="0" marL="0">
              <a:buNone/>
            </a:pPr>
            <a:r>
              <a:rPr lang="en-US" sz="1450" dirty="0">
                <a:solidFill>
                  <a:srgbClr val="171716"/>
                </a:solidFill>
                <a:latin typeface="Aptos" pitchFamily="34" charset="0"/>
                <a:ea typeface="Aptos" pitchFamily="34" charset="-122"/>
                <a:cs typeface="Aptos" pitchFamily="34" charset="-120"/>
              </a:rPr>
              <a:t>Smoke test + config manifest</a:t>
            </a:r>
            <a:endParaRPr lang="en-US" sz="1450" dirty="0"/>
          </a:p>
        </p:txBody>
      </p:sp>
      <p:sp>
        <p:nvSpPr>
          <p:cNvPr id="19" name="Shape 17"/>
          <p:cNvSpPr/>
          <p:nvPr/>
        </p:nvSpPr>
        <p:spPr>
          <a:xfrm>
            <a:off x="603504" y="4059936"/>
            <a:ext cx="10972800" cy="859536"/>
          </a:xfrm>
          <a:prstGeom prst="roundRect">
            <a:avLst>
              <a:gd name="adj" fmla="val 8511"/>
            </a:avLst>
          </a:prstGeom>
          <a:solidFill>
            <a:srgbClr val="FFFFFF"/>
          </a:solidFill>
          <a:ln w="10160">
            <a:solidFill>
              <a:srgbClr val="DCD7D1"/>
            </a:solidFill>
            <a:prstDash val="solid"/>
          </a:ln>
        </p:spPr>
      </p:sp>
      <p:sp>
        <p:nvSpPr>
          <p:cNvPr id="20" name="Text 18"/>
          <p:cNvSpPr/>
          <p:nvPr/>
        </p:nvSpPr>
        <p:spPr>
          <a:xfrm>
            <a:off x="804672" y="4197096"/>
            <a:ext cx="2048256" cy="246888"/>
          </a:xfrm>
          <a:prstGeom prst="rect">
            <a:avLst/>
          </a:prstGeom>
          <a:noFill/>
          <a:ln/>
        </p:spPr>
        <p:txBody>
          <a:bodyPr wrap="square" lIns="0" tIns="0" rIns="0" bIns="0" rtlCol="0" anchor="ctr">
            <a:normAutofit/>
          </a:bodyPr>
          <a:lstStyle/>
          <a:p>
            <a:pPr indent="0" marL="0">
              <a:buNone/>
            </a:pPr>
            <a:r>
              <a:rPr lang="en-US" sz="1200" b="1" dirty="0">
                <a:solidFill>
                  <a:srgbClr val="F44B00"/>
                </a:solidFill>
                <a:latin typeface="Aptos" pitchFamily="34" charset="0"/>
                <a:ea typeface="Aptos" pitchFamily="34" charset="-122"/>
                <a:cs typeface="Aptos" pitchFamily="34" charset="-120"/>
              </a:rPr>
              <a:t>2  RL CYCLES</a:t>
            </a:r>
            <a:endParaRPr lang="en-US" sz="1200" dirty="0"/>
          </a:p>
        </p:txBody>
      </p:sp>
      <p:sp>
        <p:nvSpPr>
          <p:cNvPr id="21" name="Text 19"/>
          <p:cNvSpPr/>
          <p:nvPr/>
        </p:nvSpPr>
        <p:spPr>
          <a:xfrm>
            <a:off x="2816352" y="4215384"/>
            <a:ext cx="1417320" cy="237744"/>
          </a:xfrm>
          <a:prstGeom prst="rect">
            <a:avLst/>
          </a:prstGeom>
          <a:noFill/>
          <a:ln/>
        </p:spPr>
        <p:txBody>
          <a:bodyPr wrap="square" lIns="0" tIns="0" rIns="0" bIns="0" rtlCol="0" anchor="ctr">
            <a:normAutofit/>
          </a:bodyPr>
          <a:lstStyle/>
          <a:p>
            <a:pPr indent="0" marL="0">
              <a:buNone/>
            </a:pPr>
            <a:r>
              <a:rPr lang="en-US" sz="1260" dirty="0">
                <a:solidFill>
                  <a:srgbClr val="5F5B57"/>
                </a:solidFill>
                <a:latin typeface="Aptos" pitchFamily="34" charset="0"/>
                <a:ea typeface="Aptos" pitchFamily="34" charset="-122"/>
                <a:cs typeface="Aptos" pitchFamily="34" charset="-120"/>
              </a:rPr>
              <a:t>Weeks 3–5</a:t>
            </a:r>
            <a:endParaRPr lang="en-US" sz="1260" dirty="0"/>
          </a:p>
        </p:txBody>
      </p:sp>
      <p:sp>
        <p:nvSpPr>
          <p:cNvPr id="22" name="Text 20"/>
          <p:cNvSpPr/>
          <p:nvPr/>
        </p:nvSpPr>
        <p:spPr>
          <a:xfrm>
            <a:off x="4288536" y="4178808"/>
            <a:ext cx="2807208" cy="438912"/>
          </a:xfrm>
          <a:prstGeom prst="rect">
            <a:avLst/>
          </a:prstGeom>
          <a:noFill/>
          <a:ln/>
        </p:spPr>
        <p:txBody>
          <a:bodyPr wrap="square" lIns="0" tIns="0" rIns="0" bIns="0" rtlCol="0" anchor="ctr">
            <a:normAutofit/>
          </a:bodyPr>
          <a:lstStyle/>
          <a:p>
            <a:pPr indent="0" marL="0">
              <a:buNone/>
            </a:pPr>
            <a:r>
              <a:rPr lang="en-US" sz="1600" b="1" dirty="0">
                <a:solidFill>
                  <a:srgbClr val="171716"/>
                </a:solidFill>
                <a:latin typeface="Aptos" pitchFamily="34" charset="0"/>
                <a:ea typeface="Aptos" pitchFamily="34" charset="-122"/>
                <a:cs typeface="Aptos" pitchFamily="34" charset="-120"/>
              </a:rPr>
              <a:t>Weekly stop / continue</a:t>
            </a:r>
            <a:endParaRPr lang="en-US" sz="1600" dirty="0"/>
          </a:p>
        </p:txBody>
      </p:sp>
      <p:sp>
        <p:nvSpPr>
          <p:cNvPr id="23" name="Text 21"/>
          <p:cNvSpPr/>
          <p:nvPr/>
        </p:nvSpPr>
        <p:spPr>
          <a:xfrm>
            <a:off x="7296912" y="4151376"/>
            <a:ext cx="4069080" cy="521208"/>
          </a:xfrm>
          <a:prstGeom prst="rect">
            <a:avLst/>
          </a:prstGeom>
          <a:noFill/>
          <a:ln/>
        </p:spPr>
        <p:txBody>
          <a:bodyPr wrap="square" lIns="0" tIns="0" rIns="0" bIns="0" rtlCol="0" anchor="ctr">
            <a:normAutofit/>
          </a:bodyPr>
          <a:lstStyle/>
          <a:p>
            <a:pPr indent="0" marL="0">
              <a:buNone/>
            </a:pPr>
            <a:r>
              <a:rPr lang="en-US" sz="1450" dirty="0">
                <a:solidFill>
                  <a:srgbClr val="171716"/>
                </a:solidFill>
                <a:latin typeface="Aptos" pitchFamily="34" charset="0"/>
                <a:ea typeface="Aptos" pitchFamily="34" charset="-122"/>
                <a:cs typeface="Aptos" pitchFamily="34" charset="-120"/>
              </a:rPr>
              <a:t>Run ID, tokens, GPU use, score delta</a:t>
            </a:r>
            <a:endParaRPr lang="en-US" sz="1450" dirty="0"/>
          </a:p>
        </p:txBody>
      </p:sp>
      <p:sp>
        <p:nvSpPr>
          <p:cNvPr id="24" name="Shape 22"/>
          <p:cNvSpPr/>
          <p:nvPr/>
        </p:nvSpPr>
        <p:spPr>
          <a:xfrm>
            <a:off x="603504" y="5038344"/>
            <a:ext cx="10972800" cy="859536"/>
          </a:xfrm>
          <a:prstGeom prst="roundRect">
            <a:avLst>
              <a:gd name="adj" fmla="val 8511"/>
            </a:avLst>
          </a:prstGeom>
          <a:solidFill>
            <a:srgbClr val="FFFFFF"/>
          </a:solidFill>
          <a:ln w="10160">
            <a:solidFill>
              <a:srgbClr val="DCD7D1"/>
            </a:solidFill>
            <a:prstDash val="solid"/>
          </a:ln>
        </p:spPr>
      </p:sp>
      <p:sp>
        <p:nvSpPr>
          <p:cNvPr id="25" name="Text 23"/>
          <p:cNvSpPr/>
          <p:nvPr/>
        </p:nvSpPr>
        <p:spPr>
          <a:xfrm>
            <a:off x="804672" y="5175504"/>
            <a:ext cx="2048256" cy="246888"/>
          </a:xfrm>
          <a:prstGeom prst="rect">
            <a:avLst/>
          </a:prstGeom>
          <a:noFill/>
          <a:ln/>
        </p:spPr>
        <p:txBody>
          <a:bodyPr wrap="square" lIns="0" tIns="0" rIns="0" bIns="0" rtlCol="0" anchor="ctr">
            <a:normAutofit/>
          </a:bodyPr>
          <a:lstStyle/>
          <a:p>
            <a:pPr indent="0" marL="0">
              <a:buNone/>
            </a:pPr>
            <a:r>
              <a:rPr lang="en-US" sz="1200" b="1" dirty="0">
                <a:solidFill>
                  <a:srgbClr val="F44B00"/>
                </a:solidFill>
                <a:latin typeface="Aptos" pitchFamily="34" charset="0"/>
                <a:ea typeface="Aptos" pitchFamily="34" charset="-122"/>
                <a:cs typeface="Aptos" pitchFamily="34" charset="-120"/>
              </a:rPr>
              <a:t>3  HANDOFF</a:t>
            </a:r>
            <a:endParaRPr lang="en-US" sz="1200" dirty="0"/>
          </a:p>
        </p:txBody>
      </p:sp>
      <p:sp>
        <p:nvSpPr>
          <p:cNvPr id="26" name="Text 24"/>
          <p:cNvSpPr/>
          <p:nvPr/>
        </p:nvSpPr>
        <p:spPr>
          <a:xfrm>
            <a:off x="2816352" y="5193792"/>
            <a:ext cx="1417320" cy="237744"/>
          </a:xfrm>
          <a:prstGeom prst="rect">
            <a:avLst/>
          </a:prstGeom>
          <a:noFill/>
          <a:ln/>
        </p:spPr>
        <p:txBody>
          <a:bodyPr wrap="square" lIns="0" tIns="0" rIns="0" bIns="0" rtlCol="0" anchor="ctr">
            <a:normAutofit/>
          </a:bodyPr>
          <a:lstStyle/>
          <a:p>
            <a:pPr indent="0" marL="0">
              <a:buNone/>
            </a:pPr>
            <a:r>
              <a:rPr lang="en-US" sz="1260" dirty="0">
                <a:solidFill>
                  <a:srgbClr val="5F5B57"/>
                </a:solidFill>
                <a:latin typeface="Aptos" pitchFamily="34" charset="0"/>
                <a:ea typeface="Aptos" pitchFamily="34" charset="-122"/>
                <a:cs typeface="Aptos" pitchFamily="34" charset="-120"/>
              </a:rPr>
              <a:t>Week 6</a:t>
            </a:r>
            <a:endParaRPr lang="en-US" sz="1260" dirty="0"/>
          </a:p>
        </p:txBody>
      </p:sp>
      <p:sp>
        <p:nvSpPr>
          <p:cNvPr id="27" name="Text 25"/>
          <p:cNvSpPr/>
          <p:nvPr/>
        </p:nvSpPr>
        <p:spPr>
          <a:xfrm>
            <a:off x="4288536" y="5157216"/>
            <a:ext cx="2807208" cy="438912"/>
          </a:xfrm>
          <a:prstGeom prst="rect">
            <a:avLst/>
          </a:prstGeom>
          <a:noFill/>
          <a:ln/>
        </p:spPr>
        <p:txBody>
          <a:bodyPr wrap="square" lIns="0" tIns="0" rIns="0" bIns="0" rtlCol="0" anchor="ctr">
            <a:normAutofit/>
          </a:bodyPr>
          <a:lstStyle/>
          <a:p>
            <a:pPr indent="0" marL="0">
              <a:buNone/>
            </a:pPr>
            <a:r>
              <a:rPr lang="en-US" sz="1600" b="1" dirty="0">
                <a:solidFill>
                  <a:srgbClr val="171716"/>
                </a:solidFill>
                <a:latin typeface="Aptos" pitchFamily="34" charset="0"/>
                <a:ea typeface="Aptos" pitchFamily="34" charset="-122"/>
                <a:cs typeface="Aptos" pitchFamily="34" charset="-120"/>
              </a:rPr>
              <a:t>Model transferred, final eval</a:t>
            </a:r>
            <a:endParaRPr lang="en-US" sz="1600" dirty="0"/>
          </a:p>
        </p:txBody>
      </p:sp>
      <p:sp>
        <p:nvSpPr>
          <p:cNvPr id="28" name="Text 26"/>
          <p:cNvSpPr/>
          <p:nvPr/>
        </p:nvSpPr>
        <p:spPr>
          <a:xfrm>
            <a:off x="7296912" y="5129784"/>
            <a:ext cx="4069080" cy="521208"/>
          </a:xfrm>
          <a:prstGeom prst="rect">
            <a:avLst/>
          </a:prstGeom>
          <a:noFill/>
          <a:ln/>
        </p:spPr>
        <p:txBody>
          <a:bodyPr wrap="square" lIns="0" tIns="0" rIns="0" bIns="0" rtlCol="0" anchor="ctr">
            <a:normAutofit/>
          </a:bodyPr>
          <a:lstStyle/>
          <a:p>
            <a:pPr indent="0" marL="0">
              <a:buNone/>
            </a:pPr>
            <a:r>
              <a:rPr lang="en-US" sz="1450" dirty="0">
                <a:solidFill>
                  <a:srgbClr val="171716"/>
                </a:solidFill>
                <a:latin typeface="Aptos" pitchFamily="34" charset="0"/>
                <a:ea typeface="Aptos" pitchFamily="34" charset="-122"/>
                <a:cs typeface="Aptos" pitchFamily="34" charset="-120"/>
              </a:rPr>
              <a:t>Held-out comparison + checkpoint files</a:t>
            </a:r>
            <a:endParaRPr lang="en-US" sz="1450" dirty="0"/>
          </a:p>
        </p:txBody>
      </p:sp>
      <p:sp>
        <p:nvSpPr>
          <p:cNvPr id="29" name="Shape 27"/>
          <p:cNvSpPr/>
          <p:nvPr/>
        </p:nvSpPr>
        <p:spPr>
          <a:xfrm>
            <a:off x="603504" y="6108192"/>
            <a:ext cx="10972800" cy="283464"/>
          </a:xfrm>
          <a:prstGeom prst="rect">
            <a:avLst/>
          </a:prstGeom>
          <a:solidFill>
            <a:srgbClr val="171716"/>
          </a:solidFill>
          <a:ln w="7620">
            <a:solidFill>
              <a:srgbClr val="171716">
                <a:alpha val="0"/>
              </a:srgbClr>
            </a:solidFill>
            <a:prstDash val="solid"/>
          </a:ln>
        </p:spPr>
      </p:sp>
      <p:sp>
        <p:nvSpPr>
          <p:cNvPr id="30" name="Text 28"/>
          <p:cNvSpPr/>
          <p:nvPr/>
        </p:nvSpPr>
        <p:spPr>
          <a:xfrm>
            <a:off x="813816" y="6172200"/>
            <a:ext cx="10552176" cy="155448"/>
          </a:xfrm>
          <a:prstGeom prst="rect">
            <a:avLst/>
          </a:prstGeom>
          <a:noFill/>
          <a:ln/>
        </p:spPr>
        <p:txBody>
          <a:bodyPr wrap="square" lIns="0" tIns="0" rIns="0" bIns="0" rtlCol="0" anchor="ctr">
            <a:normAutofit/>
          </a:bodyPr>
          <a:lstStyle/>
          <a:p>
            <a:pPr algn="ctr" indent="0" marL="0">
              <a:buNone/>
            </a:pPr>
            <a:r>
              <a:rPr lang="en-US" sz="1130" b="1" dirty="0">
                <a:solidFill>
                  <a:srgbClr val="FFFFFF"/>
                </a:solidFill>
                <a:latin typeface="Aptos" pitchFamily="34" charset="0"/>
                <a:ea typeface="Aptos" pitchFamily="34" charset="-122"/>
                <a:cs typeface="Aptos" pitchFamily="34" charset="-120"/>
              </a:rPr>
              <a:t>Acceptance: reproducible agreed evidence, not a guaranteed benchmark lift before baseline.</a:t>
            </a:r>
            <a:endParaRPr lang="en-US" sz="11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F44B00"/>
          </a:solidFill>
          <a:ln w="7620">
            <a:solidFill>
              <a:srgbClr val="F44B00">
                <a:alpha val="0"/>
              </a:srgbClr>
            </a:solidFill>
            <a:prstDash val="solid"/>
          </a:ln>
        </p:spPr>
      </p:sp>
      <p:sp>
        <p:nvSpPr>
          <p:cNvPr id="3" name="Text 1"/>
          <p:cNvSpPr/>
          <p:nvPr/>
        </p:nvSpPr>
        <p:spPr>
          <a:xfrm>
            <a:off x="548640" y="338328"/>
            <a:ext cx="3383280" cy="283464"/>
          </a:xfrm>
          <a:prstGeom prst="rect">
            <a:avLst/>
          </a:prstGeom>
          <a:noFill/>
          <a:ln/>
        </p:spPr>
        <p:txBody>
          <a:bodyPr wrap="square" lIns="0" tIns="0" rIns="0" bIns="0" rtlCol="0" anchor="ctr">
            <a:normAutofit/>
          </a:bodyPr>
          <a:lstStyle/>
          <a:p>
            <a:pPr indent="0" marL="0">
              <a:buNone/>
            </a:pPr>
            <a:r>
              <a:rPr lang="en-US" sz="1200" b="1" spc="160" kern="0" dirty="0">
                <a:solidFill>
                  <a:srgbClr val="171716"/>
                </a:solidFill>
                <a:latin typeface="Aptos" pitchFamily="34" charset="0"/>
                <a:ea typeface="Aptos" pitchFamily="34" charset="-122"/>
                <a:cs typeface="Aptos" pitchFamily="34" charset="-120"/>
              </a:rPr>
              <a:t>APPLIED COMPUTE</a:t>
            </a:r>
            <a:endParaRPr lang="en-US" sz="1200" dirty="0"/>
          </a:p>
        </p:txBody>
      </p:sp>
      <p:sp>
        <p:nvSpPr>
          <p:cNvPr id="4" name="Text 2"/>
          <p:cNvSpPr/>
          <p:nvPr/>
        </p:nvSpPr>
        <p:spPr>
          <a:xfrm>
            <a:off x="8503920" y="365760"/>
            <a:ext cx="3063240" cy="210312"/>
          </a:xfrm>
          <a:prstGeom prst="rect">
            <a:avLst/>
          </a:prstGeom>
          <a:noFill/>
          <a:ln/>
        </p:spPr>
        <p:txBody>
          <a:bodyPr wrap="square" lIns="0" tIns="0" rIns="0" bIns="0" rtlCol="0" anchor="ctr">
            <a:normAutofit/>
          </a:bodyPr>
          <a:lstStyle/>
          <a:p>
            <a:pPr algn="r" indent="0" marL="0">
              <a:buNone/>
            </a:pPr>
            <a:r>
              <a:rPr lang="en-US" sz="1000" b="1" spc="100" kern="0" dirty="0">
                <a:solidFill>
                  <a:srgbClr val="857F78"/>
                </a:solidFill>
                <a:latin typeface="Aptos" pitchFamily="34" charset="0"/>
                <a:ea typeface="Aptos" pitchFamily="34" charset="-122"/>
                <a:cs typeface="Aptos" pitchFamily="34" charset="-120"/>
              </a:rPr>
              <a:t>04 / SCALE &amp; RE-PAPER</a:t>
            </a:r>
            <a:endParaRPr lang="en-US" sz="1000" dirty="0"/>
          </a:p>
        </p:txBody>
      </p:sp>
      <p:sp>
        <p:nvSpPr>
          <p:cNvPr id="5" name="Text 3"/>
          <p:cNvSpPr/>
          <p:nvPr/>
        </p:nvSpPr>
        <p:spPr>
          <a:xfrm>
            <a:off x="557784" y="932688"/>
            <a:ext cx="11036808" cy="1024128"/>
          </a:xfrm>
          <a:prstGeom prst="rect">
            <a:avLst/>
          </a:prstGeom>
          <a:noFill/>
          <a:ln/>
        </p:spPr>
        <p:txBody>
          <a:bodyPr wrap="square" lIns="0" tIns="0" rIns="0" bIns="0" rtlCol="0" anchor="ctr">
            <a:normAutofit/>
          </a:bodyPr>
          <a:lstStyle/>
          <a:p>
            <a:pPr indent="0" marL="0">
              <a:buNone/>
            </a:pPr>
            <a:r>
              <a:rPr lang="en-US" sz="3100" b="1" dirty="0">
                <a:solidFill>
                  <a:srgbClr val="171716"/>
                </a:solidFill>
                <a:latin typeface="Aptos" pitchFamily="34" charset="0"/>
                <a:ea typeface="Aptos" pitchFamily="34" charset="-122"/>
                <a:cs typeface="Aptos" pitchFamily="34" charset="-120"/>
              </a:rPr>
              <a:t>Production growth has a named boundary and reset trigger</a:t>
            </a:r>
            <a:endParaRPr lang="en-US" sz="3100" dirty="0"/>
          </a:p>
        </p:txBody>
      </p:sp>
      <p:sp>
        <p:nvSpPr>
          <p:cNvPr id="6" name="Shape 4"/>
          <p:cNvSpPr/>
          <p:nvPr/>
        </p:nvSpPr>
        <p:spPr>
          <a:xfrm>
            <a:off x="557784" y="6483096"/>
            <a:ext cx="11055096" cy="0"/>
          </a:xfrm>
          <a:prstGeom prst="line">
            <a:avLst/>
          </a:prstGeom>
          <a:noFill/>
          <a:ln w="9525">
            <a:solidFill>
              <a:srgbClr val="DCD7D1"/>
            </a:solidFill>
            <a:prstDash val="solid"/>
          </a:ln>
        </p:spPr>
      </p:sp>
      <p:sp>
        <p:nvSpPr>
          <p:cNvPr id="7" name="Text 5"/>
          <p:cNvSpPr/>
          <p:nvPr/>
        </p:nvSpPr>
        <p:spPr>
          <a:xfrm>
            <a:off x="557784" y="6565392"/>
            <a:ext cx="8412480" cy="128016"/>
          </a:xfrm>
          <a:prstGeom prst="rect">
            <a:avLst/>
          </a:prstGeom>
          <a:noFill/>
          <a:ln/>
        </p:spPr>
        <p:txBody>
          <a:bodyPr wrap="square" lIns="0" tIns="0" rIns="0" bIns="0" rtlCol="0" anchor="ctr">
            <a:normAutofit/>
          </a:bodyPr>
          <a:lstStyle/>
          <a:p>
            <a:pPr indent="0" marL="0">
              <a:buNone/>
            </a:pPr>
            <a:r>
              <a:rPr lang="en-US" sz="820" b="1" dirty="0">
                <a:solidFill>
                  <a:srgbClr val="857F78"/>
                </a:solidFill>
                <a:latin typeface="Aptos" pitchFamily="34" charset="0"/>
                <a:ea typeface="Aptos" pitchFamily="34" charset="-122"/>
                <a:cs typeface="Aptos" pitchFamily="34" charset="-120"/>
              </a:rPr>
              <a:t>ENTERPRISE DEAL ECONOMICS  /  ILLUSTRATIVE FRAMEWORK</a:t>
            </a:r>
            <a:endParaRPr lang="en-US" sz="820" dirty="0"/>
          </a:p>
        </p:txBody>
      </p:sp>
      <p:sp>
        <p:nvSpPr>
          <p:cNvPr id="8" name="Text 6"/>
          <p:cNvSpPr/>
          <p:nvPr/>
        </p:nvSpPr>
        <p:spPr>
          <a:xfrm>
            <a:off x="11173968" y="6547104"/>
            <a:ext cx="411480" cy="146304"/>
          </a:xfrm>
          <a:prstGeom prst="rect">
            <a:avLst/>
          </a:prstGeom>
          <a:noFill/>
          <a:ln/>
        </p:spPr>
        <p:txBody>
          <a:bodyPr wrap="square" lIns="0" tIns="0" rIns="0" bIns="0" rtlCol="0" anchor="ctr">
            <a:normAutofit/>
          </a:bodyPr>
          <a:lstStyle/>
          <a:p>
            <a:pPr algn="r" indent="0" marL="0">
              <a:buNone/>
            </a:pPr>
            <a:r>
              <a:rPr lang="en-US" sz="900" b="1" dirty="0">
                <a:solidFill>
                  <a:srgbClr val="5F5B57"/>
                </a:solidFill>
                <a:latin typeface="Aptos" pitchFamily="34" charset="0"/>
                <a:ea typeface="Aptos" pitchFamily="34" charset="-122"/>
                <a:cs typeface="Aptos" pitchFamily="34" charset="-120"/>
              </a:rPr>
              <a:t>11</a:t>
            </a:r>
            <a:endParaRPr lang="en-US" sz="900" dirty="0"/>
          </a:p>
        </p:txBody>
      </p:sp>
      <p:sp>
        <p:nvSpPr>
          <p:cNvPr id="9" name="Shape 7"/>
          <p:cNvSpPr/>
          <p:nvPr/>
        </p:nvSpPr>
        <p:spPr>
          <a:xfrm>
            <a:off x="603504" y="2103120"/>
            <a:ext cx="5285232" cy="1389888"/>
          </a:xfrm>
          <a:prstGeom prst="roundRect">
            <a:avLst>
              <a:gd name="adj" fmla="val 5263"/>
            </a:avLst>
          </a:prstGeom>
          <a:solidFill>
            <a:srgbClr val="FFFFFF"/>
          </a:solidFill>
          <a:ln w="10160">
            <a:solidFill>
              <a:srgbClr val="DCD7D1"/>
            </a:solidFill>
            <a:prstDash val="solid"/>
          </a:ln>
        </p:spPr>
      </p:sp>
      <p:sp>
        <p:nvSpPr>
          <p:cNvPr id="10" name="Text 8"/>
          <p:cNvSpPr/>
          <p:nvPr/>
        </p:nvSpPr>
        <p:spPr>
          <a:xfrm>
            <a:off x="786384" y="2249424"/>
            <a:ext cx="4818888" cy="219456"/>
          </a:xfrm>
          <a:prstGeom prst="rect">
            <a:avLst/>
          </a:prstGeom>
          <a:noFill/>
          <a:ln/>
        </p:spPr>
        <p:txBody>
          <a:bodyPr wrap="square" lIns="0" tIns="0" rIns="0" bIns="0" rtlCol="0" anchor="ctr">
            <a:normAutofit/>
          </a:bodyPr>
          <a:lstStyle/>
          <a:p>
            <a:pPr indent="0" marL="0">
              <a:buNone/>
            </a:pPr>
            <a:r>
              <a:rPr lang="en-US" sz="1200" b="1" dirty="0">
                <a:solidFill>
                  <a:srgbClr val="F44B00"/>
                </a:solidFill>
                <a:latin typeface="Aptos" pitchFamily="34" charset="0"/>
                <a:ea typeface="Aptos" pitchFamily="34" charset="-122"/>
                <a:cs typeface="Aptos" pitchFamily="34" charset="-120"/>
              </a:rPr>
              <a:t>BASE MODEL CHANGE</a:t>
            </a:r>
            <a:endParaRPr lang="en-US" sz="1200" dirty="0"/>
          </a:p>
        </p:txBody>
      </p:sp>
      <p:sp>
        <p:nvSpPr>
          <p:cNvPr id="11" name="Text 9"/>
          <p:cNvSpPr/>
          <p:nvPr/>
        </p:nvSpPr>
        <p:spPr>
          <a:xfrm>
            <a:off x="786384" y="2578608"/>
            <a:ext cx="4855464" cy="402336"/>
          </a:xfrm>
          <a:prstGeom prst="rect">
            <a:avLst/>
          </a:prstGeom>
          <a:noFill/>
          <a:ln/>
        </p:spPr>
        <p:txBody>
          <a:bodyPr wrap="square" lIns="0" tIns="0" rIns="0" bIns="0" rtlCol="0" anchor="ctr">
            <a:normAutofit/>
          </a:bodyPr>
          <a:lstStyle/>
          <a:p>
            <a:pPr indent="0" marL="0">
              <a:buNone/>
            </a:pPr>
            <a:r>
              <a:rPr lang="en-US" sz="1610" b="1" dirty="0">
                <a:solidFill>
                  <a:srgbClr val="171716"/>
                </a:solidFill>
                <a:latin typeface="Aptos" pitchFamily="34" charset="0"/>
                <a:ea typeface="Aptos" pitchFamily="34" charset="-122"/>
                <a:cs typeface="Aptos" pitchFamily="34" charset="-120"/>
              </a:rPr>
              <a:t>New weights / license / architecture</a:t>
            </a:r>
            <a:endParaRPr lang="en-US" sz="1610" dirty="0"/>
          </a:p>
        </p:txBody>
      </p:sp>
      <p:sp>
        <p:nvSpPr>
          <p:cNvPr id="12" name="Text 10"/>
          <p:cNvSpPr/>
          <p:nvPr/>
        </p:nvSpPr>
        <p:spPr>
          <a:xfrm>
            <a:off x="786384" y="3108960"/>
            <a:ext cx="4855464" cy="256032"/>
          </a:xfrm>
          <a:prstGeom prst="rect">
            <a:avLst/>
          </a:prstGeom>
          <a:noFill/>
          <a:ln/>
        </p:spPr>
        <p:txBody>
          <a:bodyPr wrap="square" lIns="0" tIns="0" rIns="0" bIns="0" rtlCol="0" anchor="ctr">
            <a:normAutofit/>
          </a:bodyPr>
          <a:lstStyle/>
          <a:p>
            <a:pPr indent="0" marL="0">
              <a:buNone/>
            </a:pPr>
            <a:r>
              <a:rPr lang="en-US" sz="1210" dirty="0">
                <a:solidFill>
                  <a:srgbClr val="5F5B57"/>
                </a:solidFill>
                <a:latin typeface="Aptos" pitchFamily="34" charset="0"/>
                <a:ea typeface="Aptos" pitchFamily="34" charset="-122"/>
                <a:cs typeface="Aptos" pitchFamily="34" charset="-120"/>
              </a:rPr>
              <a:t>Re-benchmark and sign revised order</a:t>
            </a:r>
            <a:endParaRPr lang="en-US" sz="1210" dirty="0"/>
          </a:p>
        </p:txBody>
      </p:sp>
      <p:sp>
        <p:nvSpPr>
          <p:cNvPr id="13" name="Shape 11"/>
          <p:cNvSpPr/>
          <p:nvPr/>
        </p:nvSpPr>
        <p:spPr>
          <a:xfrm>
            <a:off x="6163056" y="2103120"/>
            <a:ext cx="5285232" cy="1389888"/>
          </a:xfrm>
          <a:prstGeom prst="roundRect">
            <a:avLst>
              <a:gd name="adj" fmla="val 5263"/>
            </a:avLst>
          </a:prstGeom>
          <a:solidFill>
            <a:srgbClr val="FFFFFF"/>
          </a:solidFill>
          <a:ln w="10160">
            <a:solidFill>
              <a:srgbClr val="DCD7D1"/>
            </a:solidFill>
            <a:prstDash val="solid"/>
          </a:ln>
        </p:spPr>
      </p:sp>
      <p:sp>
        <p:nvSpPr>
          <p:cNvPr id="14" name="Text 12"/>
          <p:cNvSpPr/>
          <p:nvPr/>
        </p:nvSpPr>
        <p:spPr>
          <a:xfrm>
            <a:off x="6345936" y="2249424"/>
            <a:ext cx="4818888" cy="219456"/>
          </a:xfrm>
          <a:prstGeom prst="rect">
            <a:avLst/>
          </a:prstGeom>
          <a:noFill/>
          <a:ln/>
        </p:spPr>
        <p:txBody>
          <a:bodyPr wrap="square" lIns="0" tIns="0" rIns="0" bIns="0" rtlCol="0" anchor="ctr">
            <a:normAutofit/>
          </a:bodyPr>
          <a:lstStyle/>
          <a:p>
            <a:pPr indent="0" marL="0">
              <a:buNone/>
            </a:pPr>
            <a:r>
              <a:rPr lang="en-US" sz="1200" b="1" dirty="0">
                <a:solidFill>
                  <a:srgbClr val="F44B00"/>
                </a:solidFill>
                <a:latin typeface="Aptos" pitchFamily="34" charset="0"/>
                <a:ea typeface="Aptos" pitchFamily="34" charset="-122"/>
                <a:cs typeface="Aptos" pitchFamily="34" charset="-120"/>
              </a:rPr>
              <a:t>EXTRA RESEARCH</a:t>
            </a:r>
            <a:endParaRPr lang="en-US" sz="1200" dirty="0"/>
          </a:p>
        </p:txBody>
      </p:sp>
      <p:sp>
        <p:nvSpPr>
          <p:cNvPr id="15" name="Text 13"/>
          <p:cNvSpPr/>
          <p:nvPr/>
        </p:nvSpPr>
        <p:spPr>
          <a:xfrm>
            <a:off x="6345936" y="2578608"/>
            <a:ext cx="4855464" cy="402336"/>
          </a:xfrm>
          <a:prstGeom prst="rect">
            <a:avLst/>
          </a:prstGeom>
          <a:noFill/>
          <a:ln/>
        </p:spPr>
        <p:txBody>
          <a:bodyPr wrap="square" lIns="0" tIns="0" rIns="0" bIns="0" rtlCol="0" anchor="ctr">
            <a:normAutofit/>
          </a:bodyPr>
          <a:lstStyle/>
          <a:p>
            <a:pPr indent="0" marL="0">
              <a:buNone/>
            </a:pPr>
            <a:r>
              <a:rPr lang="en-US" sz="1610" b="1" dirty="0">
                <a:solidFill>
                  <a:srgbClr val="171716"/>
                </a:solidFill>
                <a:latin typeface="Aptos" pitchFamily="34" charset="0"/>
                <a:ea typeface="Aptos" pitchFamily="34" charset="-122"/>
                <a:cs typeface="Aptos" pitchFamily="34" charset="-120"/>
              </a:rPr>
              <a:t>New workflow or RL cycles</a:t>
            </a:r>
            <a:endParaRPr lang="en-US" sz="1610" dirty="0"/>
          </a:p>
        </p:txBody>
      </p:sp>
      <p:sp>
        <p:nvSpPr>
          <p:cNvPr id="16" name="Text 14"/>
          <p:cNvSpPr/>
          <p:nvPr/>
        </p:nvSpPr>
        <p:spPr>
          <a:xfrm>
            <a:off x="6345936" y="3108960"/>
            <a:ext cx="4855464" cy="256032"/>
          </a:xfrm>
          <a:prstGeom prst="rect">
            <a:avLst/>
          </a:prstGeom>
          <a:noFill/>
          <a:ln/>
        </p:spPr>
        <p:txBody>
          <a:bodyPr wrap="square" lIns="0" tIns="0" rIns="0" bIns="0" rtlCol="0" anchor="ctr">
            <a:normAutofit/>
          </a:bodyPr>
          <a:lstStyle/>
          <a:p>
            <a:pPr indent="0" marL="0">
              <a:buNone/>
            </a:pPr>
            <a:r>
              <a:rPr lang="en-US" sz="1210" dirty="0">
                <a:solidFill>
                  <a:srgbClr val="5F5B57"/>
                </a:solidFill>
                <a:latin typeface="Aptos" pitchFamily="34" charset="0"/>
                <a:ea typeface="Aptos" pitchFamily="34" charset="-122"/>
                <a:cs typeface="Aptos" pitchFamily="34" charset="-120"/>
              </a:rPr>
              <a:t>Customer-approved change order</a:t>
            </a:r>
            <a:endParaRPr lang="en-US" sz="1210" dirty="0"/>
          </a:p>
        </p:txBody>
      </p:sp>
      <p:sp>
        <p:nvSpPr>
          <p:cNvPr id="17" name="Shape 15"/>
          <p:cNvSpPr/>
          <p:nvPr/>
        </p:nvSpPr>
        <p:spPr>
          <a:xfrm>
            <a:off x="603504" y="3675888"/>
            <a:ext cx="5285232" cy="1389888"/>
          </a:xfrm>
          <a:prstGeom prst="roundRect">
            <a:avLst>
              <a:gd name="adj" fmla="val 5263"/>
            </a:avLst>
          </a:prstGeom>
          <a:solidFill>
            <a:srgbClr val="FFFFFF"/>
          </a:solidFill>
          <a:ln w="10160">
            <a:solidFill>
              <a:srgbClr val="DCD7D1"/>
            </a:solidFill>
            <a:prstDash val="solid"/>
          </a:ln>
        </p:spPr>
      </p:sp>
      <p:sp>
        <p:nvSpPr>
          <p:cNvPr id="18" name="Text 16"/>
          <p:cNvSpPr/>
          <p:nvPr/>
        </p:nvSpPr>
        <p:spPr>
          <a:xfrm>
            <a:off x="786384" y="3822192"/>
            <a:ext cx="4818888" cy="219456"/>
          </a:xfrm>
          <a:prstGeom prst="rect">
            <a:avLst/>
          </a:prstGeom>
          <a:noFill/>
          <a:ln/>
        </p:spPr>
        <p:txBody>
          <a:bodyPr wrap="square" lIns="0" tIns="0" rIns="0" bIns="0" rtlCol="0" anchor="ctr">
            <a:normAutofit/>
          </a:bodyPr>
          <a:lstStyle/>
          <a:p>
            <a:pPr indent="0" marL="0">
              <a:buNone/>
            </a:pPr>
            <a:r>
              <a:rPr lang="en-US" sz="1200" b="1" dirty="0">
                <a:solidFill>
                  <a:srgbClr val="F44B00"/>
                </a:solidFill>
                <a:latin typeface="Aptos" pitchFamily="34" charset="0"/>
                <a:ea typeface="Aptos" pitchFamily="34" charset="-122"/>
                <a:cs typeface="Aptos" pitchFamily="34" charset="-120"/>
              </a:rPr>
              <a:t>PRODUCTION ENTRY</a:t>
            </a:r>
            <a:endParaRPr lang="en-US" sz="1200" dirty="0"/>
          </a:p>
        </p:txBody>
      </p:sp>
      <p:sp>
        <p:nvSpPr>
          <p:cNvPr id="19" name="Text 17"/>
          <p:cNvSpPr/>
          <p:nvPr/>
        </p:nvSpPr>
        <p:spPr>
          <a:xfrm>
            <a:off x="786384" y="4151376"/>
            <a:ext cx="4855464" cy="402336"/>
          </a:xfrm>
          <a:prstGeom prst="rect">
            <a:avLst/>
          </a:prstGeom>
          <a:noFill/>
          <a:ln/>
        </p:spPr>
        <p:txBody>
          <a:bodyPr wrap="square" lIns="0" tIns="0" rIns="0" bIns="0" rtlCol="0" anchor="ctr">
            <a:normAutofit/>
          </a:bodyPr>
          <a:lstStyle/>
          <a:p>
            <a:pPr indent="0" marL="0">
              <a:buNone/>
            </a:pPr>
            <a:r>
              <a:rPr lang="en-US" sz="1610" b="1" dirty="0">
                <a:solidFill>
                  <a:srgbClr val="171716"/>
                </a:solidFill>
                <a:latin typeface="Aptos" pitchFamily="34" charset="0"/>
                <a:ea typeface="Aptos" pitchFamily="34" charset="-122"/>
                <a:cs typeface="Aptos" pitchFamily="34" charset="-120"/>
              </a:rPr>
              <a:t>New SLA / one region / two replicas</a:t>
            </a:r>
            <a:endParaRPr lang="en-US" sz="1610" dirty="0"/>
          </a:p>
        </p:txBody>
      </p:sp>
      <p:sp>
        <p:nvSpPr>
          <p:cNvPr id="20" name="Text 18"/>
          <p:cNvSpPr/>
          <p:nvPr/>
        </p:nvSpPr>
        <p:spPr>
          <a:xfrm>
            <a:off x="786384" y="4681728"/>
            <a:ext cx="4855464" cy="256032"/>
          </a:xfrm>
          <a:prstGeom prst="rect">
            <a:avLst/>
          </a:prstGeom>
          <a:noFill/>
          <a:ln/>
        </p:spPr>
        <p:txBody>
          <a:bodyPr wrap="square" lIns="0" tIns="0" rIns="0" bIns="0" rtlCol="0" anchor="ctr">
            <a:normAutofit/>
          </a:bodyPr>
          <a:lstStyle/>
          <a:p>
            <a:pPr indent="0" marL="0">
              <a:buNone/>
            </a:pPr>
            <a:r>
              <a:rPr lang="en-US" sz="1210" dirty="0">
                <a:solidFill>
                  <a:srgbClr val="5F5B57"/>
                </a:solidFill>
                <a:latin typeface="Aptos" pitchFamily="34" charset="0"/>
                <a:ea typeface="Aptos" pitchFamily="34" charset="-122"/>
                <a:cs typeface="Aptos" pitchFamily="34" charset="-120"/>
              </a:rPr>
              <a:t>Separate service order after load test</a:t>
            </a:r>
            <a:endParaRPr lang="en-US" sz="1210" dirty="0"/>
          </a:p>
        </p:txBody>
      </p:sp>
      <p:sp>
        <p:nvSpPr>
          <p:cNvPr id="21" name="Shape 19"/>
          <p:cNvSpPr/>
          <p:nvPr/>
        </p:nvSpPr>
        <p:spPr>
          <a:xfrm>
            <a:off x="6163056" y="3675888"/>
            <a:ext cx="5285232" cy="1389888"/>
          </a:xfrm>
          <a:prstGeom prst="roundRect">
            <a:avLst>
              <a:gd name="adj" fmla="val 5263"/>
            </a:avLst>
          </a:prstGeom>
          <a:solidFill>
            <a:srgbClr val="FFFFFF"/>
          </a:solidFill>
          <a:ln w="10160">
            <a:solidFill>
              <a:srgbClr val="DCD7D1"/>
            </a:solidFill>
            <a:prstDash val="solid"/>
          </a:ln>
        </p:spPr>
      </p:sp>
      <p:sp>
        <p:nvSpPr>
          <p:cNvPr id="22" name="Text 20"/>
          <p:cNvSpPr/>
          <p:nvPr/>
        </p:nvSpPr>
        <p:spPr>
          <a:xfrm>
            <a:off x="6345936" y="3822192"/>
            <a:ext cx="4818888" cy="219456"/>
          </a:xfrm>
          <a:prstGeom prst="rect">
            <a:avLst/>
          </a:prstGeom>
          <a:noFill/>
          <a:ln/>
        </p:spPr>
        <p:txBody>
          <a:bodyPr wrap="square" lIns="0" tIns="0" rIns="0" bIns="0" rtlCol="0" anchor="ctr">
            <a:normAutofit/>
          </a:bodyPr>
          <a:lstStyle/>
          <a:p>
            <a:pPr indent="0" marL="0">
              <a:buNone/>
            </a:pPr>
            <a:r>
              <a:rPr lang="en-US" sz="1200" b="1" dirty="0">
                <a:solidFill>
                  <a:srgbClr val="F44B00"/>
                </a:solidFill>
                <a:latin typeface="Aptos" pitchFamily="34" charset="0"/>
                <a:ea typeface="Aptos" pitchFamily="34" charset="-122"/>
                <a:cs typeface="Aptos" pitchFamily="34" charset="-120"/>
              </a:rPr>
              <a:t>SCALE-OUT</a:t>
            </a:r>
            <a:endParaRPr lang="en-US" sz="1200" dirty="0"/>
          </a:p>
        </p:txBody>
      </p:sp>
      <p:sp>
        <p:nvSpPr>
          <p:cNvPr id="23" name="Text 21"/>
          <p:cNvSpPr/>
          <p:nvPr/>
        </p:nvSpPr>
        <p:spPr>
          <a:xfrm>
            <a:off x="6345936" y="4151376"/>
            <a:ext cx="4855464" cy="402336"/>
          </a:xfrm>
          <a:prstGeom prst="rect">
            <a:avLst/>
          </a:prstGeom>
          <a:noFill/>
          <a:ln/>
        </p:spPr>
        <p:txBody>
          <a:bodyPr wrap="square" lIns="0" tIns="0" rIns="0" bIns="0" rtlCol="0" anchor="ctr">
            <a:normAutofit/>
          </a:bodyPr>
          <a:lstStyle/>
          <a:p>
            <a:pPr indent="0" marL="0">
              <a:buNone/>
            </a:pPr>
            <a:r>
              <a:rPr lang="en-US" sz="1610" b="1" dirty="0">
                <a:solidFill>
                  <a:srgbClr val="171716"/>
                </a:solidFill>
                <a:latin typeface="Aptos" pitchFamily="34" charset="0"/>
                <a:ea typeface="Aptos" pitchFamily="34" charset="-122"/>
                <a:cs typeface="Aptos" pitchFamily="34" charset="-120"/>
              </a:rPr>
              <a:t>&gt;20 concurrent or &gt;100M tokens/month</a:t>
            </a:r>
            <a:endParaRPr lang="en-US" sz="1610" dirty="0"/>
          </a:p>
        </p:txBody>
      </p:sp>
      <p:sp>
        <p:nvSpPr>
          <p:cNvPr id="24" name="Text 22"/>
          <p:cNvSpPr/>
          <p:nvPr/>
        </p:nvSpPr>
        <p:spPr>
          <a:xfrm>
            <a:off x="6345936" y="4681728"/>
            <a:ext cx="4855464" cy="256032"/>
          </a:xfrm>
          <a:prstGeom prst="rect">
            <a:avLst/>
          </a:prstGeom>
          <a:noFill/>
          <a:ln/>
        </p:spPr>
        <p:txBody>
          <a:bodyPr wrap="square" lIns="0" tIns="0" rIns="0" bIns="0" rtlCol="0" anchor="ctr">
            <a:normAutofit/>
          </a:bodyPr>
          <a:lstStyle/>
          <a:p>
            <a:pPr indent="0" marL="0">
              <a:buNone/>
            </a:pPr>
            <a:r>
              <a:rPr lang="en-US" sz="1210" dirty="0">
                <a:solidFill>
                  <a:srgbClr val="5F5B57"/>
                </a:solidFill>
                <a:latin typeface="Aptos" pitchFamily="34" charset="0"/>
                <a:ea typeface="Aptos" pitchFamily="34" charset="-122"/>
                <a:cs typeface="Aptos" pitchFamily="34" charset="-120"/>
              </a:rPr>
              <a:t>Capacity amendment before new GPUs</a:t>
            </a:r>
            <a:endParaRPr lang="en-US" sz="1210" dirty="0"/>
          </a:p>
        </p:txBody>
      </p:sp>
      <p:sp>
        <p:nvSpPr>
          <p:cNvPr id="25" name="Shape 23"/>
          <p:cNvSpPr/>
          <p:nvPr/>
        </p:nvSpPr>
        <p:spPr>
          <a:xfrm>
            <a:off x="612648" y="5413248"/>
            <a:ext cx="10991088" cy="795528"/>
          </a:xfrm>
          <a:prstGeom prst="rect">
            <a:avLst/>
          </a:prstGeom>
          <a:solidFill>
            <a:srgbClr val="171716"/>
          </a:solidFill>
          <a:ln w="7620">
            <a:solidFill>
              <a:srgbClr val="171716">
                <a:alpha val="0"/>
              </a:srgbClr>
            </a:solidFill>
            <a:prstDash val="solid"/>
          </a:ln>
        </p:spPr>
      </p:sp>
      <p:sp>
        <p:nvSpPr>
          <p:cNvPr id="26" name="Text 24"/>
          <p:cNvSpPr/>
          <p:nvPr/>
        </p:nvSpPr>
        <p:spPr>
          <a:xfrm>
            <a:off x="813816" y="5605272"/>
            <a:ext cx="10579608" cy="41148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Proactive scaling review when measured load &gt;70% of SLO-compliant capacity for 2 weeks.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F44B00"/>
          </a:solidFill>
          <a:ln w="7620">
            <a:solidFill>
              <a:srgbClr val="F44B00">
                <a:alpha val="0"/>
              </a:srgbClr>
            </a:solidFill>
            <a:prstDash val="solid"/>
          </a:ln>
        </p:spPr>
      </p:sp>
      <p:sp>
        <p:nvSpPr>
          <p:cNvPr id="3" name="Text 1"/>
          <p:cNvSpPr/>
          <p:nvPr/>
        </p:nvSpPr>
        <p:spPr>
          <a:xfrm>
            <a:off x="548640" y="338328"/>
            <a:ext cx="3383280" cy="283464"/>
          </a:xfrm>
          <a:prstGeom prst="rect">
            <a:avLst/>
          </a:prstGeom>
          <a:noFill/>
          <a:ln/>
        </p:spPr>
        <p:txBody>
          <a:bodyPr wrap="square" lIns="0" tIns="0" rIns="0" bIns="0" rtlCol="0" anchor="ctr">
            <a:normAutofit/>
          </a:bodyPr>
          <a:lstStyle/>
          <a:p>
            <a:pPr indent="0" marL="0">
              <a:buNone/>
            </a:pPr>
            <a:r>
              <a:rPr lang="en-US" sz="1200" b="1" spc="160" kern="0" dirty="0">
                <a:solidFill>
                  <a:srgbClr val="171716"/>
                </a:solidFill>
                <a:latin typeface="Aptos" pitchFamily="34" charset="0"/>
                <a:ea typeface="Aptos" pitchFamily="34" charset="-122"/>
                <a:cs typeface="Aptos" pitchFamily="34" charset="-120"/>
              </a:rPr>
              <a:t>APPLIED COMPUTE</a:t>
            </a:r>
            <a:endParaRPr lang="en-US" sz="1200" dirty="0"/>
          </a:p>
        </p:txBody>
      </p:sp>
      <p:sp>
        <p:nvSpPr>
          <p:cNvPr id="4" name="Text 2"/>
          <p:cNvSpPr/>
          <p:nvPr/>
        </p:nvSpPr>
        <p:spPr>
          <a:xfrm>
            <a:off x="8503920" y="365760"/>
            <a:ext cx="3063240" cy="210312"/>
          </a:xfrm>
          <a:prstGeom prst="rect">
            <a:avLst/>
          </a:prstGeom>
          <a:noFill/>
          <a:ln/>
        </p:spPr>
        <p:txBody>
          <a:bodyPr wrap="square" lIns="0" tIns="0" rIns="0" bIns="0" rtlCol="0" anchor="ctr">
            <a:normAutofit/>
          </a:bodyPr>
          <a:lstStyle/>
          <a:p>
            <a:pPr algn="r" indent="0" marL="0">
              <a:buNone/>
            </a:pPr>
            <a:r>
              <a:rPr lang="en-US" sz="1000" b="1" spc="100" kern="0" dirty="0">
                <a:solidFill>
                  <a:srgbClr val="857F78"/>
                </a:solidFill>
                <a:latin typeface="Aptos" pitchFamily="34" charset="0"/>
                <a:ea typeface="Aptos" pitchFamily="34" charset="-122"/>
                <a:cs typeface="Aptos" pitchFamily="34" charset="-120"/>
              </a:rPr>
              <a:t>DEAL GOVERNANCE</a:t>
            </a:r>
            <a:endParaRPr lang="en-US" sz="1000" dirty="0"/>
          </a:p>
        </p:txBody>
      </p:sp>
      <p:sp>
        <p:nvSpPr>
          <p:cNvPr id="5" name="Text 3"/>
          <p:cNvSpPr/>
          <p:nvPr/>
        </p:nvSpPr>
        <p:spPr>
          <a:xfrm>
            <a:off x="557784" y="932688"/>
            <a:ext cx="11036808" cy="1024128"/>
          </a:xfrm>
          <a:prstGeom prst="rect">
            <a:avLst/>
          </a:prstGeom>
          <a:noFill/>
          <a:ln/>
        </p:spPr>
        <p:txBody>
          <a:bodyPr wrap="square" lIns="0" tIns="0" rIns="0" bIns="0" rtlCol="0" anchor="ctr">
            <a:normAutofit/>
          </a:bodyPr>
          <a:lstStyle/>
          <a:p>
            <a:pPr indent="0" marL="0">
              <a:buNone/>
            </a:pPr>
            <a:r>
              <a:rPr lang="en-US" sz="3100" b="1" dirty="0">
                <a:solidFill>
                  <a:srgbClr val="171716"/>
                </a:solidFill>
                <a:latin typeface="Aptos" pitchFamily="34" charset="0"/>
                <a:ea typeface="Aptos" pitchFamily="34" charset="-122"/>
                <a:cs typeface="Aptos" pitchFamily="34" charset="-120"/>
              </a:rPr>
              <a:t>A short scorecard makes the final decision repeatable</a:t>
            </a:r>
            <a:endParaRPr lang="en-US" sz="3100" dirty="0"/>
          </a:p>
        </p:txBody>
      </p:sp>
      <p:sp>
        <p:nvSpPr>
          <p:cNvPr id="6" name="Shape 4"/>
          <p:cNvSpPr/>
          <p:nvPr/>
        </p:nvSpPr>
        <p:spPr>
          <a:xfrm>
            <a:off x="557784" y="6483096"/>
            <a:ext cx="11055096" cy="0"/>
          </a:xfrm>
          <a:prstGeom prst="line">
            <a:avLst/>
          </a:prstGeom>
          <a:noFill/>
          <a:ln w="9525">
            <a:solidFill>
              <a:srgbClr val="DCD7D1"/>
            </a:solidFill>
            <a:prstDash val="solid"/>
          </a:ln>
        </p:spPr>
      </p:sp>
      <p:sp>
        <p:nvSpPr>
          <p:cNvPr id="7" name="Text 5"/>
          <p:cNvSpPr/>
          <p:nvPr/>
        </p:nvSpPr>
        <p:spPr>
          <a:xfrm>
            <a:off x="557784" y="6565392"/>
            <a:ext cx="8412480" cy="128016"/>
          </a:xfrm>
          <a:prstGeom prst="rect">
            <a:avLst/>
          </a:prstGeom>
          <a:noFill/>
          <a:ln/>
        </p:spPr>
        <p:txBody>
          <a:bodyPr wrap="square" lIns="0" tIns="0" rIns="0" bIns="0" rtlCol="0" anchor="ctr">
            <a:normAutofit/>
          </a:bodyPr>
          <a:lstStyle/>
          <a:p>
            <a:pPr indent="0" marL="0">
              <a:buNone/>
            </a:pPr>
            <a:r>
              <a:rPr lang="en-US" sz="820" b="1" dirty="0">
                <a:solidFill>
                  <a:srgbClr val="857F78"/>
                </a:solidFill>
                <a:latin typeface="Aptos" pitchFamily="34" charset="0"/>
                <a:ea typeface="Aptos" pitchFamily="34" charset="-122"/>
                <a:cs typeface="Aptos" pitchFamily="34" charset="-120"/>
              </a:rPr>
              <a:t>ENTERPRISE DEAL ECONOMICS  /  ILLUSTRATIVE FRAMEWORK</a:t>
            </a:r>
            <a:endParaRPr lang="en-US" sz="820" dirty="0"/>
          </a:p>
        </p:txBody>
      </p:sp>
      <p:sp>
        <p:nvSpPr>
          <p:cNvPr id="8" name="Text 6"/>
          <p:cNvSpPr/>
          <p:nvPr/>
        </p:nvSpPr>
        <p:spPr>
          <a:xfrm>
            <a:off x="11173968" y="6547104"/>
            <a:ext cx="411480" cy="146304"/>
          </a:xfrm>
          <a:prstGeom prst="rect">
            <a:avLst/>
          </a:prstGeom>
          <a:noFill/>
          <a:ln/>
        </p:spPr>
        <p:txBody>
          <a:bodyPr wrap="square" lIns="0" tIns="0" rIns="0" bIns="0" rtlCol="0" anchor="ctr">
            <a:normAutofit/>
          </a:bodyPr>
          <a:lstStyle/>
          <a:p>
            <a:pPr algn="r" indent="0" marL="0">
              <a:buNone/>
            </a:pPr>
            <a:r>
              <a:rPr lang="en-US" sz="900" b="1" dirty="0">
                <a:solidFill>
                  <a:srgbClr val="5F5B57"/>
                </a:solidFill>
                <a:latin typeface="Aptos" pitchFamily="34" charset="0"/>
                <a:ea typeface="Aptos" pitchFamily="34" charset="-122"/>
                <a:cs typeface="Aptos" pitchFamily="34" charset="-120"/>
              </a:rPr>
              <a:t>12</a:t>
            </a:r>
            <a:endParaRPr lang="en-US" sz="900" dirty="0"/>
          </a:p>
        </p:txBody>
      </p:sp>
      <p:sp>
        <p:nvSpPr>
          <p:cNvPr id="9" name="Shape 7"/>
          <p:cNvSpPr/>
          <p:nvPr/>
        </p:nvSpPr>
        <p:spPr>
          <a:xfrm>
            <a:off x="594360" y="2121408"/>
            <a:ext cx="3584448" cy="1252728"/>
          </a:xfrm>
          <a:prstGeom prst="roundRect">
            <a:avLst>
              <a:gd name="adj" fmla="val 5839"/>
            </a:avLst>
          </a:prstGeom>
          <a:solidFill>
            <a:srgbClr val="FFFFFF"/>
          </a:solidFill>
          <a:ln w="10160">
            <a:solidFill>
              <a:srgbClr val="DCD7D1"/>
            </a:solidFill>
            <a:prstDash val="solid"/>
          </a:ln>
        </p:spPr>
      </p:sp>
      <p:sp>
        <p:nvSpPr>
          <p:cNvPr id="10" name="Text 8"/>
          <p:cNvSpPr/>
          <p:nvPr/>
        </p:nvSpPr>
        <p:spPr>
          <a:xfrm>
            <a:off x="786384" y="2286000"/>
            <a:ext cx="3163824" cy="265176"/>
          </a:xfrm>
          <a:prstGeom prst="rect">
            <a:avLst/>
          </a:prstGeom>
          <a:noFill/>
          <a:ln/>
        </p:spPr>
        <p:txBody>
          <a:bodyPr wrap="square" lIns="0" tIns="0" rIns="0" bIns="0" rtlCol="0" anchor="ctr">
            <a:normAutofit/>
          </a:bodyPr>
          <a:lstStyle/>
          <a:p>
            <a:pPr indent="0" marL="0">
              <a:buNone/>
            </a:pPr>
            <a:r>
              <a:rPr lang="en-US" sz="1200" b="1" dirty="0">
                <a:solidFill>
                  <a:srgbClr val="D83E00"/>
                </a:solidFill>
                <a:latin typeface="Aptos" pitchFamily="34" charset="0"/>
                <a:ea typeface="Aptos" pitchFamily="34" charset="-122"/>
                <a:cs typeface="Aptos" pitchFamily="34" charset="-120"/>
              </a:rPr>
              <a:t>✓  VALUE</a:t>
            </a:r>
            <a:endParaRPr lang="en-US" sz="1200" dirty="0"/>
          </a:p>
        </p:txBody>
      </p:sp>
      <p:sp>
        <p:nvSpPr>
          <p:cNvPr id="11" name="Text 9"/>
          <p:cNvSpPr/>
          <p:nvPr/>
        </p:nvSpPr>
        <p:spPr>
          <a:xfrm>
            <a:off x="786384" y="2651760"/>
            <a:ext cx="3154680" cy="493776"/>
          </a:xfrm>
          <a:prstGeom prst="rect">
            <a:avLst/>
          </a:prstGeom>
          <a:noFill/>
          <a:ln/>
        </p:spPr>
        <p:txBody>
          <a:bodyPr wrap="square" lIns="0" tIns="0" rIns="0" bIns="0" rtlCol="0" anchor="ctr">
            <a:normAutofit/>
          </a:bodyPr>
          <a:lstStyle/>
          <a:p>
            <a:pPr indent="0" marL="0">
              <a:buNone/>
            </a:pPr>
            <a:r>
              <a:rPr lang="en-US" sz="1640" b="1" dirty="0">
                <a:solidFill>
                  <a:srgbClr val="171716"/>
                </a:solidFill>
                <a:latin typeface="Aptos" pitchFamily="34" charset="0"/>
                <a:ea typeface="Aptos" pitchFamily="34" charset="-122"/>
                <a:cs typeface="Aptos" pitchFamily="34" charset="-120"/>
              </a:rPr>
              <a:t>Baseline + customer ROI credible</a:t>
            </a:r>
            <a:endParaRPr lang="en-US" sz="1640" dirty="0"/>
          </a:p>
        </p:txBody>
      </p:sp>
      <p:sp>
        <p:nvSpPr>
          <p:cNvPr id="12" name="Shape 10"/>
          <p:cNvSpPr/>
          <p:nvPr/>
        </p:nvSpPr>
        <p:spPr>
          <a:xfrm>
            <a:off x="4398264" y="2121408"/>
            <a:ext cx="3584448" cy="1252728"/>
          </a:xfrm>
          <a:prstGeom prst="roundRect">
            <a:avLst>
              <a:gd name="adj" fmla="val 5839"/>
            </a:avLst>
          </a:prstGeom>
          <a:solidFill>
            <a:srgbClr val="FFFFFF"/>
          </a:solidFill>
          <a:ln w="10160">
            <a:solidFill>
              <a:srgbClr val="DCD7D1"/>
            </a:solidFill>
            <a:prstDash val="solid"/>
          </a:ln>
        </p:spPr>
      </p:sp>
      <p:sp>
        <p:nvSpPr>
          <p:cNvPr id="13" name="Text 11"/>
          <p:cNvSpPr/>
          <p:nvPr/>
        </p:nvSpPr>
        <p:spPr>
          <a:xfrm>
            <a:off x="4590288" y="2286000"/>
            <a:ext cx="3163824" cy="265176"/>
          </a:xfrm>
          <a:prstGeom prst="rect">
            <a:avLst/>
          </a:prstGeom>
          <a:noFill/>
          <a:ln/>
        </p:spPr>
        <p:txBody>
          <a:bodyPr wrap="square" lIns="0" tIns="0" rIns="0" bIns="0" rtlCol="0" anchor="ctr">
            <a:normAutofit/>
          </a:bodyPr>
          <a:lstStyle/>
          <a:p>
            <a:pPr indent="0" marL="0">
              <a:buNone/>
            </a:pPr>
            <a:r>
              <a:rPr lang="en-US" sz="1200" b="1" dirty="0">
                <a:solidFill>
                  <a:srgbClr val="D83E00"/>
                </a:solidFill>
                <a:latin typeface="Aptos" pitchFamily="34" charset="0"/>
                <a:ea typeface="Aptos" pitchFamily="34" charset="-122"/>
                <a:cs typeface="Aptos" pitchFamily="34" charset="-120"/>
              </a:rPr>
              <a:t>✓  DELIVERY</a:t>
            </a:r>
            <a:endParaRPr lang="en-US" sz="1200" dirty="0"/>
          </a:p>
        </p:txBody>
      </p:sp>
      <p:sp>
        <p:nvSpPr>
          <p:cNvPr id="14" name="Text 12"/>
          <p:cNvSpPr/>
          <p:nvPr/>
        </p:nvSpPr>
        <p:spPr>
          <a:xfrm>
            <a:off x="4590288" y="2651760"/>
            <a:ext cx="3154680" cy="493776"/>
          </a:xfrm>
          <a:prstGeom prst="rect">
            <a:avLst/>
          </a:prstGeom>
          <a:noFill/>
          <a:ln/>
        </p:spPr>
        <p:txBody>
          <a:bodyPr wrap="square" lIns="0" tIns="0" rIns="0" bIns="0" rtlCol="0" anchor="ctr">
            <a:normAutofit/>
          </a:bodyPr>
          <a:lstStyle/>
          <a:p>
            <a:pPr indent="0" marL="0">
              <a:buNone/>
            </a:pPr>
            <a:r>
              <a:rPr lang="en-US" sz="1640" b="1" dirty="0">
                <a:solidFill>
                  <a:srgbClr val="171716"/>
                </a:solidFill>
                <a:latin typeface="Aptos" pitchFamily="34" charset="0"/>
                <a:ea typeface="Aptos" pitchFamily="34" charset="-122"/>
                <a:cs typeface="Aptos" pitchFamily="34" charset="-120"/>
              </a:rPr>
              <a:t>Feasible workload and team plan</a:t>
            </a:r>
            <a:endParaRPr lang="en-US" sz="1640" dirty="0"/>
          </a:p>
        </p:txBody>
      </p:sp>
      <p:sp>
        <p:nvSpPr>
          <p:cNvPr id="15" name="Shape 13"/>
          <p:cNvSpPr/>
          <p:nvPr/>
        </p:nvSpPr>
        <p:spPr>
          <a:xfrm>
            <a:off x="8202168" y="2121408"/>
            <a:ext cx="3584448" cy="1252728"/>
          </a:xfrm>
          <a:prstGeom prst="roundRect">
            <a:avLst>
              <a:gd name="adj" fmla="val 5839"/>
            </a:avLst>
          </a:prstGeom>
          <a:solidFill>
            <a:srgbClr val="FFFFFF"/>
          </a:solidFill>
          <a:ln w="10160">
            <a:solidFill>
              <a:srgbClr val="DCD7D1"/>
            </a:solidFill>
            <a:prstDash val="solid"/>
          </a:ln>
        </p:spPr>
      </p:sp>
      <p:sp>
        <p:nvSpPr>
          <p:cNvPr id="16" name="Text 14"/>
          <p:cNvSpPr/>
          <p:nvPr/>
        </p:nvSpPr>
        <p:spPr>
          <a:xfrm>
            <a:off x="8394192" y="2286000"/>
            <a:ext cx="3163824" cy="265176"/>
          </a:xfrm>
          <a:prstGeom prst="rect">
            <a:avLst/>
          </a:prstGeom>
          <a:noFill/>
          <a:ln/>
        </p:spPr>
        <p:txBody>
          <a:bodyPr wrap="square" lIns="0" tIns="0" rIns="0" bIns="0" rtlCol="0" anchor="ctr">
            <a:normAutofit/>
          </a:bodyPr>
          <a:lstStyle/>
          <a:p>
            <a:pPr indent="0" marL="0">
              <a:buNone/>
            </a:pPr>
            <a:r>
              <a:rPr lang="en-US" sz="1200" b="1" dirty="0">
                <a:solidFill>
                  <a:srgbClr val="D83E00"/>
                </a:solidFill>
                <a:latin typeface="Aptos" pitchFamily="34" charset="0"/>
                <a:ea typeface="Aptos" pitchFamily="34" charset="-122"/>
                <a:cs typeface="Aptos" pitchFamily="34" charset="-120"/>
              </a:rPr>
              <a:t>✓  CAPACITY</a:t>
            </a:r>
            <a:endParaRPr lang="en-US" sz="1200" dirty="0"/>
          </a:p>
        </p:txBody>
      </p:sp>
      <p:sp>
        <p:nvSpPr>
          <p:cNvPr id="17" name="Text 15"/>
          <p:cNvSpPr/>
          <p:nvPr/>
        </p:nvSpPr>
        <p:spPr>
          <a:xfrm>
            <a:off x="8394192" y="2651760"/>
            <a:ext cx="3154680" cy="493776"/>
          </a:xfrm>
          <a:prstGeom prst="rect">
            <a:avLst/>
          </a:prstGeom>
          <a:noFill/>
          <a:ln/>
        </p:spPr>
        <p:txBody>
          <a:bodyPr wrap="square" lIns="0" tIns="0" rIns="0" bIns="0" rtlCol="0" anchor="ctr">
            <a:normAutofit/>
          </a:bodyPr>
          <a:lstStyle/>
          <a:p>
            <a:pPr indent="0" marL="0">
              <a:buNone/>
            </a:pPr>
            <a:r>
              <a:rPr lang="en-US" sz="1640" b="1" dirty="0">
                <a:solidFill>
                  <a:srgbClr val="171716"/>
                </a:solidFill>
                <a:latin typeface="Aptos" pitchFamily="34" charset="0"/>
                <a:ea typeface="Aptos" pitchFamily="34" charset="-122"/>
                <a:cs typeface="Aptos" pitchFamily="34" charset="-120"/>
              </a:rPr>
              <a:t>Time-matched, compatible supply</a:t>
            </a:r>
            <a:endParaRPr lang="en-US" sz="1640" dirty="0"/>
          </a:p>
        </p:txBody>
      </p:sp>
      <p:sp>
        <p:nvSpPr>
          <p:cNvPr id="18" name="Shape 16"/>
          <p:cNvSpPr/>
          <p:nvPr/>
        </p:nvSpPr>
        <p:spPr>
          <a:xfrm>
            <a:off x="594360" y="3538728"/>
            <a:ext cx="3584448" cy="1252728"/>
          </a:xfrm>
          <a:prstGeom prst="roundRect">
            <a:avLst>
              <a:gd name="adj" fmla="val 5839"/>
            </a:avLst>
          </a:prstGeom>
          <a:solidFill>
            <a:srgbClr val="FFFFFF"/>
          </a:solidFill>
          <a:ln w="10160">
            <a:solidFill>
              <a:srgbClr val="DCD7D1"/>
            </a:solidFill>
            <a:prstDash val="solid"/>
          </a:ln>
        </p:spPr>
      </p:sp>
      <p:sp>
        <p:nvSpPr>
          <p:cNvPr id="19" name="Text 17"/>
          <p:cNvSpPr/>
          <p:nvPr/>
        </p:nvSpPr>
        <p:spPr>
          <a:xfrm>
            <a:off x="786384" y="3703320"/>
            <a:ext cx="3163824" cy="265176"/>
          </a:xfrm>
          <a:prstGeom prst="rect">
            <a:avLst/>
          </a:prstGeom>
          <a:noFill/>
          <a:ln/>
        </p:spPr>
        <p:txBody>
          <a:bodyPr wrap="square" lIns="0" tIns="0" rIns="0" bIns="0" rtlCol="0" anchor="ctr">
            <a:normAutofit/>
          </a:bodyPr>
          <a:lstStyle/>
          <a:p>
            <a:pPr indent="0" marL="0">
              <a:buNone/>
            </a:pPr>
            <a:r>
              <a:rPr lang="en-US" sz="1200" b="1" dirty="0">
                <a:solidFill>
                  <a:srgbClr val="D83E00"/>
                </a:solidFill>
                <a:latin typeface="Aptos" pitchFamily="34" charset="0"/>
                <a:ea typeface="Aptos" pitchFamily="34" charset="-122"/>
                <a:cs typeface="Aptos" pitchFamily="34" charset="-120"/>
              </a:rPr>
              <a:t>✓  ECONOMICS</a:t>
            </a:r>
            <a:endParaRPr lang="en-US" sz="1200" dirty="0"/>
          </a:p>
        </p:txBody>
      </p:sp>
      <p:sp>
        <p:nvSpPr>
          <p:cNvPr id="20" name="Text 18"/>
          <p:cNvSpPr/>
          <p:nvPr/>
        </p:nvSpPr>
        <p:spPr>
          <a:xfrm>
            <a:off x="786384" y="4069080"/>
            <a:ext cx="3154680" cy="493776"/>
          </a:xfrm>
          <a:prstGeom prst="rect">
            <a:avLst/>
          </a:prstGeom>
          <a:noFill/>
          <a:ln/>
        </p:spPr>
        <p:txBody>
          <a:bodyPr wrap="square" lIns="0" tIns="0" rIns="0" bIns="0" rtlCol="0" anchor="ctr">
            <a:normAutofit/>
          </a:bodyPr>
          <a:lstStyle/>
          <a:p>
            <a:pPr indent="0" marL="0">
              <a:buNone/>
            </a:pPr>
            <a:r>
              <a:rPr lang="en-US" sz="1640" b="1" dirty="0">
                <a:solidFill>
                  <a:srgbClr val="171716"/>
                </a:solidFill>
                <a:latin typeface="Aptos" pitchFamily="34" charset="0"/>
                <a:ea typeface="Aptos" pitchFamily="34" charset="-122"/>
                <a:cs typeface="Aptos" pitchFamily="34" charset="-120"/>
              </a:rPr>
              <a:t>Margin floor + downside scenario</a:t>
            </a:r>
            <a:endParaRPr lang="en-US" sz="1640" dirty="0"/>
          </a:p>
        </p:txBody>
      </p:sp>
      <p:sp>
        <p:nvSpPr>
          <p:cNvPr id="21" name="Shape 19"/>
          <p:cNvSpPr/>
          <p:nvPr/>
        </p:nvSpPr>
        <p:spPr>
          <a:xfrm>
            <a:off x="4398264" y="3538728"/>
            <a:ext cx="3584448" cy="1252728"/>
          </a:xfrm>
          <a:prstGeom prst="roundRect">
            <a:avLst>
              <a:gd name="adj" fmla="val 5839"/>
            </a:avLst>
          </a:prstGeom>
          <a:solidFill>
            <a:srgbClr val="FFFFFF"/>
          </a:solidFill>
          <a:ln w="10160">
            <a:solidFill>
              <a:srgbClr val="DCD7D1"/>
            </a:solidFill>
            <a:prstDash val="solid"/>
          </a:ln>
        </p:spPr>
      </p:sp>
      <p:sp>
        <p:nvSpPr>
          <p:cNvPr id="22" name="Text 20"/>
          <p:cNvSpPr/>
          <p:nvPr/>
        </p:nvSpPr>
        <p:spPr>
          <a:xfrm>
            <a:off x="4590288" y="3703320"/>
            <a:ext cx="3163824" cy="265176"/>
          </a:xfrm>
          <a:prstGeom prst="rect">
            <a:avLst/>
          </a:prstGeom>
          <a:noFill/>
          <a:ln/>
        </p:spPr>
        <p:txBody>
          <a:bodyPr wrap="square" lIns="0" tIns="0" rIns="0" bIns="0" rtlCol="0" anchor="ctr">
            <a:normAutofit/>
          </a:bodyPr>
          <a:lstStyle/>
          <a:p>
            <a:pPr indent="0" marL="0">
              <a:buNone/>
            </a:pPr>
            <a:r>
              <a:rPr lang="en-US" sz="1200" b="1" dirty="0">
                <a:solidFill>
                  <a:srgbClr val="D83E00"/>
                </a:solidFill>
                <a:latin typeface="Aptos" pitchFamily="34" charset="0"/>
                <a:ea typeface="Aptos" pitchFamily="34" charset="-122"/>
                <a:cs typeface="Aptos" pitchFamily="34" charset="-120"/>
              </a:rPr>
              <a:t>✓  PAPER</a:t>
            </a:r>
            <a:endParaRPr lang="en-US" sz="1200" dirty="0"/>
          </a:p>
        </p:txBody>
      </p:sp>
      <p:sp>
        <p:nvSpPr>
          <p:cNvPr id="23" name="Text 21"/>
          <p:cNvSpPr/>
          <p:nvPr/>
        </p:nvSpPr>
        <p:spPr>
          <a:xfrm>
            <a:off x="4590288" y="4069080"/>
            <a:ext cx="3154680" cy="493776"/>
          </a:xfrm>
          <a:prstGeom prst="rect">
            <a:avLst/>
          </a:prstGeom>
          <a:noFill/>
          <a:ln/>
        </p:spPr>
        <p:txBody>
          <a:bodyPr wrap="square" lIns="0" tIns="0" rIns="0" bIns="0" rtlCol="0" anchor="ctr">
            <a:normAutofit/>
          </a:bodyPr>
          <a:lstStyle/>
          <a:p>
            <a:pPr indent="0" marL="0">
              <a:buNone/>
            </a:pPr>
            <a:r>
              <a:rPr lang="en-US" sz="1640" b="1" dirty="0">
                <a:solidFill>
                  <a:srgbClr val="171716"/>
                </a:solidFill>
                <a:latin typeface="Aptos" pitchFamily="34" charset="0"/>
                <a:ea typeface="Aptos" pitchFamily="34" charset="-122"/>
                <a:cs typeface="Aptos" pitchFamily="34" charset="-120"/>
              </a:rPr>
              <a:t>Risks + dependencies accepted</a:t>
            </a:r>
            <a:endParaRPr lang="en-US" sz="1640" dirty="0"/>
          </a:p>
        </p:txBody>
      </p:sp>
      <p:sp>
        <p:nvSpPr>
          <p:cNvPr id="24" name="Shape 22"/>
          <p:cNvSpPr/>
          <p:nvPr/>
        </p:nvSpPr>
        <p:spPr>
          <a:xfrm>
            <a:off x="8202168" y="3538728"/>
            <a:ext cx="3584448" cy="1252728"/>
          </a:xfrm>
          <a:prstGeom prst="roundRect">
            <a:avLst>
              <a:gd name="adj" fmla="val 5839"/>
            </a:avLst>
          </a:prstGeom>
          <a:solidFill>
            <a:srgbClr val="FFFFFF"/>
          </a:solidFill>
          <a:ln w="10160">
            <a:solidFill>
              <a:srgbClr val="DCD7D1"/>
            </a:solidFill>
            <a:prstDash val="solid"/>
          </a:ln>
        </p:spPr>
      </p:sp>
      <p:sp>
        <p:nvSpPr>
          <p:cNvPr id="25" name="Text 23"/>
          <p:cNvSpPr/>
          <p:nvPr/>
        </p:nvSpPr>
        <p:spPr>
          <a:xfrm>
            <a:off x="8394192" y="3703320"/>
            <a:ext cx="3163824" cy="265176"/>
          </a:xfrm>
          <a:prstGeom prst="rect">
            <a:avLst/>
          </a:prstGeom>
          <a:noFill/>
          <a:ln/>
        </p:spPr>
        <p:txBody>
          <a:bodyPr wrap="square" lIns="0" tIns="0" rIns="0" bIns="0" rtlCol="0" anchor="ctr">
            <a:normAutofit/>
          </a:bodyPr>
          <a:lstStyle/>
          <a:p>
            <a:pPr indent="0" marL="0">
              <a:buNone/>
            </a:pPr>
            <a:r>
              <a:rPr lang="en-US" sz="1200" b="1" dirty="0">
                <a:solidFill>
                  <a:srgbClr val="D83E00"/>
                </a:solidFill>
                <a:latin typeface="Aptos" pitchFamily="34" charset="0"/>
                <a:ea typeface="Aptos" pitchFamily="34" charset="-122"/>
                <a:cs typeface="Aptos" pitchFamily="34" charset="-120"/>
              </a:rPr>
              <a:t>✓  EXPANSION</a:t>
            </a:r>
            <a:endParaRPr lang="en-US" sz="1200" dirty="0"/>
          </a:p>
        </p:txBody>
      </p:sp>
      <p:sp>
        <p:nvSpPr>
          <p:cNvPr id="26" name="Text 24"/>
          <p:cNvSpPr/>
          <p:nvPr/>
        </p:nvSpPr>
        <p:spPr>
          <a:xfrm>
            <a:off x="8394192" y="4069080"/>
            <a:ext cx="3154680" cy="493776"/>
          </a:xfrm>
          <a:prstGeom prst="rect">
            <a:avLst/>
          </a:prstGeom>
          <a:noFill/>
          <a:ln/>
        </p:spPr>
        <p:txBody>
          <a:bodyPr wrap="square" lIns="0" tIns="0" rIns="0" bIns="0" rtlCol="0" anchor="ctr">
            <a:normAutofit/>
          </a:bodyPr>
          <a:lstStyle/>
          <a:p>
            <a:pPr indent="0" marL="0">
              <a:buNone/>
            </a:pPr>
            <a:r>
              <a:rPr lang="en-US" sz="1640" b="1" dirty="0">
                <a:solidFill>
                  <a:srgbClr val="171716"/>
                </a:solidFill>
                <a:latin typeface="Aptos" pitchFamily="34" charset="0"/>
                <a:ea typeface="Aptos" pitchFamily="34" charset="-122"/>
                <a:cs typeface="Aptos" pitchFamily="34" charset="-120"/>
              </a:rPr>
              <a:t>Next phase requires fresh approval</a:t>
            </a:r>
            <a:endParaRPr lang="en-US" sz="1640" dirty="0"/>
          </a:p>
        </p:txBody>
      </p:sp>
      <p:sp>
        <p:nvSpPr>
          <p:cNvPr id="27" name="Shape 25"/>
          <p:cNvSpPr/>
          <p:nvPr/>
        </p:nvSpPr>
        <p:spPr>
          <a:xfrm>
            <a:off x="603504" y="5376672"/>
            <a:ext cx="3520440" cy="749808"/>
          </a:xfrm>
          <a:prstGeom prst="rect">
            <a:avLst/>
          </a:prstGeom>
          <a:solidFill>
            <a:srgbClr val="171716"/>
          </a:solidFill>
          <a:ln w="7620">
            <a:solidFill>
              <a:srgbClr val="171716">
                <a:alpha val="0"/>
              </a:srgbClr>
            </a:solidFill>
            <a:prstDash val="solid"/>
          </a:ln>
        </p:spPr>
      </p:sp>
      <p:sp>
        <p:nvSpPr>
          <p:cNvPr id="28" name="Text 26"/>
          <p:cNvSpPr/>
          <p:nvPr/>
        </p:nvSpPr>
        <p:spPr>
          <a:xfrm>
            <a:off x="758952" y="5513832"/>
            <a:ext cx="1042416" cy="256032"/>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Aptos" pitchFamily="34" charset="0"/>
                <a:ea typeface="Aptos" pitchFamily="34" charset="-122"/>
                <a:cs typeface="Aptos" pitchFamily="34" charset="-120"/>
              </a:rPr>
              <a:t>APPROVE</a:t>
            </a:r>
            <a:endParaRPr lang="en-US" sz="1200" dirty="0"/>
          </a:p>
        </p:txBody>
      </p:sp>
      <p:sp>
        <p:nvSpPr>
          <p:cNvPr id="29" name="Text 27"/>
          <p:cNvSpPr/>
          <p:nvPr/>
        </p:nvSpPr>
        <p:spPr>
          <a:xfrm>
            <a:off x="1773936" y="5504688"/>
            <a:ext cx="2185416" cy="283464"/>
          </a:xfrm>
          <a:prstGeom prst="rect">
            <a:avLst/>
          </a:prstGeom>
          <a:noFill/>
          <a:ln/>
        </p:spPr>
        <p:txBody>
          <a:bodyPr wrap="square" lIns="0" tIns="0" rIns="0" bIns="0" rtlCol="0" anchor="ctr">
            <a:normAutofit/>
          </a:bodyPr>
          <a:lstStyle/>
          <a:p>
            <a:pPr indent="0" marL="0">
              <a:buNone/>
            </a:pPr>
            <a:r>
              <a:rPr lang="en-US" sz="1220" dirty="0">
                <a:solidFill>
                  <a:srgbClr val="E7DFD9"/>
                </a:solidFill>
                <a:latin typeface="Aptos" pitchFamily="34" charset="0"/>
                <a:ea typeface="Aptos" pitchFamily="34" charset="-122"/>
                <a:cs typeface="Aptos" pitchFamily="34" charset="-120"/>
              </a:rPr>
              <a:t>All checks pass</a:t>
            </a:r>
            <a:endParaRPr lang="en-US" sz="1220" dirty="0"/>
          </a:p>
        </p:txBody>
      </p:sp>
      <p:sp>
        <p:nvSpPr>
          <p:cNvPr id="30" name="Shape 28"/>
          <p:cNvSpPr/>
          <p:nvPr/>
        </p:nvSpPr>
        <p:spPr>
          <a:xfrm>
            <a:off x="4398264" y="5376672"/>
            <a:ext cx="3520440" cy="749808"/>
          </a:xfrm>
          <a:prstGeom prst="rect">
            <a:avLst/>
          </a:prstGeom>
          <a:solidFill>
            <a:srgbClr val="F3F0EC"/>
          </a:solidFill>
          <a:ln w="7620">
            <a:solidFill>
              <a:srgbClr val="F3F0EC">
                <a:alpha val="0"/>
              </a:srgbClr>
            </a:solidFill>
            <a:prstDash val="solid"/>
          </a:ln>
        </p:spPr>
      </p:sp>
      <p:sp>
        <p:nvSpPr>
          <p:cNvPr id="31" name="Text 29"/>
          <p:cNvSpPr/>
          <p:nvPr/>
        </p:nvSpPr>
        <p:spPr>
          <a:xfrm>
            <a:off x="4553712" y="5513832"/>
            <a:ext cx="1042416" cy="256032"/>
          </a:xfrm>
          <a:prstGeom prst="rect">
            <a:avLst/>
          </a:prstGeom>
          <a:noFill/>
          <a:ln/>
        </p:spPr>
        <p:txBody>
          <a:bodyPr wrap="square" lIns="0" tIns="0" rIns="0" bIns="0" rtlCol="0" anchor="ctr">
            <a:normAutofit/>
          </a:bodyPr>
          <a:lstStyle/>
          <a:p>
            <a:pPr indent="0" marL="0">
              <a:buNone/>
            </a:pPr>
            <a:r>
              <a:rPr lang="en-US" sz="1200" b="1" dirty="0">
                <a:solidFill>
                  <a:srgbClr val="171716"/>
                </a:solidFill>
                <a:latin typeface="Aptos" pitchFamily="34" charset="0"/>
                <a:ea typeface="Aptos" pitchFamily="34" charset="-122"/>
                <a:cs typeface="Aptos" pitchFamily="34" charset="-120"/>
              </a:rPr>
              <a:t>REDESIGN</a:t>
            </a:r>
            <a:endParaRPr lang="en-US" sz="1200" dirty="0"/>
          </a:p>
        </p:txBody>
      </p:sp>
      <p:sp>
        <p:nvSpPr>
          <p:cNvPr id="32" name="Text 30"/>
          <p:cNvSpPr/>
          <p:nvPr/>
        </p:nvSpPr>
        <p:spPr>
          <a:xfrm>
            <a:off x="5568696" y="5504688"/>
            <a:ext cx="2185416" cy="283464"/>
          </a:xfrm>
          <a:prstGeom prst="rect">
            <a:avLst/>
          </a:prstGeom>
          <a:noFill/>
          <a:ln/>
        </p:spPr>
        <p:txBody>
          <a:bodyPr wrap="square" lIns="0" tIns="0" rIns="0" bIns="0" rtlCol="0" anchor="ctr">
            <a:normAutofit/>
          </a:bodyPr>
          <a:lstStyle/>
          <a:p>
            <a:pPr indent="0" marL="0">
              <a:buNone/>
            </a:pPr>
            <a:r>
              <a:rPr lang="en-US" sz="1220" dirty="0">
                <a:solidFill>
                  <a:srgbClr val="5F5B57"/>
                </a:solidFill>
                <a:latin typeface="Aptos" pitchFamily="34" charset="0"/>
                <a:ea typeface="Aptos" pitchFamily="34" charset="-122"/>
                <a:cs typeface="Aptos" pitchFamily="34" charset="-120"/>
              </a:rPr>
              <a:t>One input can be fixed</a:t>
            </a:r>
            <a:endParaRPr lang="en-US" sz="1220" dirty="0"/>
          </a:p>
        </p:txBody>
      </p:sp>
      <p:sp>
        <p:nvSpPr>
          <p:cNvPr id="33" name="Shape 31"/>
          <p:cNvSpPr/>
          <p:nvPr/>
        </p:nvSpPr>
        <p:spPr>
          <a:xfrm>
            <a:off x="8193024" y="5376672"/>
            <a:ext cx="3520440" cy="749808"/>
          </a:xfrm>
          <a:prstGeom prst="rect">
            <a:avLst/>
          </a:prstGeom>
          <a:solidFill>
            <a:srgbClr val="F3F0EC"/>
          </a:solidFill>
          <a:ln w="7620">
            <a:solidFill>
              <a:srgbClr val="F3F0EC">
                <a:alpha val="0"/>
              </a:srgbClr>
            </a:solidFill>
            <a:prstDash val="solid"/>
          </a:ln>
        </p:spPr>
      </p:sp>
      <p:sp>
        <p:nvSpPr>
          <p:cNvPr id="34" name="Text 32"/>
          <p:cNvSpPr/>
          <p:nvPr/>
        </p:nvSpPr>
        <p:spPr>
          <a:xfrm>
            <a:off x="8348472" y="5513832"/>
            <a:ext cx="1042416" cy="256032"/>
          </a:xfrm>
          <a:prstGeom prst="rect">
            <a:avLst/>
          </a:prstGeom>
          <a:noFill/>
          <a:ln/>
        </p:spPr>
        <p:txBody>
          <a:bodyPr wrap="square" lIns="0" tIns="0" rIns="0" bIns="0" rtlCol="0" anchor="ctr">
            <a:normAutofit/>
          </a:bodyPr>
          <a:lstStyle/>
          <a:p>
            <a:pPr indent="0" marL="0">
              <a:buNone/>
            </a:pPr>
            <a:r>
              <a:rPr lang="en-US" sz="1200" b="1" dirty="0">
                <a:solidFill>
                  <a:srgbClr val="171716"/>
                </a:solidFill>
                <a:latin typeface="Aptos" pitchFamily="34" charset="0"/>
                <a:ea typeface="Aptos" pitchFamily="34" charset="-122"/>
                <a:cs typeface="Aptos" pitchFamily="34" charset="-120"/>
              </a:rPr>
              <a:t>DECLINE</a:t>
            </a:r>
            <a:endParaRPr lang="en-US" sz="1200" dirty="0"/>
          </a:p>
        </p:txBody>
      </p:sp>
      <p:sp>
        <p:nvSpPr>
          <p:cNvPr id="35" name="Text 33"/>
          <p:cNvSpPr/>
          <p:nvPr/>
        </p:nvSpPr>
        <p:spPr>
          <a:xfrm>
            <a:off x="9363456" y="5504688"/>
            <a:ext cx="2185416" cy="283464"/>
          </a:xfrm>
          <a:prstGeom prst="rect">
            <a:avLst/>
          </a:prstGeom>
          <a:noFill/>
          <a:ln/>
        </p:spPr>
        <p:txBody>
          <a:bodyPr wrap="square" lIns="0" tIns="0" rIns="0" bIns="0" rtlCol="0" anchor="ctr">
            <a:normAutofit/>
          </a:bodyPr>
          <a:lstStyle/>
          <a:p>
            <a:pPr indent="0" marL="0">
              <a:buNone/>
            </a:pPr>
            <a:r>
              <a:rPr lang="en-US" sz="1220" dirty="0">
                <a:solidFill>
                  <a:srgbClr val="5F5B57"/>
                </a:solidFill>
                <a:latin typeface="Aptos" pitchFamily="34" charset="0"/>
                <a:ea typeface="Aptos" pitchFamily="34" charset="-122"/>
                <a:cs typeface="Aptos" pitchFamily="34" charset="-120"/>
              </a:rPr>
              <a:t>Risk remains unbounded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F44B00"/>
          </a:solidFill>
          <a:ln w="7620">
            <a:solidFill>
              <a:srgbClr val="F44B00">
                <a:alpha val="0"/>
              </a:srgbClr>
            </a:solidFill>
            <a:prstDash val="solid"/>
          </a:ln>
        </p:spPr>
      </p:sp>
      <p:sp>
        <p:nvSpPr>
          <p:cNvPr id="3" name="Text 1"/>
          <p:cNvSpPr/>
          <p:nvPr/>
        </p:nvSpPr>
        <p:spPr>
          <a:xfrm>
            <a:off x="548640" y="338328"/>
            <a:ext cx="3383280" cy="283464"/>
          </a:xfrm>
          <a:prstGeom prst="rect">
            <a:avLst/>
          </a:prstGeom>
          <a:noFill/>
          <a:ln/>
        </p:spPr>
        <p:txBody>
          <a:bodyPr wrap="square" lIns="0" tIns="0" rIns="0" bIns="0" rtlCol="0" anchor="ctr">
            <a:normAutofit/>
          </a:bodyPr>
          <a:lstStyle/>
          <a:p>
            <a:pPr indent="0" marL="0">
              <a:buNone/>
            </a:pPr>
            <a:r>
              <a:rPr lang="en-US" sz="1200" b="1" spc="160" kern="0" dirty="0">
                <a:solidFill>
                  <a:srgbClr val="171716"/>
                </a:solidFill>
                <a:latin typeface="Aptos" pitchFamily="34" charset="0"/>
                <a:ea typeface="Aptos" pitchFamily="34" charset="-122"/>
                <a:cs typeface="Aptos" pitchFamily="34" charset="-120"/>
              </a:rPr>
              <a:t>APPLIED COMPUTE</a:t>
            </a:r>
            <a:endParaRPr lang="en-US" sz="1200" dirty="0"/>
          </a:p>
        </p:txBody>
      </p:sp>
      <p:sp>
        <p:nvSpPr>
          <p:cNvPr id="4" name="Text 2"/>
          <p:cNvSpPr/>
          <p:nvPr/>
        </p:nvSpPr>
        <p:spPr>
          <a:xfrm>
            <a:off x="8503920" y="365760"/>
            <a:ext cx="3063240" cy="210312"/>
          </a:xfrm>
          <a:prstGeom prst="rect">
            <a:avLst/>
          </a:prstGeom>
          <a:noFill/>
          <a:ln/>
        </p:spPr>
        <p:txBody>
          <a:bodyPr wrap="square" lIns="0" tIns="0" rIns="0" bIns="0" rtlCol="0" anchor="ctr">
            <a:normAutofit/>
          </a:bodyPr>
          <a:lstStyle/>
          <a:p>
            <a:pPr algn="r" indent="0" marL="0">
              <a:buNone/>
            </a:pPr>
            <a:r>
              <a:rPr lang="en-US" sz="1000" b="1" spc="100" kern="0" dirty="0">
                <a:solidFill>
                  <a:srgbClr val="857F78"/>
                </a:solidFill>
                <a:latin typeface="Aptos" pitchFamily="34" charset="0"/>
                <a:ea typeface="Aptos" pitchFamily="34" charset="-122"/>
                <a:cs typeface="Aptos" pitchFamily="34" charset="-120"/>
              </a:rPr>
              <a:t>APPENDIX / QUOTE AND COST</a:t>
            </a:r>
            <a:endParaRPr lang="en-US" sz="1000" dirty="0"/>
          </a:p>
        </p:txBody>
      </p:sp>
      <p:sp>
        <p:nvSpPr>
          <p:cNvPr id="5" name="Text 3"/>
          <p:cNvSpPr/>
          <p:nvPr/>
        </p:nvSpPr>
        <p:spPr>
          <a:xfrm>
            <a:off x="557784" y="932688"/>
            <a:ext cx="11036808" cy="1024128"/>
          </a:xfrm>
          <a:prstGeom prst="rect">
            <a:avLst/>
          </a:prstGeom>
          <a:noFill/>
          <a:ln/>
        </p:spPr>
        <p:txBody>
          <a:bodyPr wrap="square" lIns="0" tIns="0" rIns="0" bIns="0" rtlCol="0" anchor="ctr">
            <a:normAutofit/>
          </a:bodyPr>
          <a:lstStyle/>
          <a:p>
            <a:pPr indent="0" marL="0">
              <a:buNone/>
            </a:pPr>
            <a:r>
              <a:rPr lang="en-US" sz="3100" b="1" dirty="0">
                <a:solidFill>
                  <a:srgbClr val="171716"/>
                </a:solidFill>
                <a:latin typeface="Aptos" pitchFamily="34" charset="0"/>
                <a:ea typeface="Aptos" pitchFamily="34" charset="-122"/>
                <a:cs typeface="Aptos" pitchFamily="34" charset="-120"/>
              </a:rPr>
              <a:t>The itemized buyer price reconciles to the cost model</a:t>
            </a:r>
            <a:endParaRPr lang="en-US" sz="3100" dirty="0"/>
          </a:p>
        </p:txBody>
      </p:sp>
      <p:sp>
        <p:nvSpPr>
          <p:cNvPr id="6" name="Shape 4"/>
          <p:cNvSpPr/>
          <p:nvPr/>
        </p:nvSpPr>
        <p:spPr>
          <a:xfrm>
            <a:off x="557784" y="6483096"/>
            <a:ext cx="11055096" cy="0"/>
          </a:xfrm>
          <a:prstGeom prst="line">
            <a:avLst/>
          </a:prstGeom>
          <a:noFill/>
          <a:ln w="9525">
            <a:solidFill>
              <a:srgbClr val="DCD7D1"/>
            </a:solidFill>
            <a:prstDash val="solid"/>
          </a:ln>
        </p:spPr>
      </p:sp>
      <p:sp>
        <p:nvSpPr>
          <p:cNvPr id="7" name="Text 5"/>
          <p:cNvSpPr/>
          <p:nvPr/>
        </p:nvSpPr>
        <p:spPr>
          <a:xfrm>
            <a:off x="557784" y="6565392"/>
            <a:ext cx="8412480" cy="128016"/>
          </a:xfrm>
          <a:prstGeom prst="rect">
            <a:avLst/>
          </a:prstGeom>
          <a:noFill/>
          <a:ln/>
        </p:spPr>
        <p:txBody>
          <a:bodyPr wrap="square" lIns="0" tIns="0" rIns="0" bIns="0" rtlCol="0" anchor="ctr">
            <a:normAutofit/>
          </a:bodyPr>
          <a:lstStyle/>
          <a:p>
            <a:pPr indent="0" marL="0">
              <a:buNone/>
            </a:pPr>
            <a:r>
              <a:rPr lang="en-US" sz="820" b="1" dirty="0">
                <a:solidFill>
                  <a:srgbClr val="857F78"/>
                </a:solidFill>
                <a:latin typeface="Aptos" pitchFamily="34" charset="0"/>
                <a:ea typeface="Aptos" pitchFamily="34" charset="-122"/>
                <a:cs typeface="Aptos" pitchFamily="34" charset="-120"/>
              </a:rPr>
              <a:t>ENTERPRISE DEAL ECONOMICS  /  ILLUSTRATIVE FRAMEWORK</a:t>
            </a:r>
            <a:endParaRPr lang="en-US" sz="820" dirty="0"/>
          </a:p>
        </p:txBody>
      </p:sp>
      <p:sp>
        <p:nvSpPr>
          <p:cNvPr id="8" name="Text 6"/>
          <p:cNvSpPr/>
          <p:nvPr/>
        </p:nvSpPr>
        <p:spPr>
          <a:xfrm>
            <a:off x="11173968" y="6547104"/>
            <a:ext cx="411480" cy="146304"/>
          </a:xfrm>
          <a:prstGeom prst="rect">
            <a:avLst/>
          </a:prstGeom>
          <a:noFill/>
          <a:ln/>
        </p:spPr>
        <p:txBody>
          <a:bodyPr wrap="square" lIns="0" tIns="0" rIns="0" bIns="0" rtlCol="0" anchor="ctr">
            <a:normAutofit/>
          </a:bodyPr>
          <a:lstStyle/>
          <a:p>
            <a:pPr algn="r" indent="0" marL="0">
              <a:buNone/>
            </a:pPr>
            <a:r>
              <a:rPr lang="en-US" sz="900" b="1" dirty="0">
                <a:solidFill>
                  <a:srgbClr val="5F5B57"/>
                </a:solidFill>
                <a:latin typeface="Aptos" pitchFamily="34" charset="0"/>
                <a:ea typeface="Aptos" pitchFamily="34" charset="-122"/>
                <a:cs typeface="Aptos" pitchFamily="34" charset="-120"/>
              </a:rPr>
              <a:t>13</a:t>
            </a:r>
            <a:endParaRPr lang="en-US" sz="900" dirty="0"/>
          </a:p>
        </p:txBody>
      </p:sp>
      <p:sp>
        <p:nvSpPr>
          <p:cNvPr id="9" name="Shape 7"/>
          <p:cNvSpPr/>
          <p:nvPr/>
        </p:nvSpPr>
        <p:spPr>
          <a:xfrm>
            <a:off x="594360" y="2075688"/>
            <a:ext cx="2724912" cy="1143000"/>
          </a:xfrm>
          <a:prstGeom prst="roundRect">
            <a:avLst>
              <a:gd name="adj" fmla="val 6400"/>
            </a:avLst>
          </a:prstGeom>
          <a:solidFill>
            <a:srgbClr val="FFFFFF"/>
          </a:solidFill>
          <a:ln w="10160">
            <a:solidFill>
              <a:srgbClr val="DCD7D1"/>
            </a:solidFill>
            <a:prstDash val="solid"/>
          </a:ln>
        </p:spPr>
      </p:sp>
      <p:sp>
        <p:nvSpPr>
          <p:cNvPr id="10" name="Text 8"/>
          <p:cNvSpPr/>
          <p:nvPr/>
        </p:nvSpPr>
        <p:spPr>
          <a:xfrm>
            <a:off x="758952" y="2240280"/>
            <a:ext cx="2368296" cy="228600"/>
          </a:xfrm>
          <a:prstGeom prst="rect">
            <a:avLst/>
          </a:prstGeom>
          <a:noFill/>
          <a:ln/>
        </p:spPr>
        <p:txBody>
          <a:bodyPr wrap="square" lIns="0" tIns="0" rIns="0" bIns="0" rtlCol="0" anchor="ctr">
            <a:normAutofit/>
          </a:bodyPr>
          <a:lstStyle/>
          <a:p>
            <a:pPr indent="0" marL="0">
              <a:buNone/>
            </a:pPr>
            <a:r>
              <a:rPr lang="en-US" sz="1200" b="1" dirty="0">
                <a:solidFill>
                  <a:srgbClr val="5F5B57"/>
                </a:solidFill>
                <a:latin typeface="Aptos" pitchFamily="34" charset="0"/>
                <a:ea typeface="Aptos" pitchFamily="34" charset="-122"/>
                <a:cs typeface="Aptos" pitchFamily="34" charset="-120"/>
              </a:rPr>
              <a:t>Readiness</a:t>
            </a:r>
            <a:endParaRPr lang="en-US" sz="1200" dirty="0"/>
          </a:p>
        </p:txBody>
      </p:sp>
      <p:sp>
        <p:nvSpPr>
          <p:cNvPr id="11" name="Text 9"/>
          <p:cNvSpPr/>
          <p:nvPr/>
        </p:nvSpPr>
        <p:spPr>
          <a:xfrm>
            <a:off x="758952" y="2596896"/>
            <a:ext cx="2395728" cy="420624"/>
          </a:xfrm>
          <a:prstGeom prst="rect">
            <a:avLst/>
          </a:prstGeom>
          <a:noFill/>
          <a:ln/>
        </p:spPr>
        <p:txBody>
          <a:bodyPr wrap="square" lIns="0" tIns="0" rIns="0" bIns="0" rtlCol="0" anchor="ctr">
            <a:normAutofit/>
          </a:bodyPr>
          <a:lstStyle/>
          <a:p>
            <a:pPr indent="0" marL="0">
              <a:buNone/>
            </a:pPr>
            <a:r>
              <a:rPr lang="en-US" sz="2500" b="1" dirty="0">
                <a:solidFill>
                  <a:srgbClr val="171716"/>
                </a:solidFill>
                <a:latin typeface="Aptos" pitchFamily="34" charset="0"/>
                <a:ea typeface="Aptos" pitchFamily="34" charset="-122"/>
                <a:cs typeface="Aptos" pitchFamily="34" charset="-120"/>
              </a:rPr>
              <a:t>$30K</a:t>
            </a:r>
            <a:endParaRPr lang="en-US" sz="2500" dirty="0"/>
          </a:p>
        </p:txBody>
      </p:sp>
      <p:sp>
        <p:nvSpPr>
          <p:cNvPr id="12" name="Shape 10"/>
          <p:cNvSpPr/>
          <p:nvPr/>
        </p:nvSpPr>
        <p:spPr>
          <a:xfrm>
            <a:off x="3493008" y="2075688"/>
            <a:ext cx="2724912" cy="1143000"/>
          </a:xfrm>
          <a:prstGeom prst="roundRect">
            <a:avLst>
              <a:gd name="adj" fmla="val 6400"/>
            </a:avLst>
          </a:prstGeom>
          <a:solidFill>
            <a:srgbClr val="FFFFFF"/>
          </a:solidFill>
          <a:ln w="10160">
            <a:solidFill>
              <a:srgbClr val="DCD7D1"/>
            </a:solidFill>
            <a:prstDash val="solid"/>
          </a:ln>
        </p:spPr>
      </p:sp>
      <p:sp>
        <p:nvSpPr>
          <p:cNvPr id="13" name="Text 11"/>
          <p:cNvSpPr/>
          <p:nvPr/>
        </p:nvSpPr>
        <p:spPr>
          <a:xfrm>
            <a:off x="3657600" y="2240280"/>
            <a:ext cx="2368296" cy="228600"/>
          </a:xfrm>
          <a:prstGeom prst="rect">
            <a:avLst/>
          </a:prstGeom>
          <a:noFill/>
          <a:ln/>
        </p:spPr>
        <p:txBody>
          <a:bodyPr wrap="square" lIns="0" tIns="0" rIns="0" bIns="0" rtlCol="0" anchor="ctr">
            <a:normAutofit/>
          </a:bodyPr>
          <a:lstStyle/>
          <a:p>
            <a:pPr indent="0" marL="0">
              <a:buNone/>
            </a:pPr>
            <a:r>
              <a:rPr lang="en-US" sz="1200" b="1" dirty="0">
                <a:solidFill>
                  <a:srgbClr val="5F5B57"/>
                </a:solidFill>
                <a:latin typeface="Aptos" pitchFamily="34" charset="0"/>
                <a:ea typeface="Aptos" pitchFamily="34" charset="-122"/>
                <a:cs typeface="Aptos" pitchFamily="34" charset="-120"/>
              </a:rPr>
              <a:t>Engineering</a:t>
            </a:r>
            <a:endParaRPr lang="en-US" sz="1200" dirty="0"/>
          </a:p>
        </p:txBody>
      </p:sp>
      <p:sp>
        <p:nvSpPr>
          <p:cNvPr id="14" name="Text 12"/>
          <p:cNvSpPr/>
          <p:nvPr/>
        </p:nvSpPr>
        <p:spPr>
          <a:xfrm>
            <a:off x="3657600" y="2596896"/>
            <a:ext cx="2395728" cy="420624"/>
          </a:xfrm>
          <a:prstGeom prst="rect">
            <a:avLst/>
          </a:prstGeom>
          <a:noFill/>
          <a:ln/>
        </p:spPr>
        <p:txBody>
          <a:bodyPr wrap="square" lIns="0" tIns="0" rIns="0" bIns="0" rtlCol="0" anchor="ctr">
            <a:normAutofit/>
          </a:bodyPr>
          <a:lstStyle/>
          <a:p>
            <a:pPr indent="0" marL="0">
              <a:buNone/>
            </a:pPr>
            <a:r>
              <a:rPr lang="en-US" sz="2500" b="1" dirty="0">
                <a:solidFill>
                  <a:srgbClr val="171716"/>
                </a:solidFill>
                <a:latin typeface="Aptos" pitchFamily="34" charset="0"/>
                <a:ea typeface="Aptos" pitchFamily="34" charset="-122"/>
                <a:cs typeface="Aptos" pitchFamily="34" charset="-120"/>
              </a:rPr>
              <a:t>$78K</a:t>
            </a:r>
            <a:endParaRPr lang="en-US" sz="2500" dirty="0"/>
          </a:p>
        </p:txBody>
      </p:sp>
      <p:sp>
        <p:nvSpPr>
          <p:cNvPr id="15" name="Shape 13"/>
          <p:cNvSpPr/>
          <p:nvPr/>
        </p:nvSpPr>
        <p:spPr>
          <a:xfrm>
            <a:off x="6391656" y="2075688"/>
            <a:ext cx="2724912" cy="1143000"/>
          </a:xfrm>
          <a:prstGeom prst="roundRect">
            <a:avLst>
              <a:gd name="adj" fmla="val 6400"/>
            </a:avLst>
          </a:prstGeom>
          <a:solidFill>
            <a:srgbClr val="FFFFFF"/>
          </a:solidFill>
          <a:ln w="10160">
            <a:solidFill>
              <a:srgbClr val="DCD7D1"/>
            </a:solidFill>
            <a:prstDash val="solid"/>
          </a:ln>
        </p:spPr>
      </p:sp>
      <p:sp>
        <p:nvSpPr>
          <p:cNvPr id="16" name="Text 14"/>
          <p:cNvSpPr/>
          <p:nvPr/>
        </p:nvSpPr>
        <p:spPr>
          <a:xfrm>
            <a:off x="6556248" y="2240280"/>
            <a:ext cx="2368296" cy="228600"/>
          </a:xfrm>
          <a:prstGeom prst="rect">
            <a:avLst/>
          </a:prstGeom>
          <a:noFill/>
          <a:ln/>
        </p:spPr>
        <p:txBody>
          <a:bodyPr wrap="square" lIns="0" tIns="0" rIns="0" bIns="0" rtlCol="0" anchor="ctr">
            <a:normAutofit/>
          </a:bodyPr>
          <a:lstStyle/>
          <a:p>
            <a:pPr indent="0" marL="0">
              <a:buNone/>
            </a:pPr>
            <a:r>
              <a:rPr lang="en-US" sz="1200" b="1" dirty="0">
                <a:solidFill>
                  <a:srgbClr val="5F5B57"/>
                </a:solidFill>
                <a:latin typeface="Aptos" pitchFamily="34" charset="0"/>
                <a:ea typeface="Aptos" pitchFamily="34" charset="-122"/>
                <a:cs typeface="Aptos" pitchFamily="34" charset="-120"/>
              </a:rPr>
              <a:t>3 RL cycles</a:t>
            </a:r>
            <a:endParaRPr lang="en-US" sz="1200" dirty="0"/>
          </a:p>
        </p:txBody>
      </p:sp>
      <p:sp>
        <p:nvSpPr>
          <p:cNvPr id="17" name="Text 15"/>
          <p:cNvSpPr/>
          <p:nvPr/>
        </p:nvSpPr>
        <p:spPr>
          <a:xfrm>
            <a:off x="6556248" y="2596896"/>
            <a:ext cx="2395728" cy="420624"/>
          </a:xfrm>
          <a:prstGeom prst="rect">
            <a:avLst/>
          </a:prstGeom>
          <a:noFill/>
          <a:ln/>
        </p:spPr>
        <p:txBody>
          <a:bodyPr wrap="square" lIns="0" tIns="0" rIns="0" bIns="0" rtlCol="0" anchor="ctr">
            <a:normAutofit/>
          </a:bodyPr>
          <a:lstStyle/>
          <a:p>
            <a:pPr indent="0" marL="0">
              <a:buNone/>
            </a:pPr>
            <a:r>
              <a:rPr lang="en-US" sz="2500" b="1" dirty="0">
                <a:solidFill>
                  <a:srgbClr val="171716"/>
                </a:solidFill>
                <a:latin typeface="Aptos" pitchFamily="34" charset="0"/>
                <a:ea typeface="Aptos" pitchFamily="34" charset="-122"/>
                <a:cs typeface="Aptos" pitchFamily="34" charset="-120"/>
              </a:rPr>
              <a:t>$72K</a:t>
            </a:r>
            <a:endParaRPr lang="en-US" sz="2500" dirty="0"/>
          </a:p>
        </p:txBody>
      </p:sp>
      <p:sp>
        <p:nvSpPr>
          <p:cNvPr id="18" name="Shape 16"/>
          <p:cNvSpPr/>
          <p:nvPr/>
        </p:nvSpPr>
        <p:spPr>
          <a:xfrm>
            <a:off x="9290304" y="2075688"/>
            <a:ext cx="2724912" cy="1143000"/>
          </a:xfrm>
          <a:prstGeom prst="roundRect">
            <a:avLst>
              <a:gd name="adj" fmla="val 6400"/>
            </a:avLst>
          </a:prstGeom>
          <a:solidFill>
            <a:srgbClr val="FFFFFF"/>
          </a:solidFill>
          <a:ln w="10160">
            <a:solidFill>
              <a:srgbClr val="DCD7D1"/>
            </a:solidFill>
            <a:prstDash val="solid"/>
          </a:ln>
        </p:spPr>
      </p:sp>
      <p:sp>
        <p:nvSpPr>
          <p:cNvPr id="19" name="Text 17"/>
          <p:cNvSpPr/>
          <p:nvPr/>
        </p:nvSpPr>
        <p:spPr>
          <a:xfrm>
            <a:off x="9454896" y="2240280"/>
            <a:ext cx="2368296" cy="228600"/>
          </a:xfrm>
          <a:prstGeom prst="rect">
            <a:avLst/>
          </a:prstGeom>
          <a:noFill/>
          <a:ln/>
        </p:spPr>
        <p:txBody>
          <a:bodyPr wrap="square" lIns="0" tIns="0" rIns="0" bIns="0" rtlCol="0" anchor="ctr">
            <a:normAutofit/>
          </a:bodyPr>
          <a:lstStyle/>
          <a:p>
            <a:pPr indent="0" marL="0">
              <a:buNone/>
            </a:pPr>
            <a:r>
              <a:rPr lang="en-US" sz="1200" b="1" dirty="0">
                <a:solidFill>
                  <a:srgbClr val="5F5B57"/>
                </a:solidFill>
                <a:latin typeface="Aptos" pitchFamily="34" charset="0"/>
                <a:ea typeface="Aptos" pitchFamily="34" charset="-122"/>
                <a:cs typeface="Aptos" pitchFamily="34" charset="-120"/>
              </a:rPr>
              <a:t>Final handoff</a:t>
            </a:r>
            <a:endParaRPr lang="en-US" sz="1200" dirty="0"/>
          </a:p>
        </p:txBody>
      </p:sp>
      <p:sp>
        <p:nvSpPr>
          <p:cNvPr id="20" name="Text 18"/>
          <p:cNvSpPr/>
          <p:nvPr/>
        </p:nvSpPr>
        <p:spPr>
          <a:xfrm>
            <a:off x="9454896" y="2596896"/>
            <a:ext cx="2395728" cy="420624"/>
          </a:xfrm>
          <a:prstGeom prst="rect">
            <a:avLst/>
          </a:prstGeom>
          <a:noFill/>
          <a:ln/>
        </p:spPr>
        <p:txBody>
          <a:bodyPr wrap="square" lIns="0" tIns="0" rIns="0" bIns="0" rtlCol="0" anchor="ctr">
            <a:normAutofit/>
          </a:bodyPr>
          <a:lstStyle/>
          <a:p>
            <a:pPr indent="0" marL="0">
              <a:buNone/>
            </a:pPr>
            <a:r>
              <a:rPr lang="en-US" sz="2500" b="1" dirty="0">
                <a:solidFill>
                  <a:srgbClr val="171716"/>
                </a:solidFill>
                <a:latin typeface="Aptos" pitchFamily="34" charset="0"/>
                <a:ea typeface="Aptos" pitchFamily="34" charset="-122"/>
                <a:cs typeface="Aptos" pitchFamily="34" charset="-120"/>
              </a:rPr>
              <a:t>$30K</a:t>
            </a:r>
            <a:endParaRPr lang="en-US" sz="2500" dirty="0"/>
          </a:p>
        </p:txBody>
      </p:sp>
      <p:sp>
        <p:nvSpPr>
          <p:cNvPr id="21" name="Shape 19"/>
          <p:cNvSpPr/>
          <p:nvPr/>
        </p:nvSpPr>
        <p:spPr>
          <a:xfrm>
            <a:off x="603504" y="3538728"/>
            <a:ext cx="10981944" cy="841248"/>
          </a:xfrm>
          <a:prstGeom prst="rect">
            <a:avLst/>
          </a:prstGeom>
          <a:solidFill>
            <a:srgbClr val="FFF0E7"/>
          </a:solidFill>
          <a:ln w="7620">
            <a:solidFill>
              <a:srgbClr val="FFF0E7">
                <a:alpha val="0"/>
              </a:srgbClr>
            </a:solidFill>
            <a:prstDash val="solid"/>
          </a:ln>
        </p:spPr>
      </p:sp>
      <p:sp>
        <p:nvSpPr>
          <p:cNvPr id="22" name="Text 20"/>
          <p:cNvSpPr/>
          <p:nvPr/>
        </p:nvSpPr>
        <p:spPr>
          <a:xfrm>
            <a:off x="804672" y="3785616"/>
            <a:ext cx="3355848" cy="274320"/>
          </a:xfrm>
          <a:prstGeom prst="rect">
            <a:avLst/>
          </a:prstGeom>
          <a:noFill/>
          <a:ln/>
        </p:spPr>
        <p:txBody>
          <a:bodyPr wrap="square" lIns="0" tIns="0" rIns="0" bIns="0" rtlCol="0" anchor="ctr">
            <a:normAutofit/>
          </a:bodyPr>
          <a:lstStyle/>
          <a:p>
            <a:pPr indent="0" marL="0">
              <a:buNone/>
            </a:pPr>
            <a:r>
              <a:rPr lang="en-US" sz="1600" b="1" dirty="0">
                <a:solidFill>
                  <a:srgbClr val="171716"/>
                </a:solidFill>
                <a:latin typeface="Aptos" pitchFamily="34" charset="0"/>
                <a:ea typeface="Aptos" pitchFamily="34" charset="-122"/>
                <a:cs typeface="Aptos" pitchFamily="34" charset="-120"/>
              </a:rPr>
              <a:t>CUSTOMER QUOTE</a:t>
            </a:r>
            <a:endParaRPr lang="en-US" sz="1600" dirty="0"/>
          </a:p>
        </p:txBody>
      </p:sp>
      <p:sp>
        <p:nvSpPr>
          <p:cNvPr id="23" name="Text 21"/>
          <p:cNvSpPr/>
          <p:nvPr/>
        </p:nvSpPr>
        <p:spPr>
          <a:xfrm>
            <a:off x="4325112" y="3666744"/>
            <a:ext cx="2633472" cy="438912"/>
          </a:xfrm>
          <a:prstGeom prst="rect">
            <a:avLst/>
          </a:prstGeom>
          <a:noFill/>
          <a:ln/>
        </p:spPr>
        <p:txBody>
          <a:bodyPr wrap="square" lIns="0" tIns="0" rIns="0" bIns="0" rtlCol="0" anchor="ctr">
            <a:normAutofit/>
          </a:bodyPr>
          <a:lstStyle/>
          <a:p>
            <a:pPr indent="0" marL="0">
              <a:buNone/>
            </a:pPr>
            <a:r>
              <a:rPr lang="en-US" sz="2800" b="1" dirty="0">
                <a:solidFill>
                  <a:srgbClr val="D83E00"/>
                </a:solidFill>
                <a:latin typeface="Aptos" pitchFamily="34" charset="0"/>
                <a:ea typeface="Aptos" pitchFamily="34" charset="-122"/>
                <a:cs typeface="Aptos" pitchFamily="34" charset="-120"/>
              </a:rPr>
              <a:t>$210K</a:t>
            </a:r>
            <a:endParaRPr lang="en-US" sz="2800" dirty="0"/>
          </a:p>
        </p:txBody>
      </p:sp>
      <p:sp>
        <p:nvSpPr>
          <p:cNvPr id="24" name="Text 22"/>
          <p:cNvSpPr/>
          <p:nvPr/>
        </p:nvSpPr>
        <p:spPr>
          <a:xfrm>
            <a:off x="6675120" y="3794760"/>
            <a:ext cx="4581144" cy="228600"/>
          </a:xfrm>
          <a:prstGeom prst="rect">
            <a:avLst/>
          </a:prstGeom>
          <a:noFill/>
          <a:ln/>
        </p:spPr>
        <p:txBody>
          <a:bodyPr wrap="square" lIns="0" tIns="0" rIns="0" bIns="0" rtlCol="0" anchor="ctr">
            <a:normAutofit/>
          </a:bodyPr>
          <a:lstStyle/>
          <a:p>
            <a:pPr indent="0" marL="0">
              <a:buNone/>
            </a:pPr>
            <a:r>
              <a:rPr lang="en-US" sz="1390" dirty="0">
                <a:solidFill>
                  <a:srgbClr val="171716"/>
                </a:solidFill>
                <a:latin typeface="Aptos" pitchFamily="34" charset="0"/>
                <a:ea typeface="Aptos" pitchFamily="34" charset="-122"/>
                <a:cs typeface="Aptos" pitchFamily="34" charset="-120"/>
              </a:rPr>
              <a:t>3 weekly cycles, one approved model</a:t>
            </a:r>
            <a:endParaRPr lang="en-US" sz="1390" dirty="0"/>
          </a:p>
        </p:txBody>
      </p:sp>
      <p:sp>
        <p:nvSpPr>
          <p:cNvPr id="25" name="Text 23"/>
          <p:cNvSpPr/>
          <p:nvPr/>
        </p:nvSpPr>
        <p:spPr>
          <a:xfrm>
            <a:off x="832104" y="4681728"/>
            <a:ext cx="6748272" cy="246888"/>
          </a:xfrm>
          <a:prstGeom prst="rect">
            <a:avLst/>
          </a:prstGeom>
          <a:noFill/>
          <a:ln/>
        </p:spPr>
        <p:txBody>
          <a:bodyPr wrap="square" lIns="0" tIns="0" rIns="0" bIns="0" rtlCol="0" anchor="ctr">
            <a:normAutofit/>
          </a:bodyPr>
          <a:lstStyle/>
          <a:p>
            <a:pPr indent="0" marL="0">
              <a:buNone/>
            </a:pPr>
            <a:r>
              <a:rPr lang="en-US" sz="1400" dirty="0">
                <a:solidFill>
                  <a:srgbClr val="5F5B57"/>
                </a:solidFill>
                <a:latin typeface="Aptos" pitchFamily="34" charset="0"/>
                <a:ea typeface="Aptos" pitchFamily="34" charset="-122"/>
                <a:cs typeface="Aptos" pitchFamily="34" charset="-120"/>
              </a:rPr>
              <a:t>Internal expected delivery COGS</a:t>
            </a:r>
            <a:endParaRPr lang="en-US" sz="1400" dirty="0"/>
          </a:p>
        </p:txBody>
      </p:sp>
      <p:sp>
        <p:nvSpPr>
          <p:cNvPr id="26" name="Text 24"/>
          <p:cNvSpPr/>
          <p:nvPr/>
        </p:nvSpPr>
        <p:spPr>
          <a:xfrm>
            <a:off x="8430768" y="4681728"/>
            <a:ext cx="2825496" cy="265176"/>
          </a:xfrm>
          <a:prstGeom prst="rect">
            <a:avLst/>
          </a:prstGeom>
          <a:noFill/>
          <a:ln/>
        </p:spPr>
        <p:txBody>
          <a:bodyPr wrap="square" lIns="0" tIns="0" rIns="0" bIns="0" rtlCol="0" anchor="ctr">
            <a:normAutofit/>
          </a:bodyPr>
          <a:lstStyle/>
          <a:p>
            <a:pPr algn="r" indent="0" marL="0">
              <a:buNone/>
            </a:pPr>
            <a:r>
              <a:rPr lang="en-US" sz="1700" b="1" dirty="0">
                <a:solidFill>
                  <a:srgbClr val="171716"/>
                </a:solidFill>
                <a:latin typeface="Aptos" pitchFamily="34" charset="0"/>
                <a:ea typeface="Aptos" pitchFamily="34" charset="-122"/>
                <a:cs typeface="Aptos" pitchFamily="34" charset="-120"/>
              </a:rPr>
              <a:t>$112,097</a:t>
            </a:r>
            <a:endParaRPr lang="en-US" sz="1700" dirty="0"/>
          </a:p>
        </p:txBody>
      </p:sp>
      <p:sp>
        <p:nvSpPr>
          <p:cNvPr id="27" name="Text 25"/>
          <p:cNvSpPr/>
          <p:nvPr/>
        </p:nvSpPr>
        <p:spPr>
          <a:xfrm>
            <a:off x="832104" y="5120640"/>
            <a:ext cx="6748272" cy="246888"/>
          </a:xfrm>
          <a:prstGeom prst="rect">
            <a:avLst/>
          </a:prstGeom>
          <a:noFill/>
          <a:ln/>
        </p:spPr>
        <p:txBody>
          <a:bodyPr wrap="square" lIns="0" tIns="0" rIns="0" bIns="0" rtlCol="0" anchor="ctr">
            <a:normAutofit/>
          </a:bodyPr>
          <a:lstStyle/>
          <a:p>
            <a:pPr indent="0" marL="0">
              <a:buNone/>
            </a:pPr>
            <a:r>
              <a:rPr lang="en-US" sz="1400" dirty="0">
                <a:solidFill>
                  <a:srgbClr val="5F5B57"/>
                </a:solidFill>
                <a:latin typeface="Aptos" pitchFamily="34" charset="0"/>
                <a:ea typeface="Aptos" pitchFamily="34" charset="-122"/>
                <a:cs typeface="Aptos" pitchFamily="34" charset="-120"/>
              </a:rPr>
              <a:t>Forecast gross profit</a:t>
            </a:r>
            <a:endParaRPr lang="en-US" sz="1400" dirty="0"/>
          </a:p>
        </p:txBody>
      </p:sp>
      <p:sp>
        <p:nvSpPr>
          <p:cNvPr id="28" name="Text 26"/>
          <p:cNvSpPr/>
          <p:nvPr/>
        </p:nvSpPr>
        <p:spPr>
          <a:xfrm>
            <a:off x="8430768" y="5120640"/>
            <a:ext cx="2825496" cy="265176"/>
          </a:xfrm>
          <a:prstGeom prst="rect">
            <a:avLst/>
          </a:prstGeom>
          <a:noFill/>
          <a:ln/>
        </p:spPr>
        <p:txBody>
          <a:bodyPr wrap="square" lIns="0" tIns="0" rIns="0" bIns="0" rtlCol="0" anchor="ctr">
            <a:normAutofit/>
          </a:bodyPr>
          <a:lstStyle/>
          <a:p>
            <a:pPr algn="r" indent="0" marL="0">
              <a:buNone/>
            </a:pPr>
            <a:r>
              <a:rPr lang="en-US" sz="1700" b="1" dirty="0">
                <a:solidFill>
                  <a:srgbClr val="171716"/>
                </a:solidFill>
                <a:latin typeface="Aptos" pitchFamily="34" charset="0"/>
                <a:ea typeface="Aptos" pitchFamily="34" charset="-122"/>
                <a:cs typeface="Aptos" pitchFamily="34" charset="-120"/>
              </a:rPr>
              <a:t>$97,903</a:t>
            </a:r>
            <a:endParaRPr lang="en-US" sz="1700" dirty="0"/>
          </a:p>
        </p:txBody>
      </p:sp>
      <p:sp>
        <p:nvSpPr>
          <p:cNvPr id="29" name="Text 27"/>
          <p:cNvSpPr/>
          <p:nvPr/>
        </p:nvSpPr>
        <p:spPr>
          <a:xfrm>
            <a:off x="832104" y="5559552"/>
            <a:ext cx="6748272" cy="246888"/>
          </a:xfrm>
          <a:prstGeom prst="rect">
            <a:avLst/>
          </a:prstGeom>
          <a:noFill/>
          <a:ln/>
        </p:spPr>
        <p:txBody>
          <a:bodyPr wrap="square" lIns="0" tIns="0" rIns="0" bIns="0" rtlCol="0" anchor="ctr">
            <a:normAutofit/>
          </a:bodyPr>
          <a:lstStyle/>
          <a:p>
            <a:pPr indent="0" marL="0">
              <a:buNone/>
            </a:pPr>
            <a:r>
              <a:rPr lang="en-US" sz="1400" dirty="0">
                <a:solidFill>
                  <a:srgbClr val="5F5B57"/>
                </a:solidFill>
                <a:latin typeface="Aptos" pitchFamily="34" charset="0"/>
                <a:ea typeface="Aptos" pitchFamily="34" charset="-122"/>
                <a:cs typeface="Aptos" pitchFamily="34" charset="-120"/>
              </a:rPr>
              <a:t>Expected gross margin</a:t>
            </a:r>
            <a:endParaRPr lang="en-US" sz="1400" dirty="0"/>
          </a:p>
        </p:txBody>
      </p:sp>
      <p:sp>
        <p:nvSpPr>
          <p:cNvPr id="30" name="Text 28"/>
          <p:cNvSpPr/>
          <p:nvPr/>
        </p:nvSpPr>
        <p:spPr>
          <a:xfrm>
            <a:off x="8430768" y="5559552"/>
            <a:ext cx="2825496" cy="265176"/>
          </a:xfrm>
          <a:prstGeom prst="rect">
            <a:avLst/>
          </a:prstGeom>
          <a:noFill/>
          <a:ln/>
        </p:spPr>
        <p:txBody>
          <a:bodyPr wrap="square" lIns="0" tIns="0" rIns="0" bIns="0" rtlCol="0" anchor="ctr">
            <a:normAutofit/>
          </a:bodyPr>
          <a:lstStyle/>
          <a:p>
            <a:pPr algn="r" indent="0" marL="0">
              <a:buNone/>
            </a:pPr>
            <a:r>
              <a:rPr lang="en-US" sz="1700" b="1" dirty="0">
                <a:solidFill>
                  <a:srgbClr val="F44B00"/>
                </a:solidFill>
                <a:latin typeface="Aptos" pitchFamily="34" charset="0"/>
                <a:ea typeface="Aptos" pitchFamily="34" charset="-122"/>
                <a:cs typeface="Aptos" pitchFamily="34" charset="-120"/>
              </a:rPr>
              <a:t>46.6%</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8"/>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F44B00"/>
          </a:solidFill>
          <a:ln w="7620">
            <a:solidFill>
              <a:srgbClr val="F44B00">
                <a:alpha val="0"/>
              </a:srgbClr>
            </a:solidFill>
            <a:prstDash val="solid"/>
          </a:ln>
        </p:spPr>
      </p:sp>
      <p:sp>
        <p:nvSpPr>
          <p:cNvPr id="3" name="Text 1"/>
          <p:cNvSpPr/>
          <p:nvPr/>
        </p:nvSpPr>
        <p:spPr>
          <a:xfrm>
            <a:off x="548640" y="338328"/>
            <a:ext cx="3383280" cy="283464"/>
          </a:xfrm>
          <a:prstGeom prst="rect">
            <a:avLst/>
          </a:prstGeom>
          <a:noFill/>
          <a:ln/>
        </p:spPr>
        <p:txBody>
          <a:bodyPr wrap="square" lIns="0" tIns="0" rIns="0" bIns="0" rtlCol="0" anchor="ctr">
            <a:normAutofit/>
          </a:bodyPr>
          <a:lstStyle/>
          <a:p>
            <a:pPr indent="0" marL="0">
              <a:buNone/>
            </a:pPr>
            <a:r>
              <a:rPr lang="en-US" sz="1200" b="1" spc="160" kern="0" dirty="0">
                <a:solidFill>
                  <a:srgbClr val="171716"/>
                </a:solidFill>
                <a:latin typeface="Aptos" pitchFamily="34" charset="0"/>
                <a:ea typeface="Aptos" pitchFamily="34" charset="-122"/>
                <a:cs typeface="Aptos" pitchFamily="34" charset="-120"/>
              </a:rPr>
              <a:t>APPLIED COMPUTE</a:t>
            </a:r>
            <a:endParaRPr lang="en-US" sz="1200" dirty="0"/>
          </a:p>
        </p:txBody>
      </p:sp>
      <p:sp>
        <p:nvSpPr>
          <p:cNvPr id="4" name="Text 2"/>
          <p:cNvSpPr/>
          <p:nvPr/>
        </p:nvSpPr>
        <p:spPr>
          <a:xfrm>
            <a:off x="8503920" y="365760"/>
            <a:ext cx="3063240" cy="210312"/>
          </a:xfrm>
          <a:prstGeom prst="rect">
            <a:avLst/>
          </a:prstGeom>
          <a:noFill/>
          <a:ln/>
        </p:spPr>
        <p:txBody>
          <a:bodyPr wrap="square" lIns="0" tIns="0" rIns="0" bIns="0" rtlCol="0" anchor="ctr">
            <a:normAutofit/>
          </a:bodyPr>
          <a:lstStyle/>
          <a:p>
            <a:pPr algn="r" indent="0" marL="0">
              <a:buNone/>
            </a:pPr>
            <a:r>
              <a:rPr lang="en-US" sz="1000" b="1" spc="100" kern="0" dirty="0">
                <a:solidFill>
                  <a:srgbClr val="857F78"/>
                </a:solidFill>
                <a:latin typeface="Aptos" pitchFamily="34" charset="0"/>
                <a:ea typeface="Aptos" pitchFamily="34" charset="-122"/>
                <a:cs typeface="Aptos" pitchFamily="34" charset="-120"/>
              </a:rPr>
              <a:t>APPENDIX / ASSESSMENT CHECKLIST</a:t>
            </a:r>
            <a:endParaRPr lang="en-US" sz="1000" dirty="0"/>
          </a:p>
        </p:txBody>
      </p:sp>
      <p:sp>
        <p:nvSpPr>
          <p:cNvPr id="5" name="Text 3"/>
          <p:cNvSpPr/>
          <p:nvPr/>
        </p:nvSpPr>
        <p:spPr>
          <a:xfrm>
            <a:off x="557784" y="932688"/>
            <a:ext cx="11036808" cy="1024128"/>
          </a:xfrm>
          <a:prstGeom prst="rect">
            <a:avLst/>
          </a:prstGeom>
          <a:noFill/>
          <a:ln/>
        </p:spPr>
        <p:txBody>
          <a:bodyPr wrap="square" lIns="0" tIns="0" rIns="0" bIns="0" rtlCol="0" anchor="ctr">
            <a:normAutofit/>
          </a:bodyPr>
          <a:lstStyle/>
          <a:p>
            <a:pPr indent="0" marL="0">
              <a:buNone/>
            </a:pPr>
            <a:r>
              <a:rPr lang="en-US" sz="3100" b="1" dirty="0">
                <a:solidFill>
                  <a:srgbClr val="171716"/>
                </a:solidFill>
                <a:latin typeface="Aptos" pitchFamily="34" charset="0"/>
                <a:ea typeface="Aptos" pitchFamily="34" charset="-122"/>
                <a:cs typeface="Aptos" pitchFamily="34" charset="-120"/>
              </a:rPr>
              <a:t>The submissions directly answer the take-home</a:t>
            </a:r>
            <a:endParaRPr lang="en-US" sz="3100" dirty="0"/>
          </a:p>
        </p:txBody>
      </p:sp>
      <p:sp>
        <p:nvSpPr>
          <p:cNvPr id="6" name="Shape 4"/>
          <p:cNvSpPr/>
          <p:nvPr/>
        </p:nvSpPr>
        <p:spPr>
          <a:xfrm>
            <a:off x="557784" y="6483096"/>
            <a:ext cx="11055096" cy="0"/>
          </a:xfrm>
          <a:prstGeom prst="line">
            <a:avLst/>
          </a:prstGeom>
          <a:noFill/>
          <a:ln w="9525">
            <a:solidFill>
              <a:srgbClr val="DCD7D1"/>
            </a:solidFill>
            <a:prstDash val="solid"/>
          </a:ln>
        </p:spPr>
      </p:sp>
      <p:sp>
        <p:nvSpPr>
          <p:cNvPr id="7" name="Text 5"/>
          <p:cNvSpPr/>
          <p:nvPr/>
        </p:nvSpPr>
        <p:spPr>
          <a:xfrm>
            <a:off x="557784" y="6565392"/>
            <a:ext cx="8412480" cy="128016"/>
          </a:xfrm>
          <a:prstGeom prst="rect">
            <a:avLst/>
          </a:prstGeom>
          <a:noFill/>
          <a:ln/>
        </p:spPr>
        <p:txBody>
          <a:bodyPr wrap="square" lIns="0" tIns="0" rIns="0" bIns="0" rtlCol="0" anchor="ctr">
            <a:normAutofit/>
          </a:bodyPr>
          <a:lstStyle/>
          <a:p>
            <a:pPr indent="0" marL="0">
              <a:buNone/>
            </a:pPr>
            <a:r>
              <a:rPr lang="en-US" sz="820" b="1" dirty="0">
                <a:solidFill>
                  <a:srgbClr val="857F78"/>
                </a:solidFill>
                <a:latin typeface="Aptos" pitchFamily="34" charset="0"/>
                <a:ea typeface="Aptos" pitchFamily="34" charset="-122"/>
                <a:cs typeface="Aptos" pitchFamily="34" charset="-120"/>
              </a:rPr>
              <a:t>ENTERPRISE DEAL ECONOMICS  /  ILLUSTRATIVE FRAMEWORK</a:t>
            </a:r>
            <a:endParaRPr lang="en-US" sz="820" dirty="0"/>
          </a:p>
        </p:txBody>
      </p:sp>
      <p:sp>
        <p:nvSpPr>
          <p:cNvPr id="8" name="Text 6"/>
          <p:cNvSpPr/>
          <p:nvPr/>
        </p:nvSpPr>
        <p:spPr>
          <a:xfrm>
            <a:off x="11173968" y="6547104"/>
            <a:ext cx="411480" cy="146304"/>
          </a:xfrm>
          <a:prstGeom prst="rect">
            <a:avLst/>
          </a:prstGeom>
          <a:noFill/>
          <a:ln/>
        </p:spPr>
        <p:txBody>
          <a:bodyPr wrap="square" lIns="0" tIns="0" rIns="0" bIns="0" rtlCol="0" anchor="ctr">
            <a:normAutofit/>
          </a:bodyPr>
          <a:lstStyle/>
          <a:p>
            <a:pPr algn="r" indent="0" marL="0">
              <a:buNone/>
            </a:pPr>
            <a:r>
              <a:rPr lang="en-US" sz="900" b="1" dirty="0">
                <a:solidFill>
                  <a:srgbClr val="5F5B57"/>
                </a:solidFill>
                <a:latin typeface="Aptos" pitchFamily="34" charset="0"/>
                <a:ea typeface="Aptos" pitchFamily="34" charset="-122"/>
                <a:cs typeface="Aptos" pitchFamily="34" charset="-120"/>
              </a:rPr>
              <a:t>14</a:t>
            </a:r>
            <a:endParaRPr lang="en-US" sz="900" dirty="0"/>
          </a:p>
        </p:txBody>
      </p:sp>
      <p:sp>
        <p:nvSpPr>
          <p:cNvPr id="9" name="Shape 7"/>
          <p:cNvSpPr/>
          <p:nvPr/>
        </p:nvSpPr>
        <p:spPr>
          <a:xfrm>
            <a:off x="594360" y="2057400"/>
            <a:ext cx="11018520" cy="466344"/>
          </a:xfrm>
          <a:prstGeom prst="rect">
            <a:avLst/>
          </a:prstGeom>
          <a:solidFill>
            <a:srgbClr val="171716"/>
          </a:solidFill>
          <a:ln w="7620">
            <a:solidFill>
              <a:srgbClr val="171716">
                <a:alpha val="0"/>
              </a:srgbClr>
            </a:solidFill>
            <a:prstDash val="solid"/>
          </a:ln>
        </p:spPr>
      </p:sp>
      <p:sp>
        <p:nvSpPr>
          <p:cNvPr id="10" name="Text 8"/>
          <p:cNvSpPr/>
          <p:nvPr/>
        </p:nvSpPr>
        <p:spPr>
          <a:xfrm>
            <a:off x="768096" y="2176272"/>
            <a:ext cx="4754880" cy="201168"/>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ptos" pitchFamily="34" charset="0"/>
                <a:ea typeface="Aptos" pitchFamily="34" charset="-122"/>
                <a:cs typeface="Aptos" pitchFamily="34" charset="-120"/>
              </a:rPr>
              <a:t>TAKE-HOME REQUIREMENT</a:t>
            </a:r>
            <a:endParaRPr lang="en-US" sz="1150" dirty="0"/>
          </a:p>
        </p:txBody>
      </p:sp>
      <p:sp>
        <p:nvSpPr>
          <p:cNvPr id="11" name="Text 9"/>
          <p:cNvSpPr/>
          <p:nvPr/>
        </p:nvSpPr>
        <p:spPr>
          <a:xfrm>
            <a:off x="5650992" y="2176272"/>
            <a:ext cx="1874520" cy="201168"/>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ptos" pitchFamily="34" charset="0"/>
                <a:ea typeface="Aptos" pitchFamily="34" charset="-122"/>
                <a:cs typeface="Aptos" pitchFamily="34" charset="-120"/>
              </a:rPr>
              <a:t>DECK</a:t>
            </a:r>
            <a:endParaRPr lang="en-US" sz="1150" dirty="0"/>
          </a:p>
        </p:txBody>
      </p:sp>
      <p:sp>
        <p:nvSpPr>
          <p:cNvPr id="12" name="Text 10"/>
          <p:cNvSpPr/>
          <p:nvPr/>
        </p:nvSpPr>
        <p:spPr>
          <a:xfrm>
            <a:off x="7772400" y="2176272"/>
            <a:ext cx="3666744" cy="201168"/>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Aptos" pitchFamily="34" charset="0"/>
                <a:ea typeface="Aptos" pitchFamily="34" charset="-122"/>
                <a:cs typeface="Aptos" pitchFamily="34" charset="-120"/>
              </a:rPr>
              <a:t>DETAILED ASSET</a:t>
            </a:r>
            <a:endParaRPr lang="en-US" sz="1150" dirty="0"/>
          </a:p>
        </p:txBody>
      </p:sp>
      <p:sp>
        <p:nvSpPr>
          <p:cNvPr id="13" name="Shape 11"/>
          <p:cNvSpPr/>
          <p:nvPr/>
        </p:nvSpPr>
        <p:spPr>
          <a:xfrm>
            <a:off x="594360" y="2551176"/>
            <a:ext cx="11018520" cy="420624"/>
          </a:xfrm>
          <a:prstGeom prst="rect">
            <a:avLst/>
          </a:prstGeom>
          <a:solidFill>
            <a:srgbClr val="FFFFFF"/>
          </a:solidFill>
          <a:ln w="7620">
            <a:solidFill>
              <a:srgbClr val="FFFFFF">
                <a:alpha val="0"/>
              </a:srgbClr>
            </a:solidFill>
            <a:prstDash val="solid"/>
          </a:ln>
        </p:spPr>
      </p:sp>
      <p:sp>
        <p:nvSpPr>
          <p:cNvPr id="14" name="Text 12"/>
          <p:cNvSpPr/>
          <p:nvPr/>
        </p:nvSpPr>
        <p:spPr>
          <a:xfrm>
            <a:off x="768096" y="2624328"/>
            <a:ext cx="4837176" cy="256032"/>
          </a:xfrm>
          <a:prstGeom prst="rect">
            <a:avLst/>
          </a:prstGeom>
          <a:noFill/>
          <a:ln/>
        </p:spPr>
        <p:txBody>
          <a:bodyPr wrap="square" lIns="0" tIns="0" rIns="0" bIns="0" rtlCol="0" anchor="ctr">
            <a:normAutofit/>
          </a:bodyPr>
          <a:lstStyle/>
          <a:p>
            <a:pPr indent="0" marL="0">
              <a:buNone/>
            </a:pPr>
            <a:r>
              <a:rPr lang="en-US" sz="1280" dirty="0">
                <a:solidFill>
                  <a:srgbClr val="171716"/>
                </a:solidFill>
                <a:latin typeface="Aptos" pitchFamily="34" charset="0"/>
                <a:ea typeface="Aptos" pitchFamily="34" charset="-122"/>
                <a:cs typeface="Aptos" pitchFamily="34" charset="-120"/>
              </a:rPr>
              <a:t>Every post-training delivery cost</a:t>
            </a:r>
            <a:endParaRPr lang="en-US" sz="1280" dirty="0"/>
          </a:p>
        </p:txBody>
      </p:sp>
      <p:sp>
        <p:nvSpPr>
          <p:cNvPr id="15" name="Text 13"/>
          <p:cNvSpPr/>
          <p:nvPr/>
        </p:nvSpPr>
        <p:spPr>
          <a:xfrm>
            <a:off x="5650992" y="2624328"/>
            <a:ext cx="1965960" cy="237744"/>
          </a:xfrm>
          <a:prstGeom prst="rect">
            <a:avLst/>
          </a:prstGeom>
          <a:noFill/>
          <a:ln/>
        </p:spPr>
        <p:txBody>
          <a:bodyPr wrap="square" lIns="0" tIns="0" rIns="0" bIns="0" rtlCol="0" anchor="ctr">
            <a:normAutofit/>
          </a:bodyPr>
          <a:lstStyle/>
          <a:p>
            <a:pPr indent="0" marL="0">
              <a:buNone/>
            </a:pPr>
            <a:r>
              <a:rPr lang="en-US" sz="1190" b="1" dirty="0">
                <a:solidFill>
                  <a:srgbClr val="D83E00"/>
                </a:solidFill>
                <a:latin typeface="Aptos" pitchFamily="34" charset="0"/>
                <a:ea typeface="Aptos" pitchFamily="34" charset="-122"/>
                <a:cs typeface="Aptos" pitchFamily="34" charset="-120"/>
              </a:rPr>
              <a:t>Slides 04–07</a:t>
            </a:r>
            <a:endParaRPr lang="en-US" sz="1190" dirty="0"/>
          </a:p>
        </p:txBody>
      </p:sp>
      <p:sp>
        <p:nvSpPr>
          <p:cNvPr id="16" name="Text 14"/>
          <p:cNvSpPr/>
          <p:nvPr/>
        </p:nvSpPr>
        <p:spPr>
          <a:xfrm>
            <a:off x="7772400" y="2624328"/>
            <a:ext cx="3557016" cy="237744"/>
          </a:xfrm>
          <a:prstGeom prst="rect">
            <a:avLst/>
          </a:prstGeom>
          <a:noFill/>
          <a:ln/>
        </p:spPr>
        <p:txBody>
          <a:bodyPr wrap="square" lIns="0" tIns="0" rIns="0" bIns="0" rtlCol="0" anchor="ctr">
            <a:normAutofit/>
          </a:bodyPr>
          <a:lstStyle/>
          <a:p>
            <a:pPr indent="0" marL="0">
              <a:buNone/>
            </a:pPr>
            <a:r>
              <a:rPr lang="en-US" sz="1230" dirty="0">
                <a:solidFill>
                  <a:srgbClr val="171716"/>
                </a:solidFill>
                <a:latin typeface="Aptos" pitchFamily="34" charset="0"/>
                <a:ea typeface="Aptos" pitchFamily="34" charset="-122"/>
                <a:cs typeface="Aptos" pitchFamily="34" charset="-120"/>
              </a:rPr>
              <a:t>COGS / workbook</a:t>
            </a:r>
            <a:endParaRPr lang="en-US" sz="1230" dirty="0"/>
          </a:p>
        </p:txBody>
      </p:sp>
      <p:sp>
        <p:nvSpPr>
          <p:cNvPr id="17" name="Shape 15"/>
          <p:cNvSpPr/>
          <p:nvPr/>
        </p:nvSpPr>
        <p:spPr>
          <a:xfrm>
            <a:off x="594360" y="2990088"/>
            <a:ext cx="11018520" cy="420624"/>
          </a:xfrm>
          <a:prstGeom prst="rect">
            <a:avLst/>
          </a:prstGeom>
          <a:solidFill>
            <a:srgbClr val="F3F0EC"/>
          </a:solidFill>
          <a:ln w="7620">
            <a:solidFill>
              <a:srgbClr val="F3F0EC">
                <a:alpha val="0"/>
              </a:srgbClr>
            </a:solidFill>
            <a:prstDash val="solid"/>
          </a:ln>
        </p:spPr>
      </p:sp>
      <p:sp>
        <p:nvSpPr>
          <p:cNvPr id="18" name="Text 16"/>
          <p:cNvSpPr/>
          <p:nvPr/>
        </p:nvSpPr>
        <p:spPr>
          <a:xfrm>
            <a:off x="768096" y="3063240"/>
            <a:ext cx="4837176" cy="256032"/>
          </a:xfrm>
          <a:prstGeom prst="rect">
            <a:avLst/>
          </a:prstGeom>
          <a:noFill/>
          <a:ln/>
        </p:spPr>
        <p:txBody>
          <a:bodyPr wrap="square" lIns="0" tIns="0" rIns="0" bIns="0" rtlCol="0" anchor="ctr">
            <a:normAutofit/>
          </a:bodyPr>
          <a:lstStyle/>
          <a:p>
            <a:pPr indent="0" marL="0">
              <a:buNone/>
            </a:pPr>
            <a:r>
              <a:rPr lang="en-US" sz="1280" dirty="0">
                <a:solidFill>
                  <a:srgbClr val="171716"/>
                </a:solidFill>
                <a:latin typeface="Aptos" pitchFamily="34" charset="0"/>
                <a:ea typeface="Aptos" pitchFamily="34" charset="-122"/>
                <a:cs typeface="Aptos" pitchFamily="34" charset="-120"/>
              </a:rPr>
              <a:t>Assumptions, sources, exclusions</a:t>
            </a:r>
            <a:endParaRPr lang="en-US" sz="1280" dirty="0"/>
          </a:p>
        </p:txBody>
      </p:sp>
      <p:sp>
        <p:nvSpPr>
          <p:cNvPr id="19" name="Text 17"/>
          <p:cNvSpPr/>
          <p:nvPr/>
        </p:nvSpPr>
        <p:spPr>
          <a:xfrm>
            <a:off x="5650992" y="3063240"/>
            <a:ext cx="1965960" cy="237744"/>
          </a:xfrm>
          <a:prstGeom prst="rect">
            <a:avLst/>
          </a:prstGeom>
          <a:noFill/>
          <a:ln/>
        </p:spPr>
        <p:txBody>
          <a:bodyPr wrap="square" lIns="0" tIns="0" rIns="0" bIns="0" rtlCol="0" anchor="ctr">
            <a:normAutofit/>
          </a:bodyPr>
          <a:lstStyle/>
          <a:p>
            <a:pPr indent="0" marL="0">
              <a:buNone/>
            </a:pPr>
            <a:r>
              <a:rPr lang="en-US" sz="1190" b="1" dirty="0">
                <a:solidFill>
                  <a:srgbClr val="D83E00"/>
                </a:solidFill>
                <a:latin typeface="Aptos" pitchFamily="34" charset="0"/>
                <a:ea typeface="Aptos" pitchFamily="34" charset="-122"/>
                <a:cs typeface="Aptos" pitchFamily="34" charset="-120"/>
              </a:rPr>
              <a:t>Slides 03, 13</a:t>
            </a:r>
            <a:endParaRPr lang="en-US" sz="1190" dirty="0"/>
          </a:p>
        </p:txBody>
      </p:sp>
      <p:sp>
        <p:nvSpPr>
          <p:cNvPr id="20" name="Text 18"/>
          <p:cNvSpPr/>
          <p:nvPr/>
        </p:nvSpPr>
        <p:spPr>
          <a:xfrm>
            <a:off x="7772400" y="3063240"/>
            <a:ext cx="3557016" cy="237744"/>
          </a:xfrm>
          <a:prstGeom prst="rect">
            <a:avLst/>
          </a:prstGeom>
          <a:noFill/>
          <a:ln/>
        </p:spPr>
        <p:txBody>
          <a:bodyPr wrap="square" lIns="0" tIns="0" rIns="0" bIns="0" rtlCol="0" anchor="ctr">
            <a:normAutofit/>
          </a:bodyPr>
          <a:lstStyle/>
          <a:p>
            <a:pPr indent="0" marL="0">
              <a:buNone/>
            </a:pPr>
            <a:r>
              <a:rPr lang="en-US" sz="1230" dirty="0">
                <a:solidFill>
                  <a:srgbClr val="171716"/>
                </a:solidFill>
                <a:latin typeface="Aptos" pitchFamily="34" charset="0"/>
                <a:ea typeface="Aptos" pitchFamily="34" charset="-122"/>
                <a:cs typeface="Aptos" pitchFamily="34" charset="-120"/>
              </a:rPr>
              <a:t>COGS / Sources</a:t>
            </a:r>
            <a:endParaRPr lang="en-US" sz="1230" dirty="0"/>
          </a:p>
        </p:txBody>
      </p:sp>
      <p:sp>
        <p:nvSpPr>
          <p:cNvPr id="21" name="Shape 19"/>
          <p:cNvSpPr/>
          <p:nvPr/>
        </p:nvSpPr>
        <p:spPr>
          <a:xfrm>
            <a:off x="594360" y="3429000"/>
            <a:ext cx="11018520" cy="420624"/>
          </a:xfrm>
          <a:prstGeom prst="rect">
            <a:avLst/>
          </a:prstGeom>
          <a:solidFill>
            <a:srgbClr val="FFFFFF"/>
          </a:solidFill>
          <a:ln w="7620">
            <a:solidFill>
              <a:srgbClr val="FFFFFF">
                <a:alpha val="0"/>
              </a:srgbClr>
            </a:solidFill>
            <a:prstDash val="solid"/>
          </a:ln>
        </p:spPr>
      </p:sp>
      <p:sp>
        <p:nvSpPr>
          <p:cNvPr id="22" name="Text 20"/>
          <p:cNvSpPr/>
          <p:nvPr/>
        </p:nvSpPr>
        <p:spPr>
          <a:xfrm>
            <a:off x="768096" y="3502152"/>
            <a:ext cx="4837176" cy="256032"/>
          </a:xfrm>
          <a:prstGeom prst="rect">
            <a:avLst/>
          </a:prstGeom>
          <a:noFill/>
          <a:ln/>
        </p:spPr>
        <p:txBody>
          <a:bodyPr wrap="square" lIns="0" tIns="0" rIns="0" bIns="0" rtlCol="0" anchor="ctr">
            <a:normAutofit/>
          </a:bodyPr>
          <a:lstStyle/>
          <a:p>
            <a:pPr indent="0" marL="0">
              <a:buNone/>
            </a:pPr>
            <a:r>
              <a:rPr lang="en-US" sz="1280" dirty="0">
                <a:solidFill>
                  <a:srgbClr val="171716"/>
                </a:solidFill>
                <a:latin typeface="Aptos" pitchFamily="34" charset="0"/>
                <a:ea typeface="Aptos" pitchFamily="34" charset="-122"/>
                <a:cs typeface="Aptos" pitchFamily="34" charset="-120"/>
              </a:rPr>
              <a:t>Flexible per-deal model</a:t>
            </a:r>
            <a:endParaRPr lang="en-US" sz="1280" dirty="0"/>
          </a:p>
        </p:txBody>
      </p:sp>
      <p:sp>
        <p:nvSpPr>
          <p:cNvPr id="23" name="Text 21"/>
          <p:cNvSpPr/>
          <p:nvPr/>
        </p:nvSpPr>
        <p:spPr>
          <a:xfrm>
            <a:off x="5650992" y="3502152"/>
            <a:ext cx="1965960" cy="237744"/>
          </a:xfrm>
          <a:prstGeom prst="rect">
            <a:avLst/>
          </a:prstGeom>
          <a:noFill/>
          <a:ln/>
        </p:spPr>
        <p:txBody>
          <a:bodyPr wrap="square" lIns="0" tIns="0" rIns="0" bIns="0" rtlCol="0" anchor="ctr">
            <a:normAutofit/>
          </a:bodyPr>
          <a:lstStyle/>
          <a:p>
            <a:pPr indent="0" marL="0">
              <a:buNone/>
            </a:pPr>
            <a:r>
              <a:rPr lang="en-US" sz="1190" b="1" dirty="0">
                <a:solidFill>
                  <a:srgbClr val="D83E00"/>
                </a:solidFill>
                <a:latin typeface="Aptos" pitchFamily="34" charset="0"/>
                <a:ea typeface="Aptos" pitchFamily="34" charset="-122"/>
                <a:cs typeface="Aptos" pitchFamily="34" charset="-120"/>
              </a:rPr>
              <a:t>Slides 07–09</a:t>
            </a:r>
            <a:endParaRPr lang="en-US" sz="1190" dirty="0"/>
          </a:p>
        </p:txBody>
      </p:sp>
      <p:sp>
        <p:nvSpPr>
          <p:cNvPr id="24" name="Text 22"/>
          <p:cNvSpPr/>
          <p:nvPr/>
        </p:nvSpPr>
        <p:spPr>
          <a:xfrm>
            <a:off x="7772400" y="3502152"/>
            <a:ext cx="3557016" cy="237744"/>
          </a:xfrm>
          <a:prstGeom prst="rect">
            <a:avLst/>
          </a:prstGeom>
          <a:noFill/>
          <a:ln/>
        </p:spPr>
        <p:txBody>
          <a:bodyPr wrap="square" lIns="0" tIns="0" rIns="0" bIns="0" rtlCol="0" anchor="ctr">
            <a:normAutofit/>
          </a:bodyPr>
          <a:lstStyle/>
          <a:p>
            <a:pPr indent="0" marL="0">
              <a:buNone/>
            </a:pPr>
            <a:r>
              <a:rPr lang="en-US" sz="1230" dirty="0">
                <a:solidFill>
                  <a:srgbClr val="171716"/>
                </a:solidFill>
                <a:latin typeface="Aptos" pitchFamily="34" charset="0"/>
                <a:ea typeface="Aptos" pitchFamily="34" charset="-122"/>
                <a:cs typeface="Aptos" pitchFamily="34" charset="-120"/>
              </a:rPr>
              <a:t>Editable XLSX + quote</a:t>
            </a:r>
            <a:endParaRPr lang="en-US" sz="1230" dirty="0"/>
          </a:p>
        </p:txBody>
      </p:sp>
      <p:sp>
        <p:nvSpPr>
          <p:cNvPr id="25" name="Shape 23"/>
          <p:cNvSpPr/>
          <p:nvPr/>
        </p:nvSpPr>
        <p:spPr>
          <a:xfrm>
            <a:off x="594360" y="3867912"/>
            <a:ext cx="11018520" cy="420624"/>
          </a:xfrm>
          <a:prstGeom prst="rect">
            <a:avLst/>
          </a:prstGeom>
          <a:solidFill>
            <a:srgbClr val="F3F0EC"/>
          </a:solidFill>
          <a:ln w="7620">
            <a:solidFill>
              <a:srgbClr val="F3F0EC">
                <a:alpha val="0"/>
              </a:srgbClr>
            </a:solidFill>
            <a:prstDash val="solid"/>
          </a:ln>
        </p:spPr>
      </p:sp>
      <p:sp>
        <p:nvSpPr>
          <p:cNvPr id="26" name="Text 24"/>
          <p:cNvSpPr/>
          <p:nvPr/>
        </p:nvSpPr>
        <p:spPr>
          <a:xfrm>
            <a:off x="768096" y="3941064"/>
            <a:ext cx="4837176" cy="256032"/>
          </a:xfrm>
          <a:prstGeom prst="rect">
            <a:avLst/>
          </a:prstGeom>
          <a:noFill/>
          <a:ln/>
        </p:spPr>
        <p:txBody>
          <a:bodyPr wrap="square" lIns="0" tIns="0" rIns="0" bIns="0" rtlCol="0" anchor="ctr">
            <a:normAutofit/>
          </a:bodyPr>
          <a:lstStyle/>
          <a:p>
            <a:pPr indent="0" marL="0">
              <a:buNone/>
            </a:pPr>
            <a:r>
              <a:rPr lang="en-US" sz="1280" dirty="0">
                <a:solidFill>
                  <a:srgbClr val="171716"/>
                </a:solidFill>
                <a:latin typeface="Aptos" pitchFamily="34" charset="0"/>
                <a:ea typeface="Aptos" pitchFamily="34" charset="-122"/>
                <a:cs typeface="Aptos" pitchFamily="34" charset="-120"/>
              </a:rPr>
              <a:t>Customer itemized pricing + SOW</a:t>
            </a:r>
            <a:endParaRPr lang="en-US" sz="1280" dirty="0"/>
          </a:p>
        </p:txBody>
      </p:sp>
      <p:sp>
        <p:nvSpPr>
          <p:cNvPr id="27" name="Text 25"/>
          <p:cNvSpPr/>
          <p:nvPr/>
        </p:nvSpPr>
        <p:spPr>
          <a:xfrm>
            <a:off x="5650992" y="3941064"/>
            <a:ext cx="1965960" cy="237744"/>
          </a:xfrm>
          <a:prstGeom prst="rect">
            <a:avLst/>
          </a:prstGeom>
          <a:noFill/>
          <a:ln/>
        </p:spPr>
        <p:txBody>
          <a:bodyPr wrap="square" lIns="0" tIns="0" rIns="0" bIns="0" rtlCol="0" anchor="ctr">
            <a:normAutofit/>
          </a:bodyPr>
          <a:lstStyle/>
          <a:p>
            <a:pPr indent="0" marL="0">
              <a:buNone/>
            </a:pPr>
            <a:r>
              <a:rPr lang="en-US" sz="1190" b="1" dirty="0">
                <a:solidFill>
                  <a:srgbClr val="D83E00"/>
                </a:solidFill>
                <a:latin typeface="Aptos" pitchFamily="34" charset="0"/>
                <a:ea typeface="Aptos" pitchFamily="34" charset="-122"/>
                <a:cs typeface="Aptos" pitchFamily="34" charset="-120"/>
              </a:rPr>
              <a:t>Slides 08–11</a:t>
            </a:r>
            <a:endParaRPr lang="en-US" sz="1190" dirty="0"/>
          </a:p>
        </p:txBody>
      </p:sp>
      <p:sp>
        <p:nvSpPr>
          <p:cNvPr id="28" name="Text 26"/>
          <p:cNvSpPr/>
          <p:nvPr/>
        </p:nvSpPr>
        <p:spPr>
          <a:xfrm>
            <a:off x="7772400" y="3941064"/>
            <a:ext cx="3557016" cy="237744"/>
          </a:xfrm>
          <a:prstGeom prst="rect">
            <a:avLst/>
          </a:prstGeom>
          <a:noFill/>
          <a:ln/>
        </p:spPr>
        <p:txBody>
          <a:bodyPr wrap="square" lIns="0" tIns="0" rIns="0" bIns="0" rtlCol="0" anchor="ctr">
            <a:normAutofit/>
          </a:bodyPr>
          <a:lstStyle/>
          <a:p>
            <a:pPr indent="0" marL="0">
              <a:buNone/>
            </a:pPr>
            <a:r>
              <a:rPr lang="en-US" sz="1230" dirty="0">
                <a:solidFill>
                  <a:srgbClr val="171716"/>
                </a:solidFill>
                <a:latin typeface="Aptos" pitchFamily="34" charset="0"/>
                <a:ea typeface="Aptos" pitchFamily="34" charset="-122"/>
                <a:cs typeface="Aptos" pitchFamily="34" charset="-120"/>
              </a:rPr>
              <a:t>Customer quote + evidence SOW</a:t>
            </a:r>
            <a:endParaRPr lang="en-US" sz="1230" dirty="0"/>
          </a:p>
        </p:txBody>
      </p:sp>
      <p:sp>
        <p:nvSpPr>
          <p:cNvPr id="29" name="Shape 27"/>
          <p:cNvSpPr/>
          <p:nvPr/>
        </p:nvSpPr>
        <p:spPr>
          <a:xfrm>
            <a:off x="594360" y="4306824"/>
            <a:ext cx="11018520" cy="420624"/>
          </a:xfrm>
          <a:prstGeom prst="rect">
            <a:avLst/>
          </a:prstGeom>
          <a:solidFill>
            <a:srgbClr val="FFFFFF"/>
          </a:solidFill>
          <a:ln w="7620">
            <a:solidFill>
              <a:srgbClr val="FFFFFF">
                <a:alpha val="0"/>
              </a:srgbClr>
            </a:solidFill>
            <a:prstDash val="solid"/>
          </a:ln>
        </p:spPr>
      </p:sp>
      <p:sp>
        <p:nvSpPr>
          <p:cNvPr id="30" name="Text 28"/>
          <p:cNvSpPr/>
          <p:nvPr/>
        </p:nvSpPr>
        <p:spPr>
          <a:xfrm>
            <a:off x="768096" y="4379976"/>
            <a:ext cx="4837176" cy="256032"/>
          </a:xfrm>
          <a:prstGeom prst="rect">
            <a:avLst/>
          </a:prstGeom>
          <a:noFill/>
          <a:ln/>
        </p:spPr>
        <p:txBody>
          <a:bodyPr wrap="square" lIns="0" tIns="0" rIns="0" bIns="0" rtlCol="0" anchor="ctr">
            <a:normAutofit/>
          </a:bodyPr>
          <a:lstStyle/>
          <a:p>
            <a:pPr indent="0" marL="0">
              <a:buNone/>
            </a:pPr>
            <a:r>
              <a:rPr lang="en-US" sz="1280" dirty="0">
                <a:solidFill>
                  <a:srgbClr val="171716"/>
                </a:solidFill>
                <a:latin typeface="Aptos" pitchFamily="34" charset="0"/>
                <a:ea typeface="Aptos" pitchFamily="34" charset="-122"/>
                <a:cs typeface="Aptos" pitchFamily="34" charset="-120"/>
              </a:rPr>
              <a:t>Margin target and rationale</a:t>
            </a:r>
            <a:endParaRPr lang="en-US" sz="1280" dirty="0"/>
          </a:p>
        </p:txBody>
      </p:sp>
      <p:sp>
        <p:nvSpPr>
          <p:cNvPr id="31" name="Text 29"/>
          <p:cNvSpPr/>
          <p:nvPr/>
        </p:nvSpPr>
        <p:spPr>
          <a:xfrm>
            <a:off x="5650992" y="4379976"/>
            <a:ext cx="1965960" cy="237744"/>
          </a:xfrm>
          <a:prstGeom prst="rect">
            <a:avLst/>
          </a:prstGeom>
          <a:noFill/>
          <a:ln/>
        </p:spPr>
        <p:txBody>
          <a:bodyPr wrap="square" lIns="0" tIns="0" rIns="0" bIns="0" rtlCol="0" anchor="ctr">
            <a:normAutofit/>
          </a:bodyPr>
          <a:lstStyle/>
          <a:p>
            <a:pPr indent="0" marL="0">
              <a:buNone/>
            </a:pPr>
            <a:r>
              <a:rPr lang="en-US" sz="1190" b="1" dirty="0">
                <a:solidFill>
                  <a:srgbClr val="D83E00"/>
                </a:solidFill>
                <a:latin typeface="Aptos" pitchFamily="34" charset="0"/>
                <a:ea typeface="Aptos" pitchFamily="34" charset="-122"/>
                <a:cs typeface="Aptos" pitchFamily="34" charset="-120"/>
              </a:rPr>
              <a:t>Slides 09, 13</a:t>
            </a:r>
            <a:endParaRPr lang="en-US" sz="1190" dirty="0"/>
          </a:p>
        </p:txBody>
      </p:sp>
      <p:sp>
        <p:nvSpPr>
          <p:cNvPr id="32" name="Text 30"/>
          <p:cNvSpPr/>
          <p:nvPr/>
        </p:nvSpPr>
        <p:spPr>
          <a:xfrm>
            <a:off x="7772400" y="4379976"/>
            <a:ext cx="3557016" cy="237744"/>
          </a:xfrm>
          <a:prstGeom prst="rect">
            <a:avLst/>
          </a:prstGeom>
          <a:noFill/>
          <a:ln/>
        </p:spPr>
        <p:txBody>
          <a:bodyPr wrap="square" lIns="0" tIns="0" rIns="0" bIns="0" rtlCol="0" anchor="ctr">
            <a:normAutofit/>
          </a:bodyPr>
          <a:lstStyle/>
          <a:p>
            <a:pPr indent="0" marL="0">
              <a:buNone/>
            </a:pPr>
            <a:r>
              <a:rPr lang="en-US" sz="1230" dirty="0">
                <a:solidFill>
                  <a:srgbClr val="171716"/>
                </a:solidFill>
                <a:latin typeface="Aptos" pitchFamily="34" charset="0"/>
                <a:ea typeface="Aptos" pitchFamily="34" charset="-122"/>
                <a:cs typeface="Aptos" pitchFamily="34" charset="-120"/>
              </a:rPr>
              <a:t>Internal margin view</a:t>
            </a:r>
            <a:endParaRPr lang="en-US" sz="1230" dirty="0"/>
          </a:p>
        </p:txBody>
      </p:sp>
      <p:sp>
        <p:nvSpPr>
          <p:cNvPr id="33" name="Shape 31"/>
          <p:cNvSpPr/>
          <p:nvPr/>
        </p:nvSpPr>
        <p:spPr>
          <a:xfrm>
            <a:off x="594360" y="4745736"/>
            <a:ext cx="11018520" cy="420624"/>
          </a:xfrm>
          <a:prstGeom prst="rect">
            <a:avLst/>
          </a:prstGeom>
          <a:solidFill>
            <a:srgbClr val="F3F0EC"/>
          </a:solidFill>
          <a:ln w="7620">
            <a:solidFill>
              <a:srgbClr val="F3F0EC">
                <a:alpha val="0"/>
              </a:srgbClr>
            </a:solidFill>
            <a:prstDash val="solid"/>
          </a:ln>
        </p:spPr>
      </p:sp>
      <p:sp>
        <p:nvSpPr>
          <p:cNvPr id="34" name="Text 32"/>
          <p:cNvSpPr/>
          <p:nvPr/>
        </p:nvSpPr>
        <p:spPr>
          <a:xfrm>
            <a:off x="768096" y="4818888"/>
            <a:ext cx="4837176" cy="256032"/>
          </a:xfrm>
          <a:prstGeom prst="rect">
            <a:avLst/>
          </a:prstGeom>
          <a:noFill/>
          <a:ln/>
        </p:spPr>
        <p:txBody>
          <a:bodyPr wrap="square" lIns="0" tIns="0" rIns="0" bIns="0" rtlCol="0" anchor="ctr">
            <a:normAutofit/>
          </a:bodyPr>
          <a:lstStyle/>
          <a:p>
            <a:pPr indent="0" marL="0">
              <a:buNone/>
            </a:pPr>
            <a:r>
              <a:rPr lang="en-US" sz="1280" dirty="0">
                <a:solidFill>
                  <a:srgbClr val="171716"/>
                </a:solidFill>
                <a:latin typeface="Aptos" pitchFamily="34" charset="0"/>
                <a:ea typeface="Aptos" pitchFamily="34" charset="-122"/>
                <a:cs typeface="Aptos" pitchFamily="34" charset="-120"/>
              </a:rPr>
              <a:t>Price objections and competitor undercut</a:t>
            </a:r>
            <a:endParaRPr lang="en-US" sz="1280" dirty="0"/>
          </a:p>
        </p:txBody>
      </p:sp>
      <p:sp>
        <p:nvSpPr>
          <p:cNvPr id="35" name="Text 33"/>
          <p:cNvSpPr/>
          <p:nvPr/>
        </p:nvSpPr>
        <p:spPr>
          <a:xfrm>
            <a:off x="5650992" y="4818888"/>
            <a:ext cx="1965960" cy="237744"/>
          </a:xfrm>
          <a:prstGeom prst="rect">
            <a:avLst/>
          </a:prstGeom>
          <a:noFill/>
          <a:ln/>
        </p:spPr>
        <p:txBody>
          <a:bodyPr wrap="square" lIns="0" tIns="0" rIns="0" bIns="0" rtlCol="0" anchor="ctr">
            <a:normAutofit/>
          </a:bodyPr>
          <a:lstStyle/>
          <a:p>
            <a:pPr indent="0" marL="0">
              <a:buNone/>
            </a:pPr>
            <a:r>
              <a:rPr lang="en-US" sz="1190" b="1" dirty="0">
                <a:solidFill>
                  <a:srgbClr val="D83E00"/>
                </a:solidFill>
                <a:latin typeface="Aptos" pitchFamily="34" charset="0"/>
                <a:ea typeface="Aptos" pitchFamily="34" charset="-122"/>
                <a:cs typeface="Aptos" pitchFamily="34" charset="-120"/>
              </a:rPr>
              <a:t>Slide 09</a:t>
            </a:r>
            <a:endParaRPr lang="en-US" sz="1190" dirty="0"/>
          </a:p>
        </p:txBody>
      </p:sp>
      <p:sp>
        <p:nvSpPr>
          <p:cNvPr id="36" name="Text 34"/>
          <p:cNvSpPr/>
          <p:nvPr/>
        </p:nvSpPr>
        <p:spPr>
          <a:xfrm>
            <a:off x="7772400" y="4818888"/>
            <a:ext cx="3557016" cy="237744"/>
          </a:xfrm>
          <a:prstGeom prst="rect">
            <a:avLst/>
          </a:prstGeom>
          <a:noFill/>
          <a:ln/>
        </p:spPr>
        <p:txBody>
          <a:bodyPr wrap="square" lIns="0" tIns="0" rIns="0" bIns="0" rtlCol="0" anchor="ctr">
            <a:normAutofit/>
          </a:bodyPr>
          <a:lstStyle/>
          <a:p>
            <a:pPr indent="0" marL="0">
              <a:buNone/>
            </a:pPr>
            <a:r>
              <a:rPr lang="en-US" sz="1230" dirty="0">
                <a:solidFill>
                  <a:srgbClr val="171716"/>
                </a:solidFill>
                <a:latin typeface="Aptos" pitchFamily="34" charset="0"/>
                <a:ea typeface="Aptos" pitchFamily="34" charset="-122"/>
                <a:cs typeface="Aptos" pitchFamily="34" charset="-120"/>
              </a:rPr>
              <a:t>Presenter Q&amp;A</a:t>
            </a:r>
            <a:endParaRPr lang="en-US" sz="1230" dirty="0"/>
          </a:p>
        </p:txBody>
      </p:sp>
      <p:sp>
        <p:nvSpPr>
          <p:cNvPr id="37" name="Shape 35"/>
          <p:cNvSpPr/>
          <p:nvPr/>
        </p:nvSpPr>
        <p:spPr>
          <a:xfrm>
            <a:off x="594360" y="5184648"/>
            <a:ext cx="11018520" cy="420624"/>
          </a:xfrm>
          <a:prstGeom prst="rect">
            <a:avLst/>
          </a:prstGeom>
          <a:solidFill>
            <a:srgbClr val="FFFFFF"/>
          </a:solidFill>
          <a:ln w="7620">
            <a:solidFill>
              <a:srgbClr val="FFFFFF">
                <a:alpha val="0"/>
              </a:srgbClr>
            </a:solidFill>
            <a:prstDash val="solid"/>
          </a:ln>
        </p:spPr>
      </p:sp>
      <p:sp>
        <p:nvSpPr>
          <p:cNvPr id="38" name="Text 36"/>
          <p:cNvSpPr/>
          <p:nvPr/>
        </p:nvSpPr>
        <p:spPr>
          <a:xfrm>
            <a:off x="768096" y="5257800"/>
            <a:ext cx="4837176" cy="256032"/>
          </a:xfrm>
          <a:prstGeom prst="rect">
            <a:avLst/>
          </a:prstGeom>
          <a:noFill/>
          <a:ln/>
        </p:spPr>
        <p:txBody>
          <a:bodyPr wrap="square" lIns="0" tIns="0" rIns="0" bIns="0" rtlCol="0" anchor="ctr">
            <a:normAutofit/>
          </a:bodyPr>
          <a:lstStyle/>
          <a:p>
            <a:pPr indent="0" marL="0">
              <a:buNone/>
            </a:pPr>
            <a:r>
              <a:rPr lang="en-US" sz="1280" dirty="0">
                <a:solidFill>
                  <a:srgbClr val="171716"/>
                </a:solidFill>
                <a:latin typeface="Aptos" pitchFamily="34" charset="0"/>
                <a:ea typeface="Aptos" pitchFamily="34" charset="-122"/>
                <a:cs typeface="Aptos" pitchFamily="34" charset="-120"/>
              </a:rPr>
              <a:t>Short/long protections and re-paper</a:t>
            </a:r>
            <a:endParaRPr lang="en-US" sz="1280" dirty="0"/>
          </a:p>
        </p:txBody>
      </p:sp>
      <p:sp>
        <p:nvSpPr>
          <p:cNvPr id="39" name="Text 37"/>
          <p:cNvSpPr/>
          <p:nvPr/>
        </p:nvSpPr>
        <p:spPr>
          <a:xfrm>
            <a:off x="5650992" y="5257800"/>
            <a:ext cx="1965960" cy="237744"/>
          </a:xfrm>
          <a:prstGeom prst="rect">
            <a:avLst/>
          </a:prstGeom>
          <a:noFill/>
          <a:ln/>
        </p:spPr>
        <p:txBody>
          <a:bodyPr wrap="square" lIns="0" tIns="0" rIns="0" bIns="0" rtlCol="0" anchor="ctr">
            <a:normAutofit/>
          </a:bodyPr>
          <a:lstStyle/>
          <a:p>
            <a:pPr indent="0" marL="0">
              <a:buNone/>
            </a:pPr>
            <a:r>
              <a:rPr lang="en-US" sz="1190" b="1" dirty="0">
                <a:solidFill>
                  <a:srgbClr val="D83E00"/>
                </a:solidFill>
                <a:latin typeface="Aptos" pitchFamily="34" charset="0"/>
                <a:ea typeface="Aptos" pitchFamily="34" charset="-122"/>
                <a:cs typeface="Aptos" pitchFamily="34" charset="-120"/>
              </a:rPr>
              <a:t>Slides 10–11</a:t>
            </a:r>
            <a:endParaRPr lang="en-US" sz="1190" dirty="0"/>
          </a:p>
        </p:txBody>
      </p:sp>
      <p:sp>
        <p:nvSpPr>
          <p:cNvPr id="40" name="Text 38"/>
          <p:cNvSpPr/>
          <p:nvPr/>
        </p:nvSpPr>
        <p:spPr>
          <a:xfrm>
            <a:off x="7772400" y="5257800"/>
            <a:ext cx="3557016" cy="237744"/>
          </a:xfrm>
          <a:prstGeom prst="rect">
            <a:avLst/>
          </a:prstGeom>
          <a:noFill/>
          <a:ln/>
        </p:spPr>
        <p:txBody>
          <a:bodyPr wrap="square" lIns="0" tIns="0" rIns="0" bIns="0" rtlCol="0" anchor="ctr">
            <a:normAutofit/>
          </a:bodyPr>
          <a:lstStyle/>
          <a:p>
            <a:pPr indent="0" marL="0">
              <a:buNone/>
            </a:pPr>
            <a:r>
              <a:rPr lang="en-US" sz="1230" dirty="0">
                <a:solidFill>
                  <a:srgbClr val="171716"/>
                </a:solidFill>
                <a:latin typeface="Aptos" pitchFamily="34" charset="0"/>
                <a:ea typeface="Aptos" pitchFamily="34" charset="-122"/>
                <a:cs typeface="Aptos" pitchFamily="34" charset="-120"/>
              </a:rPr>
              <a:t>SOW + revised service order</a:t>
            </a:r>
            <a:endParaRPr lang="en-US" sz="1230" dirty="0"/>
          </a:p>
        </p:txBody>
      </p:sp>
      <p:sp>
        <p:nvSpPr>
          <p:cNvPr id="41" name="Text 39"/>
          <p:cNvSpPr/>
          <p:nvPr/>
        </p:nvSpPr>
        <p:spPr>
          <a:xfrm>
            <a:off x="621792" y="5952744"/>
            <a:ext cx="10881360" cy="274320"/>
          </a:xfrm>
          <a:prstGeom prst="rect">
            <a:avLst/>
          </a:prstGeom>
          <a:noFill/>
          <a:ln/>
        </p:spPr>
        <p:txBody>
          <a:bodyPr wrap="square" lIns="0" tIns="0" rIns="0" bIns="0" rtlCol="0" anchor="ctr">
            <a:normAutofit/>
          </a:bodyPr>
          <a:lstStyle/>
          <a:p>
            <a:pPr indent="0" marL="0">
              <a:buNone/>
            </a:pPr>
            <a:r>
              <a:rPr lang="en-US" sz="1120" dirty="0">
                <a:solidFill>
                  <a:srgbClr val="5F5B57"/>
                </a:solidFill>
                <a:latin typeface="Aptos" pitchFamily="34" charset="0"/>
                <a:ea typeface="Aptos" pitchFamily="34" charset="-122"/>
                <a:cs typeface="Aptos" pitchFamily="34" charset="-120"/>
              </a:rPr>
              <a:t>Source: AC GTM Take Home: Pricing the Engine (one-page uploaded brief).</a:t>
            </a:r>
            <a:endParaRPr lang="en-US" sz="11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Applied Compute take-home (illustrative)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Compute | Enterprise Deal Design</dc:title>
  <dc:subject>Enterprise RL post-training deal economics</dc:subject>
  <dc:creator>Independent GTM exercise</dc:creator>
  <cp:lastModifiedBy>Independent GTM exercise</cp:lastModifiedBy>
  <cp:revision>1</cp:revision>
  <dcterms:created xsi:type="dcterms:W3CDTF">2026-10-19T23:08:22Z</dcterms:created>
  <dcterms:modified xsi:type="dcterms:W3CDTF">2026-10-19T23:08:22Z</dcterms:modified>
</cp:coreProperties>
</file>